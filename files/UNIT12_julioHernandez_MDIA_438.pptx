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79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1100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Introduce the campaign: a six-month content marketing push for Battlestate Games' Escape from Tarkov built on integrated owned, paid, and earned media, with clear success metrics and measurement tools for each.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argument: Tarkov has the audience and the content beats; what it lacks is coordinated promotion. Call out that the game's community scale and creator passion make it ideal for an integrated owned/paid/earned campaign.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audience from Unit 8: 18–34 hardcore FPS and extraction shooter players in North America and Europe. Emphasize that this segment is both high-value (purchases) and high-leverage (content creation), which is why the campaign leans on earned media.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SMART objectives. Content marketing targets engagement lift; promotion targets the three hard business metrics from Unit 8 — sales, Twitch viewership, and Discord membership — all with a 15% lift target over six months.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Unit 6 content example, refined. The 'Surviving the Wipe' series intentionally produces assets for every media type: long-form for owned, short vertical clips to boost with paid, and creator storylines that seed earned coverage.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Owned media is where we control the message. Each major content beat (wipes, maps, events) gets a hub on the website and is sliced into snackable pieces for every channel — all pointing back to owned destinations where we can capture email, Discord, or purchase.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Owned measurement stack. GA4 is the backbone — every campaign URL uses UTM tagging so every click from email, social, or paid is traceable. Sprout Social or Hootsuite centralizes social reporting; YouTube Studio and Twitch Insights handle video/stream KPIs; Discord's built-in insights track community growth.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Paid media is the push that extends reach beyond the core community. Not about generic brand ads — every dollar promotes a specific piece of content (trailer, guide, explainer) that pulls players deeper into the Tarkov ecosystem.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Paid measurement stack. Meta Ads Manager and TikTok Ads Manager handle in-platform metrics; GA4 with Meta cost import (released October 2025) unifies spend and conversions. Supermetrics or Looker Studio builds the weekly scorecard that rolls everything up for the team.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Earned media is where Tarkov punches above its paid weight. Creators serve as an always-on third-party storytelling engine; our job is to design campaigns that harness and reward UGC. Trust in this genre is earned — not bought.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Earned measurement is harder than owned or paid because the conversations happen outside our platforms. Meltwater gives us news + broadcast coverage; Brandwatch handles social listening and sentiment; Cision tracks PR pitches and placements. CreatorIQ or GRIN manages Twitch drops and creator relationships at scale.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Persuasive close. The four pillars: community trust, measurability, wipe-cadence fit, and compounding integration. The 15% lift isn't aspirational — it comes from tying every tactic to a measurable tool and iterating across every wipe cycle.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 7th edition references. Built on the Unit 8 reference list and extended with measurement-tool sources for Unit 12.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ign.com/articles/extraction-shooter-escape-from-tarkov-finally-has-a-10-release-date-8-years-after-initial-launch"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www.battlestategames.com" TargetMode="External"/><Relationship Id="rId4" Type="http://schemas.openxmlformats.org/officeDocument/2006/relationships/hyperlink" Target="https://www.pcgamer.com/games/fps/escape-from-tarkov-director-says-the-launch-weeks-wobbles-were-actual-stress-testing-not-only-of-our-servers-but-also-our-mind-and-nerves/"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pubsonline.informs.org/doi/10.1287/mksc.2015.0961"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pmc.ncbi.nlm.nih.gov/articles/PMC8016322/"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support.google.com/analytics/answer/10089681"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hyperlink" Target="https://pmc.ncbi.nlm.nih.gov/articles/PMC8016322/" TargetMode="External"/><Relationship Id="rId4" Type="http://schemas.openxmlformats.org/officeDocument/2006/relationships/hyperlink" Target="https://www.emerald.com/insight/content/doi/10.1108/JSBED-05-2013-0073/full/html"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journals.sagepub.com/doi/10.1509/jm.15.0178"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www.facebook.com/business/tools/ads-manager"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facebook.com/business/tools/ads-manager"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hyperlink" Target="https://www.sciencedirect.com/science/article/abs/pii/S0148296322006610" TargetMode="External"/><Relationship Id="rId4" Type="http://schemas.openxmlformats.org/officeDocument/2006/relationships/hyperlink" Target="https://ads.tiktok.com/"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journals.sagepub.com/doi/10.1509/jmr.10.0401"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pubsonline.informs.org/doi/10.1287/mksc.2015.0961"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journals.sagepub.com/doi/10.1509/jmr.10.0401"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hyperlink" Target="https://pubsonline.informs.org/doi/10.1287/mksc.2015.0961"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hyperlink" Target="https://journals.sagepub.com/doi/10.1177/21582440221093042" TargetMode="External"/><Relationship Id="rId3" Type="http://schemas.openxmlformats.org/officeDocument/2006/relationships/hyperlink" Target="https://www.battlestategames.com" TargetMode="External"/><Relationship Id="rId7" Type="http://schemas.openxmlformats.org/officeDocument/2006/relationships/hyperlink" Target="https://pubsonline.informs.org/doi/10.1287/mksc.2015.0961" TargetMode="External"/><Relationship Id="rId12" Type="http://schemas.openxmlformats.org/officeDocument/2006/relationships/hyperlink" Target="https://www.pcgamer.com/games/fps/escape-from-tarkov-director-says-the-launch-weeks-wobbles-were-actual-stress-testing-not-only-of-our-servers-but-also-our-mind-and-nerves/"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pmc.ncbi.nlm.nih.gov/articles/PMC8016322/" TargetMode="External"/><Relationship Id="rId11" Type="http://schemas.openxmlformats.org/officeDocument/2006/relationships/hyperlink" Target="https://www.ign.com/articles/extraction-shooter-escape-from-tarkov-finally-has-a-10-release-date-8-years-after-initial-launch" TargetMode="External"/><Relationship Id="rId5" Type="http://schemas.openxmlformats.org/officeDocument/2006/relationships/hyperlink" Target="https://journals.sagepub.com/doi/10.1509/jm.15.0178" TargetMode="External"/><Relationship Id="rId10" Type="http://schemas.openxmlformats.org/officeDocument/2006/relationships/hyperlink" Target="https://www.emerald.com/insight/content/doi/10.1108/JSBED-05-2013-0073/full/html" TargetMode="External"/><Relationship Id="rId4" Type="http://schemas.openxmlformats.org/officeDocument/2006/relationships/hyperlink" Target="https://www.escapefromtarkov.com" TargetMode="External"/><Relationship Id="rId9" Type="http://schemas.openxmlformats.org/officeDocument/2006/relationships/hyperlink" Target="https://journals.sagepub.com/doi/10.1509/jmr.10.0401"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F10"/>
        </a:solidFill>
        <a:effectLst/>
      </p:bgPr>
    </p:bg>
    <p:spTree>
      <p:nvGrpSpPr>
        <p:cNvPr id="1" name=""/>
        <p:cNvGrpSpPr/>
        <p:nvPr/>
      </p:nvGrpSpPr>
      <p:grpSpPr>
        <a:xfrm>
          <a:off x="0" y="0"/>
          <a:ext cx="0" cy="0"/>
          <a:chOff x="0" y="0"/>
          <a:chExt cx="0" cy="0"/>
        </a:xfrm>
      </p:grpSpPr>
      <p:pic>
        <p:nvPicPr>
          <p:cNvPr id="2" name="Image 0" descr="/home/user/workspace/tarkov-deck/images/keyart.jpg"/>
          <p:cNvPicPr>
            <a:picLocks noChangeAspect="1"/>
          </p:cNvPicPr>
          <p:nvPr/>
        </p:nvPicPr>
        <p:blipFill>
          <a:blip r:embed="rId3"/>
          <a:stretch>
            <a:fillRect/>
          </a:stretch>
        </p:blipFill>
        <p:spPr>
          <a:xfrm>
            <a:off x="4572000" y="0"/>
            <a:ext cx="7619695" cy="6858000"/>
          </a:xfrm>
          <a:prstGeom prst="rect">
            <a:avLst/>
          </a:prstGeom>
        </p:spPr>
      </p:pic>
      <p:sp>
        <p:nvSpPr>
          <p:cNvPr id="3" name="Shape 0"/>
          <p:cNvSpPr/>
          <p:nvPr/>
        </p:nvSpPr>
        <p:spPr>
          <a:xfrm>
            <a:off x="0" y="0"/>
            <a:ext cx="4754880" cy="6858000"/>
          </a:xfrm>
          <a:prstGeom prst="rect">
            <a:avLst/>
          </a:prstGeom>
          <a:solidFill>
            <a:srgbClr val="0E0F10"/>
          </a:solidFill>
          <a:ln/>
        </p:spPr>
        <p:txBody>
          <a:bodyPr/>
          <a:lstStyle/>
          <a:p>
            <a:endParaRPr lang="en-US"/>
          </a:p>
        </p:txBody>
      </p:sp>
      <p:sp>
        <p:nvSpPr>
          <p:cNvPr id="4" name="Shape 1"/>
          <p:cNvSpPr/>
          <p:nvPr/>
        </p:nvSpPr>
        <p:spPr>
          <a:xfrm>
            <a:off x="4572000" y="0"/>
            <a:ext cx="1280160" cy="6858000"/>
          </a:xfrm>
          <a:prstGeom prst="rect">
            <a:avLst/>
          </a:prstGeom>
          <a:solidFill>
            <a:srgbClr val="0E0F10">
              <a:alpha val="60000"/>
            </a:srgbClr>
          </a:solidFill>
          <a:ln/>
        </p:spPr>
        <p:txBody>
          <a:bodyPr/>
          <a:lstStyle/>
          <a:p>
            <a:endParaRPr lang="en-US"/>
          </a:p>
        </p:txBody>
      </p:sp>
      <p:sp>
        <p:nvSpPr>
          <p:cNvPr id="5" name="Text 2"/>
          <p:cNvSpPr/>
          <p:nvPr/>
        </p:nvSpPr>
        <p:spPr>
          <a:xfrm>
            <a:off x="777240" y="457200"/>
            <a:ext cx="3840480" cy="365760"/>
          </a:xfrm>
          <a:prstGeom prst="rect">
            <a:avLst/>
          </a:prstGeom>
          <a:noFill/>
          <a:ln/>
        </p:spPr>
        <p:txBody>
          <a:bodyPr wrap="square" rtlCol="0" anchor="ctr"/>
          <a:lstStyle/>
          <a:p>
            <a:pPr marL="0" indent="0">
              <a:buNone/>
            </a:pPr>
            <a:r>
              <a:rPr lang="en-US" sz="1100" b="1" kern="0" spc="400" dirty="0">
                <a:solidFill>
                  <a:srgbClr val="C96A2B"/>
                </a:solidFill>
                <a:latin typeface="Calibri" pitchFamily="34" charset="0"/>
                <a:ea typeface="Calibri" pitchFamily="34" charset="-122"/>
                <a:cs typeface="Calibri" pitchFamily="34" charset="-120"/>
              </a:rPr>
              <a:t>MDIA 438  ·  UNIT 12</a:t>
            </a:r>
            <a:endParaRPr lang="en-US" sz="1100" dirty="0"/>
          </a:p>
        </p:txBody>
      </p:sp>
      <p:sp>
        <p:nvSpPr>
          <p:cNvPr id="6" name="Text 3"/>
          <p:cNvSpPr/>
          <p:nvPr/>
        </p:nvSpPr>
        <p:spPr>
          <a:xfrm>
            <a:off x="777240" y="841248"/>
            <a:ext cx="3840480" cy="365760"/>
          </a:xfrm>
          <a:prstGeom prst="rect">
            <a:avLst/>
          </a:prstGeom>
          <a:noFill/>
          <a:ln/>
        </p:spPr>
        <p:txBody>
          <a:bodyPr wrap="square" rtlCol="0" anchor="ctr"/>
          <a:lstStyle/>
          <a:p>
            <a:pPr marL="0" indent="0">
              <a:buNone/>
            </a:pPr>
            <a:r>
              <a:rPr lang="en-US" sz="1000" kern="0" spc="300" dirty="0">
                <a:solidFill>
                  <a:srgbClr val="9A958A"/>
                </a:solidFill>
                <a:latin typeface="Calibri" pitchFamily="34" charset="0"/>
                <a:ea typeface="Calibri" pitchFamily="34" charset="-122"/>
                <a:cs typeface="Calibri" pitchFamily="34" charset="-120"/>
              </a:rPr>
              <a:t>BRANDED CONTENT &amp; NARRATIVE</a:t>
            </a:r>
            <a:endParaRPr lang="en-US" sz="1000" dirty="0"/>
          </a:p>
        </p:txBody>
      </p:sp>
      <p:sp>
        <p:nvSpPr>
          <p:cNvPr id="7" name="Text 4"/>
          <p:cNvSpPr/>
          <p:nvPr/>
        </p:nvSpPr>
        <p:spPr>
          <a:xfrm>
            <a:off x="777240" y="1828800"/>
            <a:ext cx="4389120" cy="2560320"/>
          </a:xfrm>
          <a:prstGeom prst="rect">
            <a:avLst/>
          </a:prstGeom>
          <a:noFill/>
          <a:ln/>
        </p:spPr>
        <p:txBody>
          <a:bodyPr wrap="square" rtlCol="0" anchor="ctr"/>
          <a:lstStyle/>
          <a:p>
            <a:pPr marL="0" indent="0">
              <a:buNone/>
            </a:pPr>
            <a:r>
              <a:rPr lang="en-US" sz="5600" b="1" dirty="0">
                <a:solidFill>
                  <a:srgbClr val="E6E4DE"/>
                </a:solidFill>
                <a:latin typeface="Trebuchet MS" pitchFamily="34" charset="0"/>
                <a:ea typeface="Trebuchet MS" pitchFamily="34" charset="-122"/>
                <a:cs typeface="Trebuchet MS" pitchFamily="34" charset="-120"/>
              </a:rPr>
              <a:t>Escape from</a:t>
            </a:r>
            <a:endParaRPr lang="en-US" sz="5600" dirty="0"/>
          </a:p>
          <a:p>
            <a:pPr marL="0" indent="0">
              <a:buNone/>
            </a:pPr>
            <a:r>
              <a:rPr lang="en-US" sz="5600" b="1" dirty="0">
                <a:solidFill>
                  <a:srgbClr val="E6E4DE"/>
                </a:solidFill>
                <a:latin typeface="Trebuchet MS" pitchFamily="34" charset="0"/>
                <a:ea typeface="Trebuchet MS" pitchFamily="34" charset="-122"/>
                <a:cs typeface="Trebuchet MS" pitchFamily="34" charset="-120"/>
              </a:rPr>
              <a:t>Tarkov</a:t>
            </a:r>
            <a:endParaRPr lang="en-US" sz="5600" dirty="0"/>
          </a:p>
        </p:txBody>
      </p:sp>
      <p:sp>
        <p:nvSpPr>
          <p:cNvPr id="8" name="Text 5"/>
          <p:cNvSpPr/>
          <p:nvPr/>
        </p:nvSpPr>
        <p:spPr>
          <a:xfrm>
            <a:off x="777240" y="4206240"/>
            <a:ext cx="4023360" cy="457200"/>
          </a:xfrm>
          <a:prstGeom prst="rect">
            <a:avLst/>
          </a:prstGeom>
          <a:noFill/>
          <a:ln/>
        </p:spPr>
        <p:txBody>
          <a:bodyPr wrap="square" rtlCol="0" anchor="ctr"/>
          <a:lstStyle/>
          <a:p>
            <a:pPr marL="0" indent="0">
              <a:buNone/>
            </a:pPr>
            <a:r>
              <a:rPr lang="en-US" sz="1800" b="1" dirty="0">
                <a:solidFill>
                  <a:srgbClr val="C96A2B"/>
                </a:solidFill>
                <a:latin typeface="Trebuchet MS" pitchFamily="34" charset="0"/>
                <a:ea typeface="Trebuchet MS" pitchFamily="34" charset="-122"/>
                <a:cs typeface="Trebuchet MS" pitchFamily="34" charset="-120"/>
              </a:rPr>
              <a:t>Content Marketing Campaign</a:t>
            </a:r>
            <a:endParaRPr lang="en-US" sz="1800" dirty="0"/>
          </a:p>
        </p:txBody>
      </p:sp>
      <p:sp>
        <p:nvSpPr>
          <p:cNvPr id="9" name="Text 6"/>
          <p:cNvSpPr/>
          <p:nvPr/>
        </p:nvSpPr>
        <p:spPr>
          <a:xfrm>
            <a:off x="777240" y="4709160"/>
            <a:ext cx="4023360" cy="1097280"/>
          </a:xfrm>
          <a:prstGeom prst="rect">
            <a:avLst/>
          </a:prstGeom>
          <a:noFill/>
          <a:ln/>
        </p:spPr>
        <p:txBody>
          <a:bodyPr wrap="square" rtlCol="0" anchor="ctr"/>
          <a:lstStyle/>
          <a:p>
            <a:pPr marL="0" indent="0">
              <a:lnSpc>
                <a:spcPct val="130000"/>
              </a:lnSpc>
              <a:buNone/>
            </a:pPr>
            <a:r>
              <a:rPr lang="en-US" sz="1300" dirty="0">
                <a:solidFill>
                  <a:srgbClr val="9A958A"/>
                </a:solidFill>
                <a:latin typeface="Calibri" pitchFamily="34" charset="0"/>
                <a:ea typeface="Calibri" pitchFamily="34" charset="-122"/>
                <a:cs typeface="Calibri" pitchFamily="34" charset="-120"/>
              </a:rPr>
              <a:t>Success metrics and measurement tools for a six-month owned, paid, and earned media plan.</a:t>
            </a:r>
            <a:endParaRPr lang="en-US" sz="1300" dirty="0"/>
          </a:p>
        </p:txBody>
      </p:sp>
      <p:sp>
        <p:nvSpPr>
          <p:cNvPr id="10" name="Text 7"/>
          <p:cNvSpPr/>
          <p:nvPr/>
        </p:nvSpPr>
        <p:spPr>
          <a:xfrm>
            <a:off x="777240" y="5870448"/>
            <a:ext cx="4114800" cy="274320"/>
          </a:xfrm>
          <a:prstGeom prst="rect">
            <a:avLst/>
          </a:prstGeom>
          <a:noFill/>
          <a:ln/>
        </p:spPr>
        <p:txBody>
          <a:bodyPr wrap="square" rtlCol="0" anchor="ctr"/>
          <a:lstStyle/>
          <a:p>
            <a:pPr marL="0" indent="0">
              <a:buNone/>
            </a:pPr>
            <a:r>
              <a:rPr lang="en-US" sz="1100" b="1" kern="0" spc="300" dirty="0">
                <a:solidFill>
                  <a:srgbClr val="E6E4DE"/>
                </a:solidFill>
                <a:latin typeface="Calibri" pitchFamily="34" charset="0"/>
                <a:ea typeface="Calibri" pitchFamily="34" charset="-122"/>
                <a:cs typeface="Calibri" pitchFamily="34" charset="-120"/>
              </a:rPr>
              <a:t>JULIO HERNANDEZ</a:t>
            </a:r>
            <a:endParaRPr lang="en-US" sz="1100" dirty="0"/>
          </a:p>
        </p:txBody>
      </p:sp>
      <p:sp>
        <p:nvSpPr>
          <p:cNvPr id="11" name="Text 8"/>
          <p:cNvSpPr/>
          <p:nvPr/>
        </p:nvSpPr>
        <p:spPr>
          <a:xfrm>
            <a:off x="777240" y="6144768"/>
            <a:ext cx="4114800" cy="274320"/>
          </a:xfrm>
          <a:prstGeom prst="rect">
            <a:avLst/>
          </a:prstGeom>
          <a:noFill/>
          <a:ln/>
        </p:spPr>
        <p:txBody>
          <a:bodyPr wrap="square" rtlCol="0" anchor="ctr"/>
          <a:lstStyle/>
          <a:p>
            <a:pPr marL="0" indent="0">
              <a:buNone/>
            </a:pPr>
            <a:r>
              <a:rPr lang="en-US" sz="900" kern="0" spc="300" dirty="0">
                <a:solidFill>
                  <a:srgbClr val="6A665E"/>
                </a:solidFill>
                <a:latin typeface="Calibri" pitchFamily="34" charset="0"/>
                <a:ea typeface="Calibri" pitchFamily="34" charset="-122"/>
                <a:cs typeface="Calibri" pitchFamily="34" charset="-120"/>
              </a:rPr>
              <a:t>INSTRUCTOR: MICHAEL DELONG  ·  APRIL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F10"/>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274320"/>
          </a:xfrm>
          <a:prstGeom prst="rect">
            <a:avLst/>
          </a:prstGeom>
          <a:noFill/>
          <a:ln/>
        </p:spPr>
        <p:txBody>
          <a:bodyPr wrap="square" rtlCol="0" anchor="ctr"/>
          <a:lstStyle/>
          <a:p>
            <a:pPr marL="0" indent="0">
              <a:buNone/>
            </a:pPr>
            <a:r>
              <a:rPr lang="en-US" sz="1000" b="1" kern="0" spc="400" dirty="0">
                <a:solidFill>
                  <a:srgbClr val="C96A2B"/>
                </a:solidFill>
                <a:latin typeface="Calibri" pitchFamily="34" charset="0"/>
                <a:ea typeface="Calibri" pitchFamily="34" charset="-122"/>
                <a:cs typeface="Calibri" pitchFamily="34" charset="-120"/>
              </a:rPr>
              <a:t>01  ·  OPPORTUNITY</a:t>
            </a:r>
            <a:endParaRPr lang="en-US" sz="1000" dirty="0"/>
          </a:p>
        </p:txBody>
      </p:sp>
      <p:sp>
        <p:nvSpPr>
          <p:cNvPr id="3" name="Text 1"/>
          <p:cNvSpPr/>
          <p:nvPr/>
        </p:nvSpPr>
        <p:spPr>
          <a:xfrm>
            <a:off x="548640" y="804672"/>
            <a:ext cx="10972800" cy="685800"/>
          </a:xfrm>
          <a:prstGeom prst="rect">
            <a:avLst/>
          </a:prstGeom>
          <a:noFill/>
          <a:ln/>
        </p:spPr>
        <p:txBody>
          <a:bodyPr wrap="square" rtlCol="0" anchor="ctr"/>
          <a:lstStyle/>
          <a:p>
            <a:pPr marL="0" indent="0">
              <a:buNone/>
            </a:pPr>
            <a:r>
              <a:rPr lang="en-US" sz="3200" b="1" dirty="0">
                <a:solidFill>
                  <a:srgbClr val="E6E4DE"/>
                </a:solidFill>
                <a:latin typeface="Trebuchet MS" pitchFamily="34" charset="0"/>
                <a:ea typeface="Trebuchet MS" pitchFamily="34" charset="-122"/>
                <a:cs typeface="Trebuchet MS" pitchFamily="34" charset="-120"/>
              </a:rPr>
              <a:t>A passionate community ready to activate</a:t>
            </a:r>
            <a:endParaRPr lang="en-US" sz="3200" dirty="0"/>
          </a:p>
        </p:txBody>
      </p:sp>
      <p:sp>
        <p:nvSpPr>
          <p:cNvPr id="4" name="Shape 2"/>
          <p:cNvSpPr/>
          <p:nvPr/>
        </p:nvSpPr>
        <p:spPr>
          <a:xfrm>
            <a:off x="548640" y="1536192"/>
            <a:ext cx="1005840" cy="54864"/>
          </a:xfrm>
          <a:prstGeom prst="rect">
            <a:avLst/>
          </a:prstGeom>
          <a:solidFill>
            <a:srgbClr val="C96A2B"/>
          </a:solidFill>
          <a:ln/>
        </p:spPr>
        <p:txBody>
          <a:bodyPr/>
          <a:lstStyle/>
          <a:p>
            <a:endParaRPr lang="en-US"/>
          </a:p>
        </p:txBody>
      </p:sp>
      <p:sp>
        <p:nvSpPr>
          <p:cNvPr id="5" name="Text 3"/>
          <p:cNvSpPr/>
          <p:nvPr/>
        </p:nvSpPr>
        <p:spPr>
          <a:xfrm>
            <a:off x="548640" y="1965960"/>
            <a:ext cx="5852160" cy="2194560"/>
          </a:xfrm>
          <a:prstGeom prst="rect">
            <a:avLst/>
          </a:prstGeom>
          <a:noFill/>
          <a:ln/>
        </p:spPr>
        <p:txBody>
          <a:bodyPr wrap="square" rtlCol="0" anchor="ctr"/>
          <a:lstStyle/>
          <a:p>
            <a:pPr marL="0" indent="0">
              <a:lnSpc>
                <a:spcPct val="140000"/>
              </a:lnSpc>
              <a:buNone/>
            </a:pPr>
            <a:r>
              <a:rPr lang="en-US" sz="1300" dirty="0">
                <a:solidFill>
                  <a:srgbClr val="E6E4DE"/>
                </a:solidFill>
                <a:latin typeface="Calibri" pitchFamily="34" charset="0"/>
                <a:ea typeface="Calibri" pitchFamily="34" charset="-122"/>
                <a:cs typeface="Calibri" pitchFamily="34" charset="-120"/>
              </a:rPr>
              <a:t>Escape from Tarkov sits in a rare position: a hardcore extraction shooter with one of the most engaged communities in gaming, now available on Steam following its November 15, 2025 release. The game already punches far above its paid weight through creator-driven storytelling, but its promotion has been reactive rather than orchestrated.</a:t>
            </a:r>
            <a:endParaRPr lang="en-US" sz="1300" dirty="0"/>
          </a:p>
        </p:txBody>
      </p:sp>
      <p:sp>
        <p:nvSpPr>
          <p:cNvPr id="6" name="Text 4"/>
          <p:cNvSpPr/>
          <p:nvPr/>
        </p:nvSpPr>
        <p:spPr>
          <a:xfrm>
            <a:off x="548640" y="4297680"/>
            <a:ext cx="5852160" cy="1645920"/>
          </a:xfrm>
          <a:prstGeom prst="rect">
            <a:avLst/>
          </a:prstGeom>
          <a:noFill/>
          <a:ln/>
        </p:spPr>
        <p:txBody>
          <a:bodyPr wrap="square" rtlCol="0" anchor="ctr"/>
          <a:lstStyle/>
          <a:p>
            <a:pPr marL="0" indent="0">
              <a:lnSpc>
                <a:spcPct val="140000"/>
              </a:lnSpc>
              <a:buNone/>
            </a:pPr>
            <a:r>
              <a:rPr lang="en-US" sz="1300" i="1" dirty="0">
                <a:solidFill>
                  <a:srgbClr val="9A958A"/>
                </a:solidFill>
                <a:latin typeface="Calibri" pitchFamily="34" charset="0"/>
                <a:ea typeface="Calibri" pitchFamily="34" charset="-122"/>
                <a:cs typeface="Calibri" pitchFamily="34" charset="-120"/>
              </a:rPr>
              <a:t>The opportunity is to fuse owned, paid, and earned media around every major content beat — wipes, maps, and system updates — turning isolated messages into orchestrated waves of content and conversation that grow sales, viewership, and community membership.</a:t>
            </a:r>
            <a:endParaRPr lang="en-US" sz="1300" dirty="0"/>
          </a:p>
        </p:txBody>
      </p:sp>
      <p:sp>
        <p:nvSpPr>
          <p:cNvPr id="7" name="Shape 5"/>
          <p:cNvSpPr/>
          <p:nvPr/>
        </p:nvSpPr>
        <p:spPr>
          <a:xfrm>
            <a:off x="6675120" y="1965960"/>
            <a:ext cx="5074920" cy="1188720"/>
          </a:xfrm>
          <a:prstGeom prst="rect">
            <a:avLst/>
          </a:prstGeom>
          <a:solidFill>
            <a:srgbClr val="16181A"/>
          </a:solidFill>
          <a:ln w="9525">
            <a:solidFill>
              <a:srgbClr val="2E3236"/>
            </a:solidFill>
            <a:prstDash val="solid"/>
          </a:ln>
        </p:spPr>
        <p:txBody>
          <a:bodyPr/>
          <a:lstStyle/>
          <a:p>
            <a:endParaRPr lang="en-US"/>
          </a:p>
        </p:txBody>
      </p:sp>
      <p:sp>
        <p:nvSpPr>
          <p:cNvPr id="8" name="Text 6"/>
          <p:cNvSpPr/>
          <p:nvPr/>
        </p:nvSpPr>
        <p:spPr>
          <a:xfrm>
            <a:off x="6903720" y="2148840"/>
            <a:ext cx="4572000" cy="594360"/>
          </a:xfrm>
          <a:prstGeom prst="rect">
            <a:avLst/>
          </a:prstGeom>
          <a:noFill/>
          <a:ln/>
        </p:spPr>
        <p:txBody>
          <a:bodyPr wrap="square" rtlCol="0" anchor="ctr"/>
          <a:lstStyle/>
          <a:p>
            <a:pPr marL="0" indent="0">
              <a:buNone/>
            </a:pPr>
            <a:r>
              <a:rPr lang="en-US" sz="4000" b="1" dirty="0">
                <a:solidFill>
                  <a:srgbClr val="C96A2B"/>
                </a:solidFill>
                <a:latin typeface="Trebuchet MS" pitchFamily="34" charset="0"/>
                <a:ea typeface="Trebuchet MS" pitchFamily="34" charset="-122"/>
                <a:cs typeface="Trebuchet MS" pitchFamily="34" charset="-120"/>
              </a:rPr>
              <a:t>200K</a:t>
            </a:r>
            <a:endParaRPr lang="en-US" sz="4000" dirty="0"/>
          </a:p>
        </p:txBody>
      </p:sp>
      <p:sp>
        <p:nvSpPr>
          <p:cNvPr id="9" name="Text 7"/>
          <p:cNvSpPr/>
          <p:nvPr/>
        </p:nvSpPr>
        <p:spPr>
          <a:xfrm>
            <a:off x="6903720" y="2743200"/>
            <a:ext cx="4572000" cy="274320"/>
          </a:xfrm>
          <a:prstGeom prst="rect">
            <a:avLst/>
          </a:prstGeom>
          <a:noFill/>
          <a:ln/>
        </p:spPr>
        <p:txBody>
          <a:bodyPr wrap="square" rtlCol="0" anchor="ctr"/>
          <a:lstStyle/>
          <a:p>
            <a:pPr marL="0" indent="0">
              <a:buNone/>
            </a:pPr>
            <a:r>
              <a:rPr lang="en-US" sz="1100" kern="0" spc="200" dirty="0">
                <a:solidFill>
                  <a:srgbClr val="9A958A"/>
                </a:solidFill>
                <a:latin typeface="Calibri" pitchFamily="34" charset="0"/>
                <a:ea typeface="Calibri" pitchFamily="34" charset="-122"/>
                <a:cs typeface="Calibri" pitchFamily="34" charset="-120"/>
              </a:rPr>
              <a:t>Peak concurrent players (May 2020)</a:t>
            </a:r>
            <a:endParaRPr lang="en-US" sz="1100" dirty="0"/>
          </a:p>
        </p:txBody>
      </p:sp>
      <p:sp>
        <p:nvSpPr>
          <p:cNvPr id="10" name="Shape 8"/>
          <p:cNvSpPr/>
          <p:nvPr/>
        </p:nvSpPr>
        <p:spPr>
          <a:xfrm>
            <a:off x="6675120" y="3291840"/>
            <a:ext cx="5074920" cy="1188720"/>
          </a:xfrm>
          <a:prstGeom prst="rect">
            <a:avLst/>
          </a:prstGeom>
          <a:solidFill>
            <a:srgbClr val="16181A"/>
          </a:solidFill>
          <a:ln w="9525">
            <a:solidFill>
              <a:srgbClr val="2E3236"/>
            </a:solidFill>
            <a:prstDash val="solid"/>
          </a:ln>
        </p:spPr>
        <p:txBody>
          <a:bodyPr/>
          <a:lstStyle/>
          <a:p>
            <a:endParaRPr lang="en-US"/>
          </a:p>
        </p:txBody>
      </p:sp>
      <p:sp>
        <p:nvSpPr>
          <p:cNvPr id="11" name="Text 9"/>
          <p:cNvSpPr/>
          <p:nvPr/>
        </p:nvSpPr>
        <p:spPr>
          <a:xfrm>
            <a:off x="6903720" y="3474720"/>
            <a:ext cx="4572000" cy="594360"/>
          </a:xfrm>
          <a:prstGeom prst="rect">
            <a:avLst/>
          </a:prstGeom>
          <a:noFill/>
          <a:ln/>
        </p:spPr>
        <p:txBody>
          <a:bodyPr wrap="square" rtlCol="0" anchor="ctr"/>
          <a:lstStyle/>
          <a:p>
            <a:pPr marL="0" indent="0">
              <a:buNone/>
            </a:pPr>
            <a:r>
              <a:rPr lang="en-US" sz="4000" b="1" dirty="0">
                <a:solidFill>
                  <a:srgbClr val="C96A2B"/>
                </a:solidFill>
                <a:latin typeface="Trebuchet MS" pitchFamily="34" charset="0"/>
                <a:ea typeface="Trebuchet MS" pitchFamily="34" charset="-122"/>
                <a:cs typeface="Trebuchet MS" pitchFamily="34" charset="-120"/>
              </a:rPr>
              <a:t>14M+</a:t>
            </a:r>
            <a:endParaRPr lang="en-US" sz="4000" dirty="0"/>
          </a:p>
        </p:txBody>
      </p:sp>
      <p:sp>
        <p:nvSpPr>
          <p:cNvPr id="12" name="Text 10"/>
          <p:cNvSpPr/>
          <p:nvPr/>
        </p:nvSpPr>
        <p:spPr>
          <a:xfrm>
            <a:off x="6903720" y="4069080"/>
            <a:ext cx="4572000" cy="274320"/>
          </a:xfrm>
          <a:prstGeom prst="rect">
            <a:avLst/>
          </a:prstGeom>
          <a:noFill/>
          <a:ln/>
        </p:spPr>
        <p:txBody>
          <a:bodyPr wrap="square" rtlCol="0" anchor="ctr"/>
          <a:lstStyle/>
          <a:p>
            <a:pPr marL="0" indent="0">
              <a:buNone/>
            </a:pPr>
            <a:r>
              <a:rPr lang="en-US" sz="1100" kern="0" spc="200" dirty="0">
                <a:solidFill>
                  <a:srgbClr val="9A958A"/>
                </a:solidFill>
                <a:latin typeface="Calibri" pitchFamily="34" charset="0"/>
                <a:ea typeface="Calibri" pitchFamily="34" charset="-122"/>
                <a:cs typeface="Calibri" pitchFamily="34" charset="-120"/>
              </a:rPr>
              <a:t>Twitch hours watched during drops events</a:t>
            </a:r>
            <a:endParaRPr lang="en-US" sz="1100" dirty="0"/>
          </a:p>
        </p:txBody>
      </p:sp>
      <p:sp>
        <p:nvSpPr>
          <p:cNvPr id="13" name="Shape 11"/>
          <p:cNvSpPr/>
          <p:nvPr/>
        </p:nvSpPr>
        <p:spPr>
          <a:xfrm>
            <a:off x="6675120" y="4617720"/>
            <a:ext cx="5074920" cy="1188720"/>
          </a:xfrm>
          <a:prstGeom prst="rect">
            <a:avLst/>
          </a:prstGeom>
          <a:solidFill>
            <a:srgbClr val="16181A"/>
          </a:solidFill>
          <a:ln w="9525">
            <a:solidFill>
              <a:srgbClr val="2E3236"/>
            </a:solidFill>
            <a:prstDash val="solid"/>
          </a:ln>
        </p:spPr>
        <p:txBody>
          <a:bodyPr/>
          <a:lstStyle/>
          <a:p>
            <a:endParaRPr lang="en-US"/>
          </a:p>
        </p:txBody>
      </p:sp>
      <p:sp>
        <p:nvSpPr>
          <p:cNvPr id="14" name="Text 12"/>
          <p:cNvSpPr/>
          <p:nvPr/>
        </p:nvSpPr>
        <p:spPr>
          <a:xfrm>
            <a:off x="6903720" y="4800600"/>
            <a:ext cx="4572000" cy="594360"/>
          </a:xfrm>
          <a:prstGeom prst="rect">
            <a:avLst/>
          </a:prstGeom>
          <a:noFill/>
          <a:ln/>
        </p:spPr>
        <p:txBody>
          <a:bodyPr wrap="square" rtlCol="0" anchor="ctr"/>
          <a:lstStyle/>
          <a:p>
            <a:pPr marL="0" indent="0">
              <a:buNone/>
            </a:pPr>
            <a:r>
              <a:rPr lang="en-US" sz="4000" b="1" dirty="0">
                <a:solidFill>
                  <a:srgbClr val="C96A2B"/>
                </a:solidFill>
                <a:latin typeface="Trebuchet MS" pitchFamily="34" charset="0"/>
                <a:ea typeface="Trebuchet MS" pitchFamily="34" charset="-122"/>
                <a:cs typeface="Trebuchet MS" pitchFamily="34" charset="-120"/>
              </a:rPr>
              <a:t>1.3M</a:t>
            </a:r>
            <a:endParaRPr lang="en-US" sz="4000" dirty="0"/>
          </a:p>
        </p:txBody>
      </p:sp>
      <p:sp>
        <p:nvSpPr>
          <p:cNvPr id="15" name="Text 13"/>
          <p:cNvSpPr/>
          <p:nvPr/>
        </p:nvSpPr>
        <p:spPr>
          <a:xfrm>
            <a:off x="6903720" y="5394960"/>
            <a:ext cx="4572000" cy="274320"/>
          </a:xfrm>
          <a:prstGeom prst="rect">
            <a:avLst/>
          </a:prstGeom>
          <a:noFill/>
          <a:ln/>
        </p:spPr>
        <p:txBody>
          <a:bodyPr wrap="square" rtlCol="0" anchor="ctr"/>
          <a:lstStyle/>
          <a:p>
            <a:pPr marL="0" indent="0">
              <a:buNone/>
            </a:pPr>
            <a:r>
              <a:rPr lang="en-US" sz="1100" kern="0" spc="200" dirty="0">
                <a:solidFill>
                  <a:srgbClr val="9A958A"/>
                </a:solidFill>
                <a:latin typeface="Calibri" pitchFamily="34" charset="0"/>
                <a:ea typeface="Calibri" pitchFamily="34" charset="-122"/>
                <a:cs typeface="Calibri" pitchFamily="34" charset="-120"/>
              </a:rPr>
              <a:t>Subreddit members (r/EscapefromTarkov)</a:t>
            </a:r>
            <a:endParaRPr lang="en-US" sz="1100" dirty="0"/>
          </a:p>
        </p:txBody>
      </p:sp>
      <p:sp>
        <p:nvSpPr>
          <p:cNvPr id="16" name="Text 14"/>
          <p:cNvSpPr/>
          <p:nvPr/>
        </p:nvSpPr>
        <p:spPr>
          <a:xfrm>
            <a:off x="548640" y="6080760"/>
            <a:ext cx="11201400" cy="256032"/>
          </a:xfrm>
          <a:prstGeom prst="rect">
            <a:avLst/>
          </a:prstGeom>
          <a:noFill/>
          <a:ln/>
        </p:spPr>
        <p:txBody>
          <a:bodyPr wrap="square" rtlCol="0" anchor="ctr"/>
          <a:lstStyle/>
          <a:p>
            <a:pPr marL="0" indent="0">
              <a:buNone/>
            </a:pPr>
            <a:r>
              <a:rPr lang="en-US" sz="900" dirty="0">
                <a:solidFill>
                  <a:srgbClr val="6A665E"/>
                </a:solidFill>
                <a:latin typeface="Calibri" pitchFamily="34" charset="0"/>
                <a:ea typeface="Calibri" pitchFamily="34" charset="-122"/>
                <a:cs typeface="Calibri" pitchFamily="34" charset="-120"/>
              </a:rPr>
              <a:t>Source: </a:t>
            </a:r>
            <a:r>
              <a:rPr lang="en-US" sz="900" u="sng" dirty="0">
                <a:solidFill>
                  <a:srgbClr val="C96A2B"/>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IGN</a:t>
            </a:r>
            <a:r>
              <a:rPr lang="en-US" sz="900" dirty="0">
                <a:solidFill>
                  <a:srgbClr val="6A665E"/>
                </a:solidFill>
                <a:latin typeface="Calibri" pitchFamily="34" charset="0"/>
                <a:ea typeface="Calibri" pitchFamily="34" charset="-122"/>
                <a:cs typeface="Calibri" pitchFamily="34" charset="-120"/>
              </a:rPr>
              <a:t>, </a:t>
            </a:r>
            <a:r>
              <a:rPr lang="en-US" sz="900" u="sng" dirty="0">
                <a:solidFill>
                  <a:srgbClr val="C96A2B"/>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PC Gamer</a:t>
            </a:r>
            <a:r>
              <a:rPr lang="en-US" sz="900" dirty="0">
                <a:solidFill>
                  <a:srgbClr val="6A665E"/>
                </a:solidFill>
                <a:latin typeface="Calibri" pitchFamily="34" charset="0"/>
                <a:ea typeface="Calibri" pitchFamily="34" charset="-122"/>
                <a:cs typeface="Calibri" pitchFamily="34" charset="-120"/>
              </a:rPr>
              <a:t>, </a:t>
            </a:r>
            <a:r>
              <a:rPr lang="en-US" sz="900" u="sng" dirty="0">
                <a:solidFill>
                  <a:srgbClr val="C96A2B"/>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Battlestate Games</a:t>
            </a:r>
            <a:endParaRPr lang="en-US" sz="900" dirty="0"/>
          </a:p>
        </p:txBody>
      </p:sp>
      <p:sp>
        <p:nvSpPr>
          <p:cNvPr id="17" name="Shape 15"/>
          <p:cNvSpPr/>
          <p:nvPr/>
        </p:nvSpPr>
        <p:spPr>
          <a:xfrm>
            <a:off x="457200" y="6565392"/>
            <a:ext cx="11277295" cy="0"/>
          </a:xfrm>
          <a:prstGeom prst="line">
            <a:avLst/>
          </a:prstGeom>
          <a:noFill/>
          <a:ln w="9525">
            <a:solidFill>
              <a:srgbClr val="3A3E42"/>
            </a:solidFill>
            <a:prstDash val="solid"/>
          </a:ln>
        </p:spPr>
        <p:txBody>
          <a:bodyPr/>
          <a:lstStyle/>
          <a:p>
            <a:endParaRPr lang="en-US"/>
          </a:p>
        </p:txBody>
      </p:sp>
      <p:sp>
        <p:nvSpPr>
          <p:cNvPr id="18" name="Text 16"/>
          <p:cNvSpPr/>
          <p:nvPr/>
        </p:nvSpPr>
        <p:spPr>
          <a:xfrm>
            <a:off x="457200" y="6601968"/>
            <a:ext cx="8229600" cy="228600"/>
          </a:xfrm>
          <a:prstGeom prst="rect">
            <a:avLst/>
          </a:prstGeom>
          <a:noFill/>
          <a:ln/>
        </p:spPr>
        <p:txBody>
          <a:bodyPr wrap="square" rtlCol="0" anchor="ctr"/>
          <a:lstStyle/>
          <a:p>
            <a:pPr marL="0" indent="0">
              <a:buNone/>
            </a:pPr>
            <a:r>
              <a:rPr lang="en-US" sz="900" kern="0" spc="200" dirty="0">
                <a:solidFill>
                  <a:srgbClr val="6A665E"/>
                </a:solidFill>
                <a:latin typeface="Calibri" pitchFamily="34" charset="0"/>
                <a:ea typeface="Calibri" pitchFamily="34" charset="-122"/>
                <a:cs typeface="Calibri" pitchFamily="34" charset="-120"/>
              </a:rPr>
              <a:t>TARKOV  ·  CONTENT MARKETING CAMPAIGN  ·  JULIO HERNANDEZ</a:t>
            </a:r>
            <a:endParaRPr lang="en-US" sz="900" dirty="0"/>
          </a:p>
        </p:txBody>
      </p:sp>
      <p:sp>
        <p:nvSpPr>
          <p:cNvPr id="19" name="Text 17"/>
          <p:cNvSpPr/>
          <p:nvPr/>
        </p:nvSpPr>
        <p:spPr>
          <a:xfrm>
            <a:off x="10789920" y="6601968"/>
            <a:ext cx="914400" cy="228600"/>
          </a:xfrm>
          <a:prstGeom prst="rect">
            <a:avLst/>
          </a:prstGeom>
          <a:noFill/>
          <a:ln/>
        </p:spPr>
        <p:txBody>
          <a:bodyPr wrap="square" rtlCol="0" anchor="ctr"/>
          <a:lstStyle/>
          <a:p>
            <a:pPr marL="0" indent="0" algn="r">
              <a:buNone/>
            </a:pPr>
            <a:r>
              <a:rPr lang="en-US" sz="900" dirty="0">
                <a:solidFill>
                  <a:srgbClr val="6A665E"/>
                </a:solidFill>
                <a:latin typeface="Calibri" pitchFamily="34" charset="0"/>
                <a:ea typeface="Calibri" pitchFamily="34" charset="-122"/>
                <a:cs typeface="Calibri"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F10"/>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274320"/>
          </a:xfrm>
          <a:prstGeom prst="rect">
            <a:avLst/>
          </a:prstGeom>
          <a:noFill/>
          <a:ln/>
        </p:spPr>
        <p:txBody>
          <a:bodyPr wrap="square" rtlCol="0" anchor="ctr"/>
          <a:lstStyle/>
          <a:p>
            <a:pPr marL="0" indent="0">
              <a:buNone/>
            </a:pPr>
            <a:r>
              <a:rPr lang="en-US" sz="1000" b="1" kern="0" spc="400" dirty="0">
                <a:solidFill>
                  <a:srgbClr val="C96A2B"/>
                </a:solidFill>
                <a:latin typeface="Calibri" pitchFamily="34" charset="0"/>
                <a:ea typeface="Calibri" pitchFamily="34" charset="-122"/>
                <a:cs typeface="Calibri" pitchFamily="34" charset="-120"/>
              </a:rPr>
              <a:t>02  ·  TARGET AUDIENCE</a:t>
            </a:r>
            <a:endParaRPr lang="en-US" sz="1000" dirty="0"/>
          </a:p>
        </p:txBody>
      </p:sp>
      <p:sp>
        <p:nvSpPr>
          <p:cNvPr id="3" name="Text 1"/>
          <p:cNvSpPr/>
          <p:nvPr/>
        </p:nvSpPr>
        <p:spPr>
          <a:xfrm>
            <a:off x="548640" y="804672"/>
            <a:ext cx="10972800" cy="685800"/>
          </a:xfrm>
          <a:prstGeom prst="rect">
            <a:avLst/>
          </a:prstGeom>
          <a:noFill/>
          <a:ln/>
        </p:spPr>
        <p:txBody>
          <a:bodyPr wrap="square" rtlCol="0" anchor="ctr"/>
          <a:lstStyle/>
          <a:p>
            <a:pPr marL="0" indent="0">
              <a:buNone/>
            </a:pPr>
            <a:r>
              <a:rPr lang="en-US" sz="3200" b="1" dirty="0">
                <a:solidFill>
                  <a:srgbClr val="E6E4DE"/>
                </a:solidFill>
                <a:latin typeface="Trebuchet MS" pitchFamily="34" charset="0"/>
                <a:ea typeface="Trebuchet MS" pitchFamily="34" charset="-122"/>
                <a:cs typeface="Trebuchet MS" pitchFamily="34" charset="-120"/>
              </a:rPr>
              <a:t>Who we are targeting and why</a:t>
            </a:r>
            <a:endParaRPr lang="en-US" sz="3200" dirty="0"/>
          </a:p>
        </p:txBody>
      </p:sp>
      <p:sp>
        <p:nvSpPr>
          <p:cNvPr id="4" name="Shape 2"/>
          <p:cNvSpPr/>
          <p:nvPr/>
        </p:nvSpPr>
        <p:spPr>
          <a:xfrm>
            <a:off x="548640" y="1536192"/>
            <a:ext cx="1005840" cy="54864"/>
          </a:xfrm>
          <a:prstGeom prst="rect">
            <a:avLst/>
          </a:prstGeom>
          <a:solidFill>
            <a:srgbClr val="C96A2B"/>
          </a:solidFill>
          <a:ln/>
        </p:spPr>
        <p:txBody>
          <a:bodyPr/>
          <a:lstStyle/>
          <a:p>
            <a:endParaRPr lang="en-US"/>
          </a:p>
        </p:txBody>
      </p:sp>
      <p:sp>
        <p:nvSpPr>
          <p:cNvPr id="5" name="Shape 3"/>
          <p:cNvSpPr/>
          <p:nvPr/>
        </p:nvSpPr>
        <p:spPr>
          <a:xfrm>
            <a:off x="548640" y="1965960"/>
            <a:ext cx="5669280" cy="4114800"/>
          </a:xfrm>
          <a:prstGeom prst="rect">
            <a:avLst/>
          </a:prstGeom>
          <a:solidFill>
            <a:srgbClr val="16181A"/>
          </a:solidFill>
          <a:ln w="9525">
            <a:solidFill>
              <a:srgbClr val="2E3236"/>
            </a:solidFill>
            <a:prstDash val="solid"/>
          </a:ln>
        </p:spPr>
        <p:txBody>
          <a:bodyPr/>
          <a:lstStyle/>
          <a:p>
            <a:endParaRPr lang="en-US"/>
          </a:p>
        </p:txBody>
      </p:sp>
      <p:sp>
        <p:nvSpPr>
          <p:cNvPr id="6" name="Text 4"/>
          <p:cNvSpPr/>
          <p:nvPr/>
        </p:nvSpPr>
        <p:spPr>
          <a:xfrm>
            <a:off x="777240" y="2103120"/>
            <a:ext cx="5212080" cy="274320"/>
          </a:xfrm>
          <a:prstGeom prst="rect">
            <a:avLst/>
          </a:prstGeom>
          <a:noFill/>
          <a:ln/>
        </p:spPr>
        <p:txBody>
          <a:bodyPr wrap="square" rtlCol="0" anchor="ctr"/>
          <a:lstStyle/>
          <a:p>
            <a:pPr marL="0" indent="0">
              <a:buNone/>
            </a:pPr>
            <a:r>
              <a:rPr lang="en-US" sz="1000" b="1" kern="0" spc="300" dirty="0">
                <a:solidFill>
                  <a:srgbClr val="C96A2B"/>
                </a:solidFill>
                <a:latin typeface="Calibri" pitchFamily="34" charset="0"/>
                <a:ea typeface="Calibri" pitchFamily="34" charset="-122"/>
                <a:cs typeface="Calibri" pitchFamily="34" charset="-120"/>
              </a:rPr>
              <a:t>PRIMARY</a:t>
            </a:r>
            <a:endParaRPr lang="en-US" sz="1000" dirty="0"/>
          </a:p>
        </p:txBody>
      </p:sp>
      <p:sp>
        <p:nvSpPr>
          <p:cNvPr id="7" name="Text 5"/>
          <p:cNvSpPr/>
          <p:nvPr/>
        </p:nvSpPr>
        <p:spPr>
          <a:xfrm>
            <a:off x="777240" y="2377440"/>
            <a:ext cx="5212080" cy="685800"/>
          </a:xfrm>
          <a:prstGeom prst="rect">
            <a:avLst/>
          </a:prstGeom>
          <a:noFill/>
          <a:ln/>
        </p:spPr>
        <p:txBody>
          <a:bodyPr wrap="square" rtlCol="0" anchor="ctr"/>
          <a:lstStyle/>
          <a:p>
            <a:pPr marL="0" indent="0">
              <a:buNone/>
            </a:pPr>
            <a:r>
              <a:rPr lang="en-US" sz="2000" b="1" dirty="0">
                <a:solidFill>
                  <a:srgbClr val="E6E4DE"/>
                </a:solidFill>
                <a:latin typeface="Trebuchet MS" pitchFamily="34" charset="0"/>
                <a:ea typeface="Trebuchet MS" pitchFamily="34" charset="-122"/>
                <a:cs typeface="Trebuchet MS" pitchFamily="34" charset="-120"/>
              </a:rPr>
              <a:t>Hardcore FPS and extraction shooter players</a:t>
            </a:r>
            <a:endParaRPr lang="en-US" sz="2000" dirty="0"/>
          </a:p>
        </p:txBody>
      </p:sp>
      <p:sp>
        <p:nvSpPr>
          <p:cNvPr id="8" name="Text 6"/>
          <p:cNvSpPr/>
          <p:nvPr/>
        </p:nvSpPr>
        <p:spPr>
          <a:xfrm>
            <a:off x="777240" y="3291840"/>
            <a:ext cx="1371600" cy="320040"/>
          </a:xfrm>
          <a:prstGeom prst="rect">
            <a:avLst/>
          </a:prstGeom>
          <a:noFill/>
          <a:ln/>
        </p:spPr>
        <p:txBody>
          <a:bodyPr wrap="square" rtlCol="0" anchor="ctr"/>
          <a:lstStyle/>
          <a:p>
            <a:pPr marL="0" indent="0">
              <a:buNone/>
            </a:pPr>
            <a:r>
              <a:rPr lang="en-US" sz="1000" b="1" kern="0" spc="200" dirty="0">
                <a:solidFill>
                  <a:srgbClr val="C96A2B"/>
                </a:solidFill>
                <a:latin typeface="Calibri" pitchFamily="34" charset="0"/>
                <a:ea typeface="Calibri" pitchFamily="34" charset="-122"/>
                <a:cs typeface="Calibri" pitchFamily="34" charset="-120"/>
              </a:rPr>
              <a:t>AGE</a:t>
            </a:r>
            <a:endParaRPr lang="en-US" sz="1000" dirty="0"/>
          </a:p>
        </p:txBody>
      </p:sp>
      <p:sp>
        <p:nvSpPr>
          <p:cNvPr id="9" name="Text 7"/>
          <p:cNvSpPr/>
          <p:nvPr/>
        </p:nvSpPr>
        <p:spPr>
          <a:xfrm>
            <a:off x="2240280" y="3291840"/>
            <a:ext cx="3749040" cy="320040"/>
          </a:xfrm>
          <a:prstGeom prst="rect">
            <a:avLst/>
          </a:prstGeom>
          <a:noFill/>
          <a:ln/>
        </p:spPr>
        <p:txBody>
          <a:bodyPr wrap="square" rtlCol="0" anchor="ctr"/>
          <a:lstStyle/>
          <a:p>
            <a:pPr marL="0" indent="0">
              <a:buNone/>
            </a:pPr>
            <a:r>
              <a:rPr lang="en-US" sz="1200" dirty="0">
                <a:solidFill>
                  <a:srgbClr val="E6E4DE"/>
                </a:solidFill>
                <a:latin typeface="Calibri" pitchFamily="34" charset="0"/>
                <a:ea typeface="Calibri" pitchFamily="34" charset="-122"/>
                <a:cs typeface="Calibri" pitchFamily="34" charset="-120"/>
              </a:rPr>
              <a:t>18 – 34</a:t>
            </a:r>
            <a:endParaRPr lang="en-US" sz="1200" dirty="0"/>
          </a:p>
        </p:txBody>
      </p:sp>
      <p:sp>
        <p:nvSpPr>
          <p:cNvPr id="10" name="Text 8"/>
          <p:cNvSpPr/>
          <p:nvPr/>
        </p:nvSpPr>
        <p:spPr>
          <a:xfrm>
            <a:off x="777240" y="3794760"/>
            <a:ext cx="1371600" cy="320040"/>
          </a:xfrm>
          <a:prstGeom prst="rect">
            <a:avLst/>
          </a:prstGeom>
          <a:noFill/>
          <a:ln/>
        </p:spPr>
        <p:txBody>
          <a:bodyPr wrap="square" rtlCol="0" anchor="ctr"/>
          <a:lstStyle/>
          <a:p>
            <a:pPr marL="0" indent="0">
              <a:buNone/>
            </a:pPr>
            <a:r>
              <a:rPr lang="en-US" sz="1000" b="1" kern="0" spc="200" dirty="0">
                <a:solidFill>
                  <a:srgbClr val="C96A2B"/>
                </a:solidFill>
                <a:latin typeface="Calibri" pitchFamily="34" charset="0"/>
                <a:ea typeface="Calibri" pitchFamily="34" charset="-122"/>
                <a:cs typeface="Calibri" pitchFamily="34" charset="-120"/>
              </a:rPr>
              <a:t>GEOGRAPHY</a:t>
            </a:r>
            <a:endParaRPr lang="en-US" sz="1000" dirty="0"/>
          </a:p>
        </p:txBody>
      </p:sp>
      <p:sp>
        <p:nvSpPr>
          <p:cNvPr id="11" name="Text 9"/>
          <p:cNvSpPr/>
          <p:nvPr/>
        </p:nvSpPr>
        <p:spPr>
          <a:xfrm>
            <a:off x="2240280" y="3794760"/>
            <a:ext cx="3749040" cy="320040"/>
          </a:xfrm>
          <a:prstGeom prst="rect">
            <a:avLst/>
          </a:prstGeom>
          <a:noFill/>
          <a:ln/>
        </p:spPr>
        <p:txBody>
          <a:bodyPr wrap="square" rtlCol="0" anchor="ctr"/>
          <a:lstStyle/>
          <a:p>
            <a:pPr marL="0" indent="0">
              <a:buNone/>
            </a:pPr>
            <a:r>
              <a:rPr lang="en-US" sz="1200" dirty="0">
                <a:solidFill>
                  <a:srgbClr val="E6E4DE"/>
                </a:solidFill>
                <a:latin typeface="Calibri" pitchFamily="34" charset="0"/>
                <a:ea typeface="Calibri" pitchFamily="34" charset="-122"/>
                <a:cs typeface="Calibri" pitchFamily="34" charset="-120"/>
              </a:rPr>
              <a:t>North America and Europe</a:t>
            </a:r>
            <a:endParaRPr lang="en-US" sz="1200" dirty="0"/>
          </a:p>
        </p:txBody>
      </p:sp>
      <p:sp>
        <p:nvSpPr>
          <p:cNvPr id="12" name="Text 10"/>
          <p:cNvSpPr/>
          <p:nvPr/>
        </p:nvSpPr>
        <p:spPr>
          <a:xfrm>
            <a:off x="777240" y="4297680"/>
            <a:ext cx="1371600" cy="320040"/>
          </a:xfrm>
          <a:prstGeom prst="rect">
            <a:avLst/>
          </a:prstGeom>
          <a:noFill/>
          <a:ln/>
        </p:spPr>
        <p:txBody>
          <a:bodyPr wrap="square" rtlCol="0" anchor="ctr"/>
          <a:lstStyle/>
          <a:p>
            <a:pPr marL="0" indent="0">
              <a:buNone/>
            </a:pPr>
            <a:r>
              <a:rPr lang="en-US" sz="1000" b="1" kern="0" spc="200" dirty="0">
                <a:solidFill>
                  <a:srgbClr val="C96A2B"/>
                </a:solidFill>
                <a:latin typeface="Calibri" pitchFamily="34" charset="0"/>
                <a:ea typeface="Calibri" pitchFamily="34" charset="-122"/>
                <a:cs typeface="Calibri" pitchFamily="34" charset="-120"/>
              </a:rPr>
              <a:t>PLATFORM</a:t>
            </a:r>
            <a:endParaRPr lang="en-US" sz="1000" dirty="0"/>
          </a:p>
        </p:txBody>
      </p:sp>
      <p:sp>
        <p:nvSpPr>
          <p:cNvPr id="13" name="Text 11"/>
          <p:cNvSpPr/>
          <p:nvPr/>
        </p:nvSpPr>
        <p:spPr>
          <a:xfrm>
            <a:off x="2240280" y="4297680"/>
            <a:ext cx="3749040" cy="320040"/>
          </a:xfrm>
          <a:prstGeom prst="rect">
            <a:avLst/>
          </a:prstGeom>
          <a:noFill/>
          <a:ln/>
        </p:spPr>
        <p:txBody>
          <a:bodyPr wrap="square" rtlCol="0" anchor="ctr"/>
          <a:lstStyle/>
          <a:p>
            <a:pPr marL="0" indent="0">
              <a:buNone/>
            </a:pPr>
            <a:r>
              <a:rPr lang="en-US" sz="1200" dirty="0">
                <a:solidFill>
                  <a:srgbClr val="E6E4DE"/>
                </a:solidFill>
                <a:latin typeface="Calibri" pitchFamily="34" charset="0"/>
                <a:ea typeface="Calibri" pitchFamily="34" charset="-122"/>
                <a:cs typeface="Calibri" pitchFamily="34" charset="-120"/>
              </a:rPr>
              <a:t>PC (Steam + Battlestate launcher)</a:t>
            </a:r>
            <a:endParaRPr lang="en-US" sz="1200" dirty="0"/>
          </a:p>
        </p:txBody>
      </p:sp>
      <p:sp>
        <p:nvSpPr>
          <p:cNvPr id="14" name="Text 12"/>
          <p:cNvSpPr/>
          <p:nvPr/>
        </p:nvSpPr>
        <p:spPr>
          <a:xfrm>
            <a:off x="777240" y="4800600"/>
            <a:ext cx="1371600" cy="320040"/>
          </a:xfrm>
          <a:prstGeom prst="rect">
            <a:avLst/>
          </a:prstGeom>
          <a:noFill/>
          <a:ln/>
        </p:spPr>
        <p:txBody>
          <a:bodyPr wrap="square" rtlCol="0" anchor="ctr"/>
          <a:lstStyle/>
          <a:p>
            <a:pPr marL="0" indent="0">
              <a:buNone/>
            </a:pPr>
            <a:r>
              <a:rPr lang="en-US" sz="1000" b="1" kern="0" spc="200" dirty="0">
                <a:solidFill>
                  <a:srgbClr val="C96A2B"/>
                </a:solidFill>
                <a:latin typeface="Calibri" pitchFamily="34" charset="0"/>
                <a:ea typeface="Calibri" pitchFamily="34" charset="-122"/>
                <a:cs typeface="Calibri" pitchFamily="34" charset="-120"/>
              </a:rPr>
              <a:t>BEHAVIOR</a:t>
            </a:r>
            <a:endParaRPr lang="en-US" sz="1000" dirty="0"/>
          </a:p>
        </p:txBody>
      </p:sp>
      <p:sp>
        <p:nvSpPr>
          <p:cNvPr id="15" name="Text 13"/>
          <p:cNvSpPr/>
          <p:nvPr/>
        </p:nvSpPr>
        <p:spPr>
          <a:xfrm>
            <a:off x="2240280" y="4800600"/>
            <a:ext cx="3749040" cy="320040"/>
          </a:xfrm>
          <a:prstGeom prst="rect">
            <a:avLst/>
          </a:prstGeom>
          <a:noFill/>
          <a:ln/>
        </p:spPr>
        <p:txBody>
          <a:bodyPr wrap="square" rtlCol="0" anchor="ctr"/>
          <a:lstStyle/>
          <a:p>
            <a:pPr marL="0" indent="0">
              <a:buNone/>
            </a:pPr>
            <a:r>
              <a:rPr lang="en-US" sz="1200" dirty="0">
                <a:solidFill>
                  <a:srgbClr val="E6E4DE"/>
                </a:solidFill>
                <a:latin typeface="Calibri" pitchFamily="34" charset="0"/>
                <a:ea typeface="Calibri" pitchFamily="34" charset="-122"/>
                <a:cs typeface="Calibri" pitchFamily="34" charset="-120"/>
              </a:rPr>
              <a:t>Active on Twitch, YouTube, Reddit, Discord</a:t>
            </a:r>
            <a:endParaRPr lang="en-US" sz="1200" dirty="0"/>
          </a:p>
        </p:txBody>
      </p:sp>
      <p:sp>
        <p:nvSpPr>
          <p:cNvPr id="16" name="Text 14"/>
          <p:cNvSpPr/>
          <p:nvPr/>
        </p:nvSpPr>
        <p:spPr>
          <a:xfrm>
            <a:off x="777240" y="5303520"/>
            <a:ext cx="1371600" cy="320040"/>
          </a:xfrm>
          <a:prstGeom prst="rect">
            <a:avLst/>
          </a:prstGeom>
          <a:noFill/>
          <a:ln/>
        </p:spPr>
        <p:txBody>
          <a:bodyPr wrap="square" rtlCol="0" anchor="ctr"/>
          <a:lstStyle/>
          <a:p>
            <a:pPr marL="0" indent="0">
              <a:buNone/>
            </a:pPr>
            <a:r>
              <a:rPr lang="en-US" sz="1000" b="1" kern="0" spc="200" dirty="0">
                <a:solidFill>
                  <a:srgbClr val="C96A2B"/>
                </a:solidFill>
                <a:latin typeface="Calibri" pitchFamily="34" charset="0"/>
                <a:ea typeface="Calibri" pitchFamily="34" charset="-122"/>
                <a:cs typeface="Calibri" pitchFamily="34" charset="-120"/>
              </a:rPr>
              <a:t>INTERESTS</a:t>
            </a:r>
            <a:endParaRPr lang="en-US" sz="1000" dirty="0"/>
          </a:p>
        </p:txBody>
      </p:sp>
      <p:sp>
        <p:nvSpPr>
          <p:cNvPr id="17" name="Text 15"/>
          <p:cNvSpPr/>
          <p:nvPr/>
        </p:nvSpPr>
        <p:spPr>
          <a:xfrm>
            <a:off x="2240280" y="5303520"/>
            <a:ext cx="3749040" cy="320040"/>
          </a:xfrm>
          <a:prstGeom prst="rect">
            <a:avLst/>
          </a:prstGeom>
          <a:noFill/>
          <a:ln/>
        </p:spPr>
        <p:txBody>
          <a:bodyPr wrap="square" rtlCol="0" anchor="ctr"/>
          <a:lstStyle/>
          <a:p>
            <a:pPr marL="0" indent="0">
              <a:buNone/>
            </a:pPr>
            <a:r>
              <a:rPr lang="en-US" sz="1200" dirty="0">
                <a:solidFill>
                  <a:srgbClr val="E6E4DE"/>
                </a:solidFill>
                <a:latin typeface="Calibri" pitchFamily="34" charset="0"/>
                <a:ea typeface="Calibri" pitchFamily="34" charset="-122"/>
                <a:cs typeface="Calibri" pitchFamily="34" charset="-120"/>
              </a:rPr>
              <a:t>Tactical shooters, mil-sim, survival games</a:t>
            </a:r>
            <a:endParaRPr lang="en-US" sz="1200" dirty="0"/>
          </a:p>
        </p:txBody>
      </p:sp>
      <p:sp>
        <p:nvSpPr>
          <p:cNvPr id="18" name="Text 16"/>
          <p:cNvSpPr/>
          <p:nvPr/>
        </p:nvSpPr>
        <p:spPr>
          <a:xfrm>
            <a:off x="6492240" y="1965960"/>
            <a:ext cx="5212080" cy="274320"/>
          </a:xfrm>
          <a:prstGeom prst="rect">
            <a:avLst/>
          </a:prstGeom>
          <a:noFill/>
          <a:ln/>
        </p:spPr>
        <p:txBody>
          <a:bodyPr wrap="square" rtlCol="0" anchor="ctr"/>
          <a:lstStyle/>
          <a:p>
            <a:pPr marL="0" indent="0">
              <a:buNone/>
            </a:pPr>
            <a:r>
              <a:rPr lang="en-US" sz="1000" b="1" kern="0" spc="300" dirty="0">
                <a:solidFill>
                  <a:srgbClr val="C96A2B"/>
                </a:solidFill>
                <a:latin typeface="Calibri" pitchFamily="34" charset="0"/>
                <a:ea typeface="Calibri" pitchFamily="34" charset="-122"/>
                <a:cs typeface="Calibri" pitchFamily="34" charset="-120"/>
              </a:rPr>
              <a:t>WHY THIS AUDIENCE</a:t>
            </a:r>
            <a:endParaRPr lang="en-US" sz="1000" dirty="0"/>
          </a:p>
        </p:txBody>
      </p:sp>
      <p:sp>
        <p:nvSpPr>
          <p:cNvPr id="19" name="Shape 17"/>
          <p:cNvSpPr/>
          <p:nvPr/>
        </p:nvSpPr>
        <p:spPr>
          <a:xfrm>
            <a:off x="6492240" y="2331720"/>
            <a:ext cx="5257800" cy="1188720"/>
          </a:xfrm>
          <a:prstGeom prst="rect">
            <a:avLst/>
          </a:prstGeom>
          <a:solidFill>
            <a:srgbClr val="16181A"/>
          </a:solidFill>
          <a:ln w="9525">
            <a:solidFill>
              <a:srgbClr val="2E3236"/>
            </a:solidFill>
            <a:prstDash val="solid"/>
          </a:ln>
        </p:spPr>
        <p:txBody>
          <a:bodyPr/>
          <a:lstStyle/>
          <a:p>
            <a:endParaRPr lang="en-US"/>
          </a:p>
        </p:txBody>
      </p:sp>
      <p:sp>
        <p:nvSpPr>
          <p:cNvPr id="20" name="Text 18"/>
          <p:cNvSpPr/>
          <p:nvPr/>
        </p:nvSpPr>
        <p:spPr>
          <a:xfrm>
            <a:off x="6675120" y="2468880"/>
            <a:ext cx="4937760" cy="320040"/>
          </a:xfrm>
          <a:prstGeom prst="rect">
            <a:avLst/>
          </a:prstGeom>
          <a:noFill/>
          <a:ln/>
        </p:spPr>
        <p:txBody>
          <a:bodyPr wrap="square" rtlCol="0" anchor="ctr"/>
          <a:lstStyle/>
          <a:p>
            <a:pPr marL="0" indent="0">
              <a:buNone/>
            </a:pPr>
            <a:r>
              <a:rPr lang="en-US" sz="1300" b="1" dirty="0">
                <a:solidFill>
                  <a:srgbClr val="E6E4DE"/>
                </a:solidFill>
                <a:latin typeface="Trebuchet MS" pitchFamily="34" charset="0"/>
                <a:ea typeface="Trebuchet MS" pitchFamily="34" charset="-122"/>
                <a:cs typeface="Trebuchet MS" pitchFamily="34" charset="-120"/>
              </a:rPr>
              <a:t>High lifetime value</a:t>
            </a:r>
            <a:endParaRPr lang="en-US" sz="1300" dirty="0"/>
          </a:p>
        </p:txBody>
      </p:sp>
      <p:sp>
        <p:nvSpPr>
          <p:cNvPr id="21" name="Text 19"/>
          <p:cNvSpPr/>
          <p:nvPr/>
        </p:nvSpPr>
        <p:spPr>
          <a:xfrm>
            <a:off x="6675120" y="2788920"/>
            <a:ext cx="4937760" cy="685800"/>
          </a:xfrm>
          <a:prstGeom prst="rect">
            <a:avLst/>
          </a:prstGeom>
          <a:noFill/>
          <a:ln/>
        </p:spPr>
        <p:txBody>
          <a:bodyPr wrap="square" rtlCol="0" anchor="ctr"/>
          <a:lstStyle/>
          <a:p>
            <a:pPr marL="0" indent="0">
              <a:lnSpc>
                <a:spcPct val="130000"/>
              </a:lnSpc>
              <a:buNone/>
            </a:pPr>
            <a:r>
              <a:rPr lang="en-US" sz="1100" dirty="0">
                <a:solidFill>
                  <a:srgbClr val="9A958A"/>
                </a:solidFill>
                <a:latin typeface="Calibri" pitchFamily="34" charset="0"/>
                <a:ea typeface="Calibri" pitchFamily="34" charset="-122"/>
                <a:cs typeface="Calibri" pitchFamily="34" charset="-120"/>
              </a:rPr>
              <a:t>Extraction-shooter fans historically spend 500+ hours in games they commit to and are highly likely to purchase edition upgrades.</a:t>
            </a:r>
            <a:endParaRPr lang="en-US" sz="1100" dirty="0"/>
          </a:p>
        </p:txBody>
      </p:sp>
      <p:sp>
        <p:nvSpPr>
          <p:cNvPr id="22" name="Shape 20"/>
          <p:cNvSpPr/>
          <p:nvPr/>
        </p:nvSpPr>
        <p:spPr>
          <a:xfrm>
            <a:off x="6492240" y="3657600"/>
            <a:ext cx="5257800" cy="1188720"/>
          </a:xfrm>
          <a:prstGeom prst="rect">
            <a:avLst/>
          </a:prstGeom>
          <a:solidFill>
            <a:srgbClr val="16181A"/>
          </a:solidFill>
          <a:ln w="9525">
            <a:solidFill>
              <a:srgbClr val="2E3236"/>
            </a:solidFill>
            <a:prstDash val="solid"/>
          </a:ln>
        </p:spPr>
        <p:txBody>
          <a:bodyPr/>
          <a:lstStyle/>
          <a:p>
            <a:endParaRPr lang="en-US"/>
          </a:p>
        </p:txBody>
      </p:sp>
      <p:sp>
        <p:nvSpPr>
          <p:cNvPr id="23" name="Text 21"/>
          <p:cNvSpPr/>
          <p:nvPr/>
        </p:nvSpPr>
        <p:spPr>
          <a:xfrm>
            <a:off x="6675120" y="3794760"/>
            <a:ext cx="4937760" cy="320040"/>
          </a:xfrm>
          <a:prstGeom prst="rect">
            <a:avLst/>
          </a:prstGeom>
          <a:noFill/>
          <a:ln/>
        </p:spPr>
        <p:txBody>
          <a:bodyPr wrap="square" rtlCol="0" anchor="ctr"/>
          <a:lstStyle/>
          <a:p>
            <a:pPr marL="0" indent="0">
              <a:buNone/>
            </a:pPr>
            <a:r>
              <a:rPr lang="en-US" sz="1300" b="1" dirty="0">
                <a:solidFill>
                  <a:srgbClr val="E6E4DE"/>
                </a:solidFill>
                <a:latin typeface="Trebuchet MS" pitchFamily="34" charset="0"/>
                <a:ea typeface="Trebuchet MS" pitchFamily="34" charset="-122"/>
                <a:cs typeface="Trebuchet MS" pitchFamily="34" charset="-120"/>
              </a:rPr>
              <a:t>Content creators</a:t>
            </a:r>
            <a:endParaRPr lang="en-US" sz="1300" dirty="0"/>
          </a:p>
        </p:txBody>
      </p:sp>
      <p:sp>
        <p:nvSpPr>
          <p:cNvPr id="24" name="Text 22"/>
          <p:cNvSpPr/>
          <p:nvPr/>
        </p:nvSpPr>
        <p:spPr>
          <a:xfrm>
            <a:off x="6675120" y="4114800"/>
            <a:ext cx="4937760" cy="685800"/>
          </a:xfrm>
          <a:prstGeom prst="rect">
            <a:avLst/>
          </a:prstGeom>
          <a:noFill/>
          <a:ln/>
        </p:spPr>
        <p:txBody>
          <a:bodyPr wrap="square" rtlCol="0" anchor="ctr"/>
          <a:lstStyle/>
          <a:p>
            <a:pPr marL="0" indent="0">
              <a:lnSpc>
                <a:spcPct val="130000"/>
              </a:lnSpc>
              <a:buNone/>
            </a:pPr>
            <a:r>
              <a:rPr lang="en-US" sz="1100" dirty="0">
                <a:solidFill>
                  <a:srgbClr val="9A958A"/>
                </a:solidFill>
                <a:latin typeface="Calibri" pitchFamily="34" charset="0"/>
                <a:ea typeface="Calibri" pitchFamily="34" charset="-122"/>
                <a:cs typeface="Calibri" pitchFamily="34" charset="-120"/>
              </a:rPr>
              <a:t>This segment does not just watch Tarkov — they make guides, montages, and memes that fuel earned media at no cost to the studio.</a:t>
            </a:r>
            <a:endParaRPr lang="en-US" sz="1100" dirty="0"/>
          </a:p>
        </p:txBody>
      </p:sp>
      <p:sp>
        <p:nvSpPr>
          <p:cNvPr id="25" name="Shape 23"/>
          <p:cNvSpPr/>
          <p:nvPr/>
        </p:nvSpPr>
        <p:spPr>
          <a:xfrm>
            <a:off x="6492240" y="4983480"/>
            <a:ext cx="5257800" cy="1188720"/>
          </a:xfrm>
          <a:prstGeom prst="rect">
            <a:avLst/>
          </a:prstGeom>
          <a:solidFill>
            <a:srgbClr val="16181A"/>
          </a:solidFill>
          <a:ln w="9525">
            <a:solidFill>
              <a:srgbClr val="2E3236"/>
            </a:solidFill>
            <a:prstDash val="solid"/>
          </a:ln>
        </p:spPr>
        <p:txBody>
          <a:bodyPr/>
          <a:lstStyle/>
          <a:p>
            <a:endParaRPr lang="en-US"/>
          </a:p>
        </p:txBody>
      </p:sp>
      <p:sp>
        <p:nvSpPr>
          <p:cNvPr id="26" name="Text 24"/>
          <p:cNvSpPr/>
          <p:nvPr/>
        </p:nvSpPr>
        <p:spPr>
          <a:xfrm>
            <a:off x="6675120" y="5120640"/>
            <a:ext cx="4937760" cy="320040"/>
          </a:xfrm>
          <a:prstGeom prst="rect">
            <a:avLst/>
          </a:prstGeom>
          <a:noFill/>
          <a:ln/>
        </p:spPr>
        <p:txBody>
          <a:bodyPr wrap="square" rtlCol="0" anchor="ctr"/>
          <a:lstStyle/>
          <a:p>
            <a:pPr marL="0" indent="0">
              <a:buNone/>
            </a:pPr>
            <a:r>
              <a:rPr lang="en-US" sz="1300" b="1" dirty="0">
                <a:solidFill>
                  <a:srgbClr val="E6E4DE"/>
                </a:solidFill>
                <a:latin typeface="Trebuchet MS" pitchFamily="34" charset="0"/>
                <a:ea typeface="Trebuchet MS" pitchFamily="34" charset="-122"/>
                <a:cs typeface="Trebuchet MS" pitchFamily="34" charset="-120"/>
              </a:rPr>
              <a:t>Community habit</a:t>
            </a:r>
            <a:endParaRPr lang="en-US" sz="1300" dirty="0"/>
          </a:p>
        </p:txBody>
      </p:sp>
      <p:sp>
        <p:nvSpPr>
          <p:cNvPr id="27" name="Text 25"/>
          <p:cNvSpPr/>
          <p:nvPr/>
        </p:nvSpPr>
        <p:spPr>
          <a:xfrm>
            <a:off x="6675120" y="5440680"/>
            <a:ext cx="4937760" cy="685800"/>
          </a:xfrm>
          <a:prstGeom prst="rect">
            <a:avLst/>
          </a:prstGeom>
          <a:noFill/>
          <a:ln/>
        </p:spPr>
        <p:txBody>
          <a:bodyPr wrap="square" rtlCol="0" anchor="ctr"/>
          <a:lstStyle/>
          <a:p>
            <a:pPr marL="0" indent="0">
              <a:lnSpc>
                <a:spcPct val="130000"/>
              </a:lnSpc>
              <a:buNone/>
            </a:pPr>
            <a:r>
              <a:rPr lang="en-US" sz="1100" dirty="0">
                <a:solidFill>
                  <a:srgbClr val="9A958A"/>
                </a:solidFill>
                <a:latin typeface="Calibri" pitchFamily="34" charset="0"/>
                <a:ea typeface="Calibri" pitchFamily="34" charset="-122"/>
                <a:cs typeface="Calibri" pitchFamily="34" charset="-120"/>
              </a:rPr>
              <a:t>Daily touchpoints across Twitch, Reddit, Discord, and YouTube mean promotion can be timed to when the audience is already looking.</a:t>
            </a:r>
            <a:endParaRPr lang="en-US" sz="1100" dirty="0"/>
          </a:p>
        </p:txBody>
      </p:sp>
      <p:sp>
        <p:nvSpPr>
          <p:cNvPr id="28" name="Shape 26"/>
          <p:cNvSpPr/>
          <p:nvPr/>
        </p:nvSpPr>
        <p:spPr>
          <a:xfrm>
            <a:off x="457200" y="6565392"/>
            <a:ext cx="11277295" cy="0"/>
          </a:xfrm>
          <a:prstGeom prst="line">
            <a:avLst/>
          </a:prstGeom>
          <a:noFill/>
          <a:ln w="9525">
            <a:solidFill>
              <a:srgbClr val="3A3E42"/>
            </a:solidFill>
            <a:prstDash val="solid"/>
          </a:ln>
        </p:spPr>
        <p:txBody>
          <a:bodyPr/>
          <a:lstStyle/>
          <a:p>
            <a:endParaRPr lang="en-US"/>
          </a:p>
        </p:txBody>
      </p:sp>
      <p:sp>
        <p:nvSpPr>
          <p:cNvPr id="29" name="Text 27"/>
          <p:cNvSpPr/>
          <p:nvPr/>
        </p:nvSpPr>
        <p:spPr>
          <a:xfrm>
            <a:off x="457200" y="6601968"/>
            <a:ext cx="8229600" cy="228600"/>
          </a:xfrm>
          <a:prstGeom prst="rect">
            <a:avLst/>
          </a:prstGeom>
          <a:noFill/>
          <a:ln/>
        </p:spPr>
        <p:txBody>
          <a:bodyPr wrap="square" rtlCol="0" anchor="ctr"/>
          <a:lstStyle/>
          <a:p>
            <a:pPr marL="0" indent="0">
              <a:buNone/>
            </a:pPr>
            <a:r>
              <a:rPr lang="en-US" sz="900" kern="0" spc="200" dirty="0">
                <a:solidFill>
                  <a:srgbClr val="6A665E"/>
                </a:solidFill>
                <a:latin typeface="Calibri" pitchFamily="34" charset="0"/>
                <a:ea typeface="Calibri" pitchFamily="34" charset="-122"/>
                <a:cs typeface="Calibri" pitchFamily="34" charset="-120"/>
              </a:rPr>
              <a:t>TARKOV  ·  CONTENT MARKETING CAMPAIGN  ·  JULIO HERNANDEZ</a:t>
            </a:r>
            <a:endParaRPr lang="en-US" sz="900" dirty="0"/>
          </a:p>
        </p:txBody>
      </p:sp>
      <p:sp>
        <p:nvSpPr>
          <p:cNvPr id="30" name="Text 28"/>
          <p:cNvSpPr/>
          <p:nvPr/>
        </p:nvSpPr>
        <p:spPr>
          <a:xfrm>
            <a:off x="10789920" y="6601968"/>
            <a:ext cx="914400" cy="228600"/>
          </a:xfrm>
          <a:prstGeom prst="rect">
            <a:avLst/>
          </a:prstGeom>
          <a:noFill/>
          <a:ln/>
        </p:spPr>
        <p:txBody>
          <a:bodyPr wrap="square" rtlCol="0" anchor="ctr"/>
          <a:lstStyle/>
          <a:p>
            <a:pPr marL="0" indent="0" algn="r">
              <a:buNone/>
            </a:pPr>
            <a:r>
              <a:rPr lang="en-US" sz="900" dirty="0">
                <a:solidFill>
                  <a:srgbClr val="6A665E"/>
                </a:solidFill>
                <a:latin typeface="Calibri" pitchFamily="34" charset="0"/>
                <a:ea typeface="Calibri" pitchFamily="34" charset="-122"/>
                <a:cs typeface="Calibri"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F10"/>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274320"/>
          </a:xfrm>
          <a:prstGeom prst="rect">
            <a:avLst/>
          </a:prstGeom>
          <a:noFill/>
          <a:ln/>
        </p:spPr>
        <p:txBody>
          <a:bodyPr wrap="square" rtlCol="0" anchor="ctr"/>
          <a:lstStyle/>
          <a:p>
            <a:pPr marL="0" indent="0">
              <a:buNone/>
            </a:pPr>
            <a:r>
              <a:rPr lang="en-US" sz="1000" b="1" kern="0" spc="400" dirty="0">
                <a:solidFill>
                  <a:srgbClr val="C96A2B"/>
                </a:solidFill>
                <a:latin typeface="Calibri" pitchFamily="34" charset="0"/>
                <a:ea typeface="Calibri" pitchFamily="34" charset="-122"/>
                <a:cs typeface="Calibri" pitchFamily="34" charset="-120"/>
              </a:rPr>
              <a:t>03  ·  OBJECTIVES</a:t>
            </a:r>
            <a:endParaRPr lang="en-US" sz="1000" dirty="0"/>
          </a:p>
        </p:txBody>
      </p:sp>
      <p:sp>
        <p:nvSpPr>
          <p:cNvPr id="3" name="Text 1"/>
          <p:cNvSpPr/>
          <p:nvPr/>
        </p:nvSpPr>
        <p:spPr>
          <a:xfrm>
            <a:off x="548640" y="804672"/>
            <a:ext cx="10972800" cy="685800"/>
          </a:xfrm>
          <a:prstGeom prst="rect">
            <a:avLst/>
          </a:prstGeom>
          <a:noFill/>
          <a:ln/>
        </p:spPr>
        <p:txBody>
          <a:bodyPr wrap="square" rtlCol="0" anchor="ctr"/>
          <a:lstStyle/>
          <a:p>
            <a:pPr marL="0" indent="0">
              <a:buNone/>
            </a:pPr>
            <a:r>
              <a:rPr lang="en-US" sz="3200" b="1" dirty="0">
                <a:solidFill>
                  <a:srgbClr val="E6E4DE"/>
                </a:solidFill>
                <a:latin typeface="Trebuchet MS" pitchFamily="34" charset="0"/>
                <a:ea typeface="Trebuchet MS" pitchFamily="34" charset="-122"/>
                <a:cs typeface="Trebuchet MS" pitchFamily="34" charset="-120"/>
              </a:rPr>
              <a:t>SMART goals for the six-month window</a:t>
            </a:r>
            <a:endParaRPr lang="en-US" sz="3200" dirty="0"/>
          </a:p>
        </p:txBody>
      </p:sp>
      <p:sp>
        <p:nvSpPr>
          <p:cNvPr id="4" name="Shape 2"/>
          <p:cNvSpPr/>
          <p:nvPr/>
        </p:nvSpPr>
        <p:spPr>
          <a:xfrm>
            <a:off x="548640" y="1536192"/>
            <a:ext cx="1005840" cy="54864"/>
          </a:xfrm>
          <a:prstGeom prst="rect">
            <a:avLst/>
          </a:prstGeom>
          <a:solidFill>
            <a:srgbClr val="C96A2B"/>
          </a:solidFill>
          <a:ln/>
        </p:spPr>
        <p:txBody>
          <a:bodyPr/>
          <a:lstStyle/>
          <a:p>
            <a:endParaRPr lang="en-US"/>
          </a:p>
        </p:txBody>
      </p:sp>
      <p:sp>
        <p:nvSpPr>
          <p:cNvPr id="5" name="Shape 3"/>
          <p:cNvSpPr/>
          <p:nvPr/>
        </p:nvSpPr>
        <p:spPr>
          <a:xfrm>
            <a:off x="548640" y="1965960"/>
            <a:ext cx="5463540" cy="4114800"/>
          </a:xfrm>
          <a:prstGeom prst="rect">
            <a:avLst/>
          </a:prstGeom>
          <a:solidFill>
            <a:srgbClr val="16181A"/>
          </a:solidFill>
          <a:ln w="9525">
            <a:solidFill>
              <a:srgbClr val="2E3236"/>
            </a:solidFill>
            <a:prstDash val="solid"/>
          </a:ln>
        </p:spPr>
        <p:txBody>
          <a:bodyPr/>
          <a:lstStyle/>
          <a:p>
            <a:endParaRPr lang="en-US"/>
          </a:p>
        </p:txBody>
      </p:sp>
      <p:sp>
        <p:nvSpPr>
          <p:cNvPr id="6" name="Text 4"/>
          <p:cNvSpPr/>
          <p:nvPr/>
        </p:nvSpPr>
        <p:spPr>
          <a:xfrm>
            <a:off x="822960" y="2194560"/>
            <a:ext cx="4914900" cy="274320"/>
          </a:xfrm>
          <a:prstGeom prst="rect">
            <a:avLst/>
          </a:prstGeom>
          <a:noFill/>
          <a:ln/>
        </p:spPr>
        <p:txBody>
          <a:bodyPr wrap="square" rtlCol="0" anchor="ctr"/>
          <a:lstStyle/>
          <a:p>
            <a:pPr marL="0" indent="0">
              <a:buNone/>
            </a:pPr>
            <a:r>
              <a:rPr lang="en-US" sz="1000" b="1" kern="0" spc="300" dirty="0">
                <a:solidFill>
                  <a:srgbClr val="C96A2B"/>
                </a:solidFill>
                <a:latin typeface="Calibri" pitchFamily="34" charset="0"/>
                <a:ea typeface="Calibri" pitchFamily="34" charset="-122"/>
                <a:cs typeface="Calibri" pitchFamily="34" charset="-120"/>
              </a:rPr>
              <a:t>CONTENT MARKETING</a:t>
            </a:r>
            <a:endParaRPr lang="en-US" sz="1000" dirty="0"/>
          </a:p>
        </p:txBody>
      </p:sp>
      <p:sp>
        <p:nvSpPr>
          <p:cNvPr id="7" name="Text 5"/>
          <p:cNvSpPr/>
          <p:nvPr/>
        </p:nvSpPr>
        <p:spPr>
          <a:xfrm>
            <a:off x="822960" y="2514600"/>
            <a:ext cx="4914900" cy="777240"/>
          </a:xfrm>
          <a:prstGeom prst="rect">
            <a:avLst/>
          </a:prstGeom>
          <a:noFill/>
          <a:ln/>
        </p:spPr>
        <p:txBody>
          <a:bodyPr wrap="square" rtlCol="0" anchor="ctr"/>
          <a:lstStyle/>
          <a:p>
            <a:pPr marL="0" indent="0">
              <a:buNone/>
            </a:pPr>
            <a:r>
              <a:rPr lang="en-US" sz="1800" b="1" dirty="0">
                <a:solidFill>
                  <a:srgbClr val="E6E4DE"/>
                </a:solidFill>
                <a:latin typeface="Trebuchet MS" pitchFamily="34" charset="0"/>
                <a:ea typeface="Trebuchet MS" pitchFamily="34" charset="-122"/>
                <a:cs typeface="Trebuchet MS" pitchFamily="34" charset="-120"/>
              </a:rPr>
              <a:t>Boost engagement through platform-native content</a:t>
            </a:r>
            <a:endParaRPr lang="en-US" sz="1800" dirty="0"/>
          </a:p>
        </p:txBody>
      </p:sp>
      <p:sp>
        <p:nvSpPr>
          <p:cNvPr id="8" name="Shape 6"/>
          <p:cNvSpPr/>
          <p:nvPr/>
        </p:nvSpPr>
        <p:spPr>
          <a:xfrm>
            <a:off x="822960" y="3383280"/>
            <a:ext cx="4914900" cy="0"/>
          </a:xfrm>
          <a:prstGeom prst="line">
            <a:avLst/>
          </a:prstGeom>
          <a:noFill/>
          <a:ln w="9525">
            <a:solidFill>
              <a:srgbClr val="3A3E42"/>
            </a:solidFill>
            <a:prstDash val="solid"/>
          </a:ln>
        </p:spPr>
        <p:txBody>
          <a:bodyPr/>
          <a:lstStyle/>
          <a:p>
            <a:endParaRPr lang="en-US"/>
          </a:p>
        </p:txBody>
      </p:sp>
      <p:sp>
        <p:nvSpPr>
          <p:cNvPr id="9" name="Text 7"/>
          <p:cNvSpPr/>
          <p:nvPr/>
        </p:nvSpPr>
        <p:spPr>
          <a:xfrm>
            <a:off x="822960" y="3520440"/>
            <a:ext cx="4914900" cy="1920240"/>
          </a:xfrm>
          <a:prstGeom prst="rect">
            <a:avLst/>
          </a:prstGeom>
          <a:noFill/>
          <a:ln/>
        </p:spPr>
        <p:txBody>
          <a:bodyPr wrap="square" rtlCol="0" anchor="ctr"/>
          <a:lstStyle/>
          <a:p>
            <a:pPr marL="0" indent="0">
              <a:lnSpc>
                <a:spcPct val="140000"/>
              </a:lnSpc>
              <a:buNone/>
            </a:pPr>
            <a:r>
              <a:rPr lang="en-US" sz="1250" dirty="0">
                <a:solidFill>
                  <a:srgbClr val="E6E4DE"/>
                </a:solidFill>
                <a:latin typeface="Calibri" pitchFamily="34" charset="0"/>
                <a:ea typeface="Calibri" pitchFamily="34" charset="-122"/>
                <a:cs typeface="Calibri" pitchFamily="34" charset="-120"/>
              </a:rPr>
              <a:t>Boost community engagement by 15% by developing short-form video, dev blogs, and creator spotlights across owned channels over the next six months.</a:t>
            </a:r>
            <a:endParaRPr lang="en-US" sz="1250" dirty="0"/>
          </a:p>
        </p:txBody>
      </p:sp>
      <p:sp>
        <p:nvSpPr>
          <p:cNvPr id="10" name="Text 8"/>
          <p:cNvSpPr/>
          <p:nvPr/>
        </p:nvSpPr>
        <p:spPr>
          <a:xfrm>
            <a:off x="822960" y="5349240"/>
            <a:ext cx="4914900" cy="228600"/>
          </a:xfrm>
          <a:prstGeom prst="rect">
            <a:avLst/>
          </a:prstGeom>
          <a:noFill/>
          <a:ln/>
        </p:spPr>
        <p:txBody>
          <a:bodyPr wrap="square" rtlCol="0" anchor="ctr"/>
          <a:lstStyle/>
          <a:p>
            <a:pPr marL="0" indent="0">
              <a:buNone/>
            </a:pPr>
            <a:r>
              <a:rPr lang="en-US" sz="900" b="1" kern="0" spc="200" dirty="0">
                <a:solidFill>
                  <a:srgbClr val="C96A2B"/>
                </a:solidFill>
                <a:latin typeface="Calibri" pitchFamily="34" charset="0"/>
                <a:ea typeface="Calibri" pitchFamily="34" charset="-122"/>
                <a:cs typeface="Calibri" pitchFamily="34" charset="-120"/>
              </a:rPr>
              <a:t>CORE KPIs</a:t>
            </a:r>
            <a:endParaRPr lang="en-US" sz="900" dirty="0"/>
          </a:p>
        </p:txBody>
      </p:sp>
      <p:sp>
        <p:nvSpPr>
          <p:cNvPr id="11" name="Text 9"/>
          <p:cNvSpPr/>
          <p:nvPr/>
        </p:nvSpPr>
        <p:spPr>
          <a:xfrm>
            <a:off x="822960" y="5577840"/>
            <a:ext cx="4914900" cy="411480"/>
          </a:xfrm>
          <a:prstGeom prst="rect">
            <a:avLst/>
          </a:prstGeom>
          <a:noFill/>
          <a:ln/>
        </p:spPr>
        <p:txBody>
          <a:bodyPr wrap="square" rtlCol="0" anchor="ctr"/>
          <a:lstStyle/>
          <a:p>
            <a:pPr marL="0" indent="0">
              <a:buNone/>
            </a:pPr>
            <a:r>
              <a:rPr lang="en-US" sz="1100" i="1" dirty="0">
                <a:solidFill>
                  <a:srgbClr val="9A958A"/>
                </a:solidFill>
                <a:latin typeface="Calibri" pitchFamily="34" charset="0"/>
                <a:ea typeface="Calibri" pitchFamily="34" charset="-122"/>
                <a:cs typeface="Calibri" pitchFamily="34" charset="-120"/>
              </a:rPr>
              <a:t>Engagement rate · Avg. watch time · Email CTR</a:t>
            </a:r>
            <a:endParaRPr lang="en-US" sz="1100" dirty="0"/>
          </a:p>
        </p:txBody>
      </p:sp>
      <p:sp>
        <p:nvSpPr>
          <p:cNvPr id="12" name="Shape 10"/>
          <p:cNvSpPr/>
          <p:nvPr/>
        </p:nvSpPr>
        <p:spPr>
          <a:xfrm>
            <a:off x="6286500" y="1965960"/>
            <a:ext cx="5463540" cy="4114800"/>
          </a:xfrm>
          <a:prstGeom prst="rect">
            <a:avLst/>
          </a:prstGeom>
          <a:solidFill>
            <a:srgbClr val="16181A"/>
          </a:solidFill>
          <a:ln w="9525">
            <a:solidFill>
              <a:srgbClr val="2E3236"/>
            </a:solidFill>
            <a:prstDash val="solid"/>
          </a:ln>
        </p:spPr>
        <p:txBody>
          <a:bodyPr/>
          <a:lstStyle/>
          <a:p>
            <a:endParaRPr lang="en-US"/>
          </a:p>
        </p:txBody>
      </p:sp>
      <p:sp>
        <p:nvSpPr>
          <p:cNvPr id="13" name="Text 11"/>
          <p:cNvSpPr/>
          <p:nvPr/>
        </p:nvSpPr>
        <p:spPr>
          <a:xfrm>
            <a:off x="6560820" y="2194560"/>
            <a:ext cx="4914900" cy="274320"/>
          </a:xfrm>
          <a:prstGeom prst="rect">
            <a:avLst/>
          </a:prstGeom>
          <a:noFill/>
          <a:ln/>
        </p:spPr>
        <p:txBody>
          <a:bodyPr wrap="square" rtlCol="0" anchor="ctr"/>
          <a:lstStyle/>
          <a:p>
            <a:pPr marL="0" indent="0">
              <a:buNone/>
            </a:pPr>
            <a:r>
              <a:rPr lang="en-US" sz="1000" b="1" kern="0" spc="300" dirty="0">
                <a:solidFill>
                  <a:srgbClr val="C96A2B"/>
                </a:solidFill>
                <a:latin typeface="Calibri" pitchFamily="34" charset="0"/>
                <a:ea typeface="Calibri" pitchFamily="34" charset="-122"/>
                <a:cs typeface="Calibri" pitchFamily="34" charset="-120"/>
              </a:rPr>
              <a:t>PROMOTION</a:t>
            </a:r>
            <a:endParaRPr lang="en-US" sz="1000" dirty="0"/>
          </a:p>
        </p:txBody>
      </p:sp>
      <p:sp>
        <p:nvSpPr>
          <p:cNvPr id="14" name="Text 12"/>
          <p:cNvSpPr/>
          <p:nvPr/>
        </p:nvSpPr>
        <p:spPr>
          <a:xfrm>
            <a:off x="6560820" y="2514600"/>
            <a:ext cx="4914900" cy="777240"/>
          </a:xfrm>
          <a:prstGeom prst="rect">
            <a:avLst/>
          </a:prstGeom>
          <a:noFill/>
          <a:ln/>
        </p:spPr>
        <p:txBody>
          <a:bodyPr wrap="square" rtlCol="0" anchor="ctr"/>
          <a:lstStyle/>
          <a:p>
            <a:pPr marL="0" indent="0">
              <a:buNone/>
            </a:pPr>
            <a:r>
              <a:rPr lang="en-US" sz="1800" b="1" dirty="0">
                <a:solidFill>
                  <a:srgbClr val="E6E4DE"/>
                </a:solidFill>
                <a:latin typeface="Trebuchet MS" pitchFamily="34" charset="0"/>
                <a:ea typeface="Trebuchet MS" pitchFamily="34" charset="-122"/>
                <a:cs typeface="Trebuchet MS" pitchFamily="34" charset="-120"/>
              </a:rPr>
              <a:t>Convert engagement into community and sales</a:t>
            </a:r>
            <a:endParaRPr lang="en-US" sz="1800" dirty="0"/>
          </a:p>
        </p:txBody>
      </p:sp>
      <p:sp>
        <p:nvSpPr>
          <p:cNvPr id="15" name="Shape 13"/>
          <p:cNvSpPr/>
          <p:nvPr/>
        </p:nvSpPr>
        <p:spPr>
          <a:xfrm>
            <a:off x="6560820" y="3383280"/>
            <a:ext cx="4914900" cy="0"/>
          </a:xfrm>
          <a:prstGeom prst="line">
            <a:avLst/>
          </a:prstGeom>
          <a:noFill/>
          <a:ln w="9525">
            <a:solidFill>
              <a:srgbClr val="3A3E42"/>
            </a:solidFill>
            <a:prstDash val="solid"/>
          </a:ln>
        </p:spPr>
        <p:txBody>
          <a:bodyPr/>
          <a:lstStyle/>
          <a:p>
            <a:endParaRPr lang="en-US"/>
          </a:p>
        </p:txBody>
      </p:sp>
      <p:sp>
        <p:nvSpPr>
          <p:cNvPr id="16" name="Text 14"/>
          <p:cNvSpPr/>
          <p:nvPr/>
        </p:nvSpPr>
        <p:spPr>
          <a:xfrm>
            <a:off x="6560820" y="3520440"/>
            <a:ext cx="4914900" cy="1920240"/>
          </a:xfrm>
          <a:prstGeom prst="rect">
            <a:avLst/>
          </a:prstGeom>
          <a:noFill/>
          <a:ln/>
        </p:spPr>
        <p:txBody>
          <a:bodyPr wrap="square" rtlCol="0" anchor="ctr"/>
          <a:lstStyle/>
          <a:p>
            <a:pPr marL="0" indent="0">
              <a:lnSpc>
                <a:spcPct val="140000"/>
              </a:lnSpc>
              <a:buNone/>
            </a:pPr>
            <a:r>
              <a:rPr lang="en-US" sz="1250" dirty="0">
                <a:solidFill>
                  <a:srgbClr val="E6E4DE"/>
                </a:solidFill>
                <a:latin typeface="Calibri" pitchFamily="34" charset="0"/>
                <a:ea typeface="Calibri" pitchFamily="34" charset="-122"/>
                <a:cs typeface="Calibri" pitchFamily="34" charset="-120"/>
              </a:rPr>
              <a:t>Target 18–34 hardcore FPS players in NA and EU with an integrated mix of owned, earned, and paid media to highlight Tarkov's high-stakes realism, wipes, and new features, boosting game sales, Twitch viewership, and Discord membership by 15% over six months.</a:t>
            </a:r>
            <a:endParaRPr lang="en-US" sz="1250" dirty="0"/>
          </a:p>
        </p:txBody>
      </p:sp>
      <p:sp>
        <p:nvSpPr>
          <p:cNvPr id="17" name="Text 15"/>
          <p:cNvSpPr/>
          <p:nvPr/>
        </p:nvSpPr>
        <p:spPr>
          <a:xfrm>
            <a:off x="6560820" y="5349240"/>
            <a:ext cx="4914900" cy="228600"/>
          </a:xfrm>
          <a:prstGeom prst="rect">
            <a:avLst/>
          </a:prstGeom>
          <a:noFill/>
          <a:ln/>
        </p:spPr>
        <p:txBody>
          <a:bodyPr wrap="square" rtlCol="0" anchor="ctr"/>
          <a:lstStyle/>
          <a:p>
            <a:pPr marL="0" indent="0">
              <a:buNone/>
            </a:pPr>
            <a:r>
              <a:rPr lang="en-US" sz="900" b="1" kern="0" spc="200" dirty="0">
                <a:solidFill>
                  <a:srgbClr val="C96A2B"/>
                </a:solidFill>
                <a:latin typeface="Calibri" pitchFamily="34" charset="0"/>
                <a:ea typeface="Calibri" pitchFamily="34" charset="-122"/>
                <a:cs typeface="Calibri" pitchFamily="34" charset="-120"/>
              </a:rPr>
              <a:t>CORE KPIs</a:t>
            </a:r>
            <a:endParaRPr lang="en-US" sz="900" dirty="0"/>
          </a:p>
        </p:txBody>
      </p:sp>
      <p:sp>
        <p:nvSpPr>
          <p:cNvPr id="18" name="Text 16"/>
          <p:cNvSpPr/>
          <p:nvPr/>
        </p:nvSpPr>
        <p:spPr>
          <a:xfrm>
            <a:off x="6560820" y="5577840"/>
            <a:ext cx="4914900" cy="411480"/>
          </a:xfrm>
          <a:prstGeom prst="rect">
            <a:avLst/>
          </a:prstGeom>
          <a:noFill/>
          <a:ln/>
        </p:spPr>
        <p:txBody>
          <a:bodyPr wrap="square" rtlCol="0" anchor="ctr"/>
          <a:lstStyle/>
          <a:p>
            <a:pPr marL="0" indent="0">
              <a:buNone/>
            </a:pPr>
            <a:r>
              <a:rPr lang="en-US" sz="1100" i="1" dirty="0">
                <a:solidFill>
                  <a:srgbClr val="9A958A"/>
                </a:solidFill>
                <a:latin typeface="Calibri" pitchFamily="34" charset="0"/>
                <a:ea typeface="Calibri" pitchFamily="34" charset="-122"/>
                <a:cs typeface="Calibri" pitchFamily="34" charset="-120"/>
              </a:rPr>
              <a:t>Game sales · Peak Twitch CCV · Discord members</a:t>
            </a:r>
            <a:endParaRPr lang="en-US" sz="1100" dirty="0"/>
          </a:p>
        </p:txBody>
      </p:sp>
      <p:sp>
        <p:nvSpPr>
          <p:cNvPr id="19" name="Text 17"/>
          <p:cNvSpPr/>
          <p:nvPr/>
        </p:nvSpPr>
        <p:spPr>
          <a:xfrm>
            <a:off x="548640" y="6080760"/>
            <a:ext cx="11201400" cy="256032"/>
          </a:xfrm>
          <a:prstGeom prst="rect">
            <a:avLst/>
          </a:prstGeom>
          <a:noFill/>
          <a:ln/>
        </p:spPr>
        <p:txBody>
          <a:bodyPr wrap="square" rtlCol="0" anchor="ctr"/>
          <a:lstStyle/>
          <a:p>
            <a:pPr marL="0" indent="0">
              <a:buNone/>
            </a:pPr>
            <a:r>
              <a:rPr lang="en-US" sz="900" dirty="0">
                <a:solidFill>
                  <a:srgbClr val="6A665E"/>
                </a:solidFill>
                <a:latin typeface="Calibri" pitchFamily="34" charset="0"/>
                <a:ea typeface="Calibri" pitchFamily="34" charset="-122"/>
                <a:cs typeface="Calibri" pitchFamily="34" charset="-120"/>
              </a:rPr>
              <a:t>Source: </a:t>
            </a:r>
            <a:r>
              <a:rPr lang="en-US" sz="900" u="sng" dirty="0">
                <a:solidFill>
                  <a:srgbClr val="C96A2B"/>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Lovett &amp; Staelin (2016), Marketing Science</a:t>
            </a:r>
            <a:r>
              <a:rPr lang="en-US" sz="900" dirty="0">
                <a:solidFill>
                  <a:srgbClr val="6A665E"/>
                </a:solidFill>
                <a:latin typeface="Calibri" pitchFamily="34" charset="0"/>
                <a:ea typeface="Calibri" pitchFamily="34" charset="-122"/>
                <a:cs typeface="Calibri" pitchFamily="34" charset="-120"/>
              </a:rPr>
              <a:t>, </a:t>
            </a:r>
            <a:r>
              <a:rPr lang="en-US" sz="900" u="sng" dirty="0">
                <a:solidFill>
                  <a:srgbClr val="C96A2B"/>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Koob (2021), PLoS ONE</a:t>
            </a:r>
            <a:endParaRPr lang="en-US" sz="900" dirty="0"/>
          </a:p>
        </p:txBody>
      </p:sp>
      <p:sp>
        <p:nvSpPr>
          <p:cNvPr id="20" name="Shape 18"/>
          <p:cNvSpPr/>
          <p:nvPr/>
        </p:nvSpPr>
        <p:spPr>
          <a:xfrm>
            <a:off x="457200" y="6565392"/>
            <a:ext cx="11277295" cy="0"/>
          </a:xfrm>
          <a:prstGeom prst="line">
            <a:avLst/>
          </a:prstGeom>
          <a:noFill/>
          <a:ln w="9525">
            <a:solidFill>
              <a:srgbClr val="3A3E42"/>
            </a:solidFill>
            <a:prstDash val="solid"/>
          </a:ln>
        </p:spPr>
        <p:txBody>
          <a:bodyPr/>
          <a:lstStyle/>
          <a:p>
            <a:endParaRPr lang="en-US"/>
          </a:p>
        </p:txBody>
      </p:sp>
      <p:sp>
        <p:nvSpPr>
          <p:cNvPr id="21" name="Text 19"/>
          <p:cNvSpPr/>
          <p:nvPr/>
        </p:nvSpPr>
        <p:spPr>
          <a:xfrm>
            <a:off x="457200" y="6601968"/>
            <a:ext cx="8229600" cy="228600"/>
          </a:xfrm>
          <a:prstGeom prst="rect">
            <a:avLst/>
          </a:prstGeom>
          <a:noFill/>
          <a:ln/>
        </p:spPr>
        <p:txBody>
          <a:bodyPr wrap="square" rtlCol="0" anchor="ctr"/>
          <a:lstStyle/>
          <a:p>
            <a:pPr marL="0" indent="0">
              <a:buNone/>
            </a:pPr>
            <a:r>
              <a:rPr lang="en-US" sz="900" kern="0" spc="200" dirty="0">
                <a:solidFill>
                  <a:srgbClr val="6A665E"/>
                </a:solidFill>
                <a:latin typeface="Calibri" pitchFamily="34" charset="0"/>
                <a:ea typeface="Calibri" pitchFamily="34" charset="-122"/>
                <a:cs typeface="Calibri" pitchFamily="34" charset="-120"/>
              </a:rPr>
              <a:t>TARKOV  ·  CONTENT MARKETING CAMPAIGN  ·  JULIO HERNANDEZ</a:t>
            </a:r>
            <a:endParaRPr lang="en-US" sz="900" dirty="0"/>
          </a:p>
        </p:txBody>
      </p:sp>
      <p:sp>
        <p:nvSpPr>
          <p:cNvPr id="22" name="Text 20"/>
          <p:cNvSpPr/>
          <p:nvPr/>
        </p:nvSpPr>
        <p:spPr>
          <a:xfrm>
            <a:off x="10789920" y="6601968"/>
            <a:ext cx="914400" cy="228600"/>
          </a:xfrm>
          <a:prstGeom prst="rect">
            <a:avLst/>
          </a:prstGeom>
          <a:noFill/>
          <a:ln/>
        </p:spPr>
        <p:txBody>
          <a:bodyPr wrap="square" rtlCol="0" anchor="ctr"/>
          <a:lstStyle/>
          <a:p>
            <a:pPr marL="0" indent="0" algn="r">
              <a:buNone/>
            </a:pPr>
            <a:r>
              <a:rPr lang="en-US" sz="900" dirty="0">
                <a:solidFill>
                  <a:srgbClr val="6A665E"/>
                </a:solidFill>
                <a:latin typeface="Calibri" pitchFamily="34" charset="0"/>
                <a:ea typeface="Calibri" pitchFamily="34" charset="-122"/>
                <a:cs typeface="Calibri"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F10"/>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274320"/>
          </a:xfrm>
          <a:prstGeom prst="rect">
            <a:avLst/>
          </a:prstGeom>
          <a:noFill/>
          <a:ln/>
        </p:spPr>
        <p:txBody>
          <a:bodyPr wrap="square" rtlCol="0" anchor="ctr"/>
          <a:lstStyle/>
          <a:p>
            <a:pPr marL="0" indent="0">
              <a:buNone/>
            </a:pPr>
            <a:r>
              <a:rPr lang="en-US" sz="1000" b="1" kern="0" spc="400" dirty="0">
                <a:solidFill>
                  <a:srgbClr val="C96A2B"/>
                </a:solidFill>
                <a:latin typeface="Calibri" pitchFamily="34" charset="0"/>
                <a:ea typeface="Calibri" pitchFamily="34" charset="-122"/>
                <a:cs typeface="Calibri" pitchFamily="34" charset="-120"/>
              </a:rPr>
              <a:t>04  ·  CONTENT EXAMPLE</a:t>
            </a:r>
            <a:endParaRPr lang="en-US" sz="1000" dirty="0"/>
          </a:p>
        </p:txBody>
      </p:sp>
      <p:sp>
        <p:nvSpPr>
          <p:cNvPr id="3" name="Text 1"/>
          <p:cNvSpPr/>
          <p:nvPr/>
        </p:nvSpPr>
        <p:spPr>
          <a:xfrm>
            <a:off x="548640" y="804672"/>
            <a:ext cx="10972800" cy="685800"/>
          </a:xfrm>
          <a:prstGeom prst="rect">
            <a:avLst/>
          </a:prstGeom>
          <a:noFill/>
          <a:ln/>
        </p:spPr>
        <p:txBody>
          <a:bodyPr wrap="square" rtlCol="0" anchor="ctr"/>
          <a:lstStyle/>
          <a:p>
            <a:pPr marL="0" indent="0">
              <a:buNone/>
            </a:pPr>
            <a:r>
              <a:rPr lang="en-US" sz="3200" b="1" dirty="0">
                <a:solidFill>
                  <a:srgbClr val="E6E4DE"/>
                </a:solidFill>
                <a:latin typeface="Trebuchet MS" pitchFamily="34" charset="0"/>
                <a:ea typeface="Trebuchet MS" pitchFamily="34" charset="-122"/>
                <a:cs typeface="Trebuchet MS" pitchFamily="34" charset="-120"/>
              </a:rPr>
              <a:t>'Surviving the Wipe': a three-part video series</a:t>
            </a:r>
            <a:endParaRPr lang="en-US" sz="3200" dirty="0"/>
          </a:p>
        </p:txBody>
      </p:sp>
      <p:sp>
        <p:nvSpPr>
          <p:cNvPr id="4" name="Shape 2"/>
          <p:cNvSpPr/>
          <p:nvPr/>
        </p:nvSpPr>
        <p:spPr>
          <a:xfrm>
            <a:off x="548640" y="1536192"/>
            <a:ext cx="1005840" cy="54864"/>
          </a:xfrm>
          <a:prstGeom prst="rect">
            <a:avLst/>
          </a:prstGeom>
          <a:solidFill>
            <a:srgbClr val="C96A2B"/>
          </a:solidFill>
          <a:ln/>
        </p:spPr>
        <p:txBody>
          <a:bodyPr/>
          <a:lstStyle/>
          <a:p>
            <a:endParaRPr lang="en-US"/>
          </a:p>
        </p:txBody>
      </p:sp>
      <p:pic>
        <p:nvPicPr>
          <p:cNvPr id="5" name="Image 0" descr="/home/user/workspace/tarkov-deck/images/ss1.jpg"/>
          <p:cNvPicPr>
            <a:picLocks noChangeAspect="1"/>
          </p:cNvPicPr>
          <p:nvPr/>
        </p:nvPicPr>
        <p:blipFill>
          <a:blip r:embed="rId3"/>
          <a:stretch>
            <a:fillRect/>
          </a:stretch>
        </p:blipFill>
        <p:spPr>
          <a:xfrm>
            <a:off x="548640" y="1965960"/>
            <a:ext cx="5303520" cy="2980944"/>
          </a:xfrm>
          <a:prstGeom prst="rect">
            <a:avLst/>
          </a:prstGeom>
        </p:spPr>
      </p:pic>
      <p:sp>
        <p:nvSpPr>
          <p:cNvPr id="6" name="Text 3"/>
          <p:cNvSpPr/>
          <p:nvPr/>
        </p:nvSpPr>
        <p:spPr>
          <a:xfrm>
            <a:off x="548640" y="5029200"/>
            <a:ext cx="5303520" cy="320040"/>
          </a:xfrm>
          <a:prstGeom prst="rect">
            <a:avLst/>
          </a:prstGeom>
          <a:noFill/>
          <a:ln/>
        </p:spPr>
        <p:txBody>
          <a:bodyPr wrap="square" rtlCol="0" anchor="ctr"/>
          <a:lstStyle/>
          <a:p>
            <a:pPr marL="0" indent="0">
              <a:buNone/>
            </a:pPr>
            <a:r>
              <a:rPr lang="en-US" sz="1000" i="1" dirty="0">
                <a:solidFill>
                  <a:srgbClr val="6A665E"/>
                </a:solidFill>
                <a:latin typeface="Calibri" pitchFamily="34" charset="0"/>
                <a:ea typeface="Calibri" pitchFamily="34" charset="-122"/>
                <a:cs typeface="Calibri" pitchFamily="34" charset="-120"/>
              </a:rPr>
              <a:t>Creator-led storytelling anchors the campaign.</a:t>
            </a:r>
            <a:endParaRPr lang="en-US" sz="1000" dirty="0"/>
          </a:p>
        </p:txBody>
      </p:sp>
      <p:sp>
        <p:nvSpPr>
          <p:cNvPr id="7" name="Text 4"/>
          <p:cNvSpPr/>
          <p:nvPr/>
        </p:nvSpPr>
        <p:spPr>
          <a:xfrm>
            <a:off x="6217920" y="1965960"/>
            <a:ext cx="5486400" cy="274320"/>
          </a:xfrm>
          <a:prstGeom prst="rect">
            <a:avLst/>
          </a:prstGeom>
          <a:noFill/>
          <a:ln/>
        </p:spPr>
        <p:txBody>
          <a:bodyPr wrap="square" rtlCol="0" anchor="ctr"/>
          <a:lstStyle/>
          <a:p>
            <a:pPr marL="0" indent="0">
              <a:buNone/>
            </a:pPr>
            <a:r>
              <a:rPr lang="en-US" sz="1000" b="1" kern="0" spc="300" dirty="0">
                <a:solidFill>
                  <a:srgbClr val="C96A2B"/>
                </a:solidFill>
                <a:latin typeface="Calibri" pitchFamily="34" charset="0"/>
                <a:ea typeface="Calibri" pitchFamily="34" charset="-122"/>
                <a:cs typeface="Calibri" pitchFamily="34" charset="-120"/>
              </a:rPr>
              <a:t>THE IDEA</a:t>
            </a:r>
            <a:endParaRPr lang="en-US" sz="1000" dirty="0"/>
          </a:p>
        </p:txBody>
      </p:sp>
      <p:sp>
        <p:nvSpPr>
          <p:cNvPr id="8" name="Text 5"/>
          <p:cNvSpPr/>
          <p:nvPr/>
        </p:nvSpPr>
        <p:spPr>
          <a:xfrm>
            <a:off x="6217920" y="2286000"/>
            <a:ext cx="5532120" cy="1645920"/>
          </a:xfrm>
          <a:prstGeom prst="rect">
            <a:avLst/>
          </a:prstGeom>
          <a:noFill/>
          <a:ln/>
        </p:spPr>
        <p:txBody>
          <a:bodyPr wrap="square" rtlCol="0" anchor="ctr"/>
          <a:lstStyle/>
          <a:p>
            <a:pPr marL="0" indent="0">
              <a:lnSpc>
                <a:spcPct val="140000"/>
              </a:lnSpc>
              <a:buNone/>
            </a:pPr>
            <a:r>
              <a:rPr lang="en-US" sz="1250" dirty="0">
                <a:solidFill>
                  <a:srgbClr val="E6E4DE"/>
                </a:solidFill>
                <a:latin typeface="Calibri" pitchFamily="34" charset="0"/>
                <a:ea typeface="Calibri" pitchFamily="34" charset="-122"/>
                <a:cs typeface="Calibri" pitchFamily="34" charset="-120"/>
              </a:rPr>
              <a:t>A three-episode video series following three Tarkov creators — a new player, a returning veteran, and a top streamer — as they prep for and play through a major wipe. Long-form cuts live on YouTube; vertical clips seed TikTok, Reels, and Shorts; dev commentary ties it back to the official site.</a:t>
            </a:r>
            <a:endParaRPr lang="en-US" sz="1250" dirty="0"/>
          </a:p>
        </p:txBody>
      </p:sp>
      <p:sp>
        <p:nvSpPr>
          <p:cNvPr id="9" name="Text 6"/>
          <p:cNvSpPr/>
          <p:nvPr/>
        </p:nvSpPr>
        <p:spPr>
          <a:xfrm>
            <a:off x="6217920" y="3977640"/>
            <a:ext cx="5486400" cy="274320"/>
          </a:xfrm>
          <a:prstGeom prst="rect">
            <a:avLst/>
          </a:prstGeom>
          <a:noFill/>
          <a:ln/>
        </p:spPr>
        <p:txBody>
          <a:bodyPr wrap="square" rtlCol="0" anchor="ctr"/>
          <a:lstStyle/>
          <a:p>
            <a:pPr marL="0" indent="0">
              <a:buNone/>
            </a:pPr>
            <a:r>
              <a:rPr lang="en-US" sz="1000" b="1" kern="0" spc="300" dirty="0">
                <a:solidFill>
                  <a:srgbClr val="C96A2B"/>
                </a:solidFill>
                <a:latin typeface="Calibri" pitchFamily="34" charset="0"/>
                <a:ea typeface="Calibri" pitchFamily="34" charset="-122"/>
                <a:cs typeface="Calibri" pitchFamily="34" charset="-120"/>
              </a:rPr>
              <a:t>WHY IT SUPPORTS THE OBJECTIVES</a:t>
            </a:r>
            <a:endParaRPr lang="en-US" sz="1000" dirty="0"/>
          </a:p>
        </p:txBody>
      </p:sp>
      <p:sp>
        <p:nvSpPr>
          <p:cNvPr id="10" name="Shape 7"/>
          <p:cNvSpPr/>
          <p:nvPr/>
        </p:nvSpPr>
        <p:spPr>
          <a:xfrm>
            <a:off x="6217920" y="4434840"/>
            <a:ext cx="73152" cy="73152"/>
          </a:xfrm>
          <a:prstGeom prst="rect">
            <a:avLst/>
          </a:prstGeom>
          <a:solidFill>
            <a:srgbClr val="C96A2B"/>
          </a:solidFill>
          <a:ln/>
        </p:spPr>
        <p:txBody>
          <a:bodyPr/>
          <a:lstStyle/>
          <a:p>
            <a:endParaRPr lang="en-US"/>
          </a:p>
        </p:txBody>
      </p:sp>
      <p:sp>
        <p:nvSpPr>
          <p:cNvPr id="11" name="Text 8"/>
          <p:cNvSpPr/>
          <p:nvPr/>
        </p:nvSpPr>
        <p:spPr>
          <a:xfrm>
            <a:off x="6400800" y="4343400"/>
            <a:ext cx="5349240" cy="548640"/>
          </a:xfrm>
          <a:prstGeom prst="rect">
            <a:avLst/>
          </a:prstGeom>
          <a:noFill/>
          <a:ln/>
        </p:spPr>
        <p:txBody>
          <a:bodyPr wrap="square" rtlCol="0" anchor="ctr"/>
          <a:lstStyle/>
          <a:p>
            <a:pPr marL="0" indent="0">
              <a:lnSpc>
                <a:spcPct val="130000"/>
              </a:lnSpc>
              <a:buNone/>
            </a:pPr>
            <a:r>
              <a:rPr lang="en-US" sz="1100" dirty="0">
                <a:solidFill>
                  <a:srgbClr val="9A958A"/>
                </a:solidFill>
                <a:latin typeface="Calibri" pitchFamily="34" charset="0"/>
                <a:ea typeface="Calibri" pitchFamily="34" charset="-122"/>
                <a:cs typeface="Calibri" pitchFamily="34" charset="-120"/>
              </a:rPr>
              <a:t>Addresses Tarkov's steep learning curve through a new-player lens, directly targeting lapsed and prospective buyers.</a:t>
            </a:r>
            <a:endParaRPr lang="en-US" sz="1100" dirty="0"/>
          </a:p>
        </p:txBody>
      </p:sp>
      <p:sp>
        <p:nvSpPr>
          <p:cNvPr id="12" name="Shape 9"/>
          <p:cNvSpPr/>
          <p:nvPr/>
        </p:nvSpPr>
        <p:spPr>
          <a:xfrm>
            <a:off x="6217920" y="5001768"/>
            <a:ext cx="73152" cy="73152"/>
          </a:xfrm>
          <a:prstGeom prst="rect">
            <a:avLst/>
          </a:prstGeom>
          <a:solidFill>
            <a:srgbClr val="C96A2B"/>
          </a:solidFill>
          <a:ln/>
        </p:spPr>
        <p:txBody>
          <a:bodyPr/>
          <a:lstStyle/>
          <a:p>
            <a:endParaRPr lang="en-US"/>
          </a:p>
        </p:txBody>
      </p:sp>
      <p:sp>
        <p:nvSpPr>
          <p:cNvPr id="13" name="Text 10"/>
          <p:cNvSpPr/>
          <p:nvPr/>
        </p:nvSpPr>
        <p:spPr>
          <a:xfrm>
            <a:off x="6400800" y="4910328"/>
            <a:ext cx="5349240" cy="548640"/>
          </a:xfrm>
          <a:prstGeom prst="rect">
            <a:avLst/>
          </a:prstGeom>
          <a:noFill/>
          <a:ln/>
        </p:spPr>
        <p:txBody>
          <a:bodyPr wrap="square" rtlCol="0" anchor="ctr"/>
          <a:lstStyle/>
          <a:p>
            <a:pPr marL="0" indent="0">
              <a:lnSpc>
                <a:spcPct val="130000"/>
              </a:lnSpc>
              <a:buNone/>
            </a:pPr>
            <a:r>
              <a:rPr lang="en-US" sz="1100" dirty="0">
                <a:solidFill>
                  <a:srgbClr val="9A958A"/>
                </a:solidFill>
                <a:latin typeface="Calibri" pitchFamily="34" charset="0"/>
                <a:ea typeface="Calibri" pitchFamily="34" charset="-122"/>
                <a:cs typeface="Calibri" pitchFamily="34" charset="-120"/>
              </a:rPr>
              <a:t>Built for repurposing: one shoot produces YouTube episodes, short-form verticals, dev blog posts, and email newsletter segments.</a:t>
            </a:r>
            <a:endParaRPr lang="en-US" sz="1100" dirty="0"/>
          </a:p>
        </p:txBody>
      </p:sp>
      <p:sp>
        <p:nvSpPr>
          <p:cNvPr id="14" name="Shape 11"/>
          <p:cNvSpPr/>
          <p:nvPr/>
        </p:nvSpPr>
        <p:spPr>
          <a:xfrm>
            <a:off x="6217920" y="5568696"/>
            <a:ext cx="73152" cy="73152"/>
          </a:xfrm>
          <a:prstGeom prst="rect">
            <a:avLst/>
          </a:prstGeom>
          <a:solidFill>
            <a:srgbClr val="C96A2B"/>
          </a:solidFill>
          <a:ln/>
        </p:spPr>
        <p:txBody>
          <a:bodyPr/>
          <a:lstStyle/>
          <a:p>
            <a:endParaRPr lang="en-US"/>
          </a:p>
        </p:txBody>
      </p:sp>
      <p:sp>
        <p:nvSpPr>
          <p:cNvPr id="15" name="Text 12"/>
          <p:cNvSpPr/>
          <p:nvPr/>
        </p:nvSpPr>
        <p:spPr>
          <a:xfrm>
            <a:off x="6400800" y="5477256"/>
            <a:ext cx="5349240" cy="548640"/>
          </a:xfrm>
          <a:prstGeom prst="rect">
            <a:avLst/>
          </a:prstGeom>
          <a:noFill/>
          <a:ln/>
        </p:spPr>
        <p:txBody>
          <a:bodyPr wrap="square" rtlCol="0" anchor="ctr"/>
          <a:lstStyle/>
          <a:p>
            <a:pPr marL="0" indent="0">
              <a:lnSpc>
                <a:spcPct val="130000"/>
              </a:lnSpc>
              <a:buNone/>
            </a:pPr>
            <a:r>
              <a:rPr lang="en-US" sz="1100" dirty="0">
                <a:solidFill>
                  <a:srgbClr val="9A958A"/>
                </a:solidFill>
                <a:latin typeface="Calibri" pitchFamily="34" charset="0"/>
                <a:ea typeface="Calibri" pitchFamily="34" charset="-122"/>
                <a:cs typeface="Calibri" pitchFamily="34" charset="-120"/>
              </a:rPr>
              <a:t>Leans on creators — the most credible voices in this genre — so the series doubles as earned-media fuel.</a:t>
            </a:r>
            <a:endParaRPr lang="en-US" sz="1100" dirty="0"/>
          </a:p>
        </p:txBody>
      </p:sp>
      <p:sp>
        <p:nvSpPr>
          <p:cNvPr id="16" name="Shape 13"/>
          <p:cNvSpPr/>
          <p:nvPr/>
        </p:nvSpPr>
        <p:spPr>
          <a:xfrm>
            <a:off x="457200" y="6565392"/>
            <a:ext cx="11277295" cy="0"/>
          </a:xfrm>
          <a:prstGeom prst="line">
            <a:avLst/>
          </a:prstGeom>
          <a:noFill/>
          <a:ln w="9525">
            <a:solidFill>
              <a:srgbClr val="3A3E42"/>
            </a:solidFill>
            <a:prstDash val="solid"/>
          </a:ln>
        </p:spPr>
        <p:txBody>
          <a:bodyPr/>
          <a:lstStyle/>
          <a:p>
            <a:endParaRPr lang="en-US"/>
          </a:p>
        </p:txBody>
      </p:sp>
      <p:sp>
        <p:nvSpPr>
          <p:cNvPr id="17" name="Text 14"/>
          <p:cNvSpPr/>
          <p:nvPr/>
        </p:nvSpPr>
        <p:spPr>
          <a:xfrm>
            <a:off x="457200" y="6601968"/>
            <a:ext cx="8229600" cy="228600"/>
          </a:xfrm>
          <a:prstGeom prst="rect">
            <a:avLst/>
          </a:prstGeom>
          <a:noFill/>
          <a:ln/>
        </p:spPr>
        <p:txBody>
          <a:bodyPr wrap="square" rtlCol="0" anchor="ctr"/>
          <a:lstStyle/>
          <a:p>
            <a:pPr marL="0" indent="0">
              <a:buNone/>
            </a:pPr>
            <a:r>
              <a:rPr lang="en-US" sz="900" kern="0" spc="200" dirty="0">
                <a:solidFill>
                  <a:srgbClr val="6A665E"/>
                </a:solidFill>
                <a:latin typeface="Calibri" pitchFamily="34" charset="0"/>
                <a:ea typeface="Calibri" pitchFamily="34" charset="-122"/>
                <a:cs typeface="Calibri" pitchFamily="34" charset="-120"/>
              </a:rPr>
              <a:t>TARKOV  ·  CONTENT MARKETING CAMPAIGN  ·  JULIO HERNANDEZ</a:t>
            </a:r>
            <a:endParaRPr lang="en-US" sz="900" dirty="0"/>
          </a:p>
        </p:txBody>
      </p:sp>
      <p:sp>
        <p:nvSpPr>
          <p:cNvPr id="18" name="Text 15"/>
          <p:cNvSpPr/>
          <p:nvPr/>
        </p:nvSpPr>
        <p:spPr>
          <a:xfrm>
            <a:off x="10789920" y="6601968"/>
            <a:ext cx="914400" cy="228600"/>
          </a:xfrm>
          <a:prstGeom prst="rect">
            <a:avLst/>
          </a:prstGeom>
          <a:noFill/>
          <a:ln/>
        </p:spPr>
        <p:txBody>
          <a:bodyPr wrap="square" rtlCol="0" anchor="ctr"/>
          <a:lstStyle/>
          <a:p>
            <a:pPr marL="0" indent="0" algn="r">
              <a:buNone/>
            </a:pPr>
            <a:r>
              <a:rPr lang="en-US" sz="900" dirty="0">
                <a:solidFill>
                  <a:srgbClr val="6A665E"/>
                </a:solidFill>
                <a:latin typeface="Calibri" pitchFamily="34" charset="0"/>
                <a:ea typeface="Calibri" pitchFamily="34" charset="-122"/>
                <a:cs typeface="Calibri"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0F10"/>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274320"/>
          </a:xfrm>
          <a:prstGeom prst="rect">
            <a:avLst/>
          </a:prstGeom>
          <a:noFill/>
          <a:ln/>
        </p:spPr>
        <p:txBody>
          <a:bodyPr wrap="square" rtlCol="0" anchor="ctr"/>
          <a:lstStyle/>
          <a:p>
            <a:pPr marL="0" indent="0">
              <a:buNone/>
            </a:pPr>
            <a:r>
              <a:rPr lang="en-US" sz="1000" b="1" kern="0" spc="400" dirty="0">
                <a:solidFill>
                  <a:srgbClr val="C96A2B"/>
                </a:solidFill>
                <a:latin typeface="Calibri" pitchFamily="34" charset="0"/>
                <a:ea typeface="Calibri" pitchFamily="34" charset="-122"/>
                <a:cs typeface="Calibri" pitchFamily="34" charset="-120"/>
              </a:rPr>
              <a:t>05  ·  OWNED MEDIA</a:t>
            </a:r>
            <a:endParaRPr lang="en-US" sz="1000" dirty="0"/>
          </a:p>
        </p:txBody>
      </p:sp>
      <p:sp>
        <p:nvSpPr>
          <p:cNvPr id="3" name="Text 1"/>
          <p:cNvSpPr/>
          <p:nvPr/>
        </p:nvSpPr>
        <p:spPr>
          <a:xfrm>
            <a:off x="548640" y="804672"/>
            <a:ext cx="10972800" cy="685800"/>
          </a:xfrm>
          <a:prstGeom prst="rect">
            <a:avLst/>
          </a:prstGeom>
          <a:noFill/>
          <a:ln/>
        </p:spPr>
        <p:txBody>
          <a:bodyPr wrap="square" rtlCol="0" anchor="ctr"/>
          <a:lstStyle/>
          <a:p>
            <a:pPr marL="0" indent="0">
              <a:buNone/>
            </a:pPr>
            <a:r>
              <a:rPr lang="en-US" sz="3200" b="1" dirty="0">
                <a:solidFill>
                  <a:srgbClr val="E6E4DE"/>
                </a:solidFill>
                <a:latin typeface="Trebuchet MS" pitchFamily="34" charset="0"/>
                <a:ea typeface="Trebuchet MS" pitchFamily="34" charset="-122"/>
                <a:cs typeface="Trebuchet MS" pitchFamily="34" charset="-120"/>
              </a:rPr>
              <a:t>Tactics across Tarkov's permission-based channels</a:t>
            </a:r>
            <a:endParaRPr lang="en-US" sz="3200" dirty="0"/>
          </a:p>
        </p:txBody>
      </p:sp>
      <p:sp>
        <p:nvSpPr>
          <p:cNvPr id="4" name="Shape 2"/>
          <p:cNvSpPr/>
          <p:nvPr/>
        </p:nvSpPr>
        <p:spPr>
          <a:xfrm>
            <a:off x="548640" y="1536192"/>
            <a:ext cx="1005840" cy="54864"/>
          </a:xfrm>
          <a:prstGeom prst="rect">
            <a:avLst/>
          </a:prstGeom>
          <a:solidFill>
            <a:srgbClr val="4F98A3"/>
          </a:solidFill>
          <a:ln/>
        </p:spPr>
        <p:txBody>
          <a:bodyPr/>
          <a:lstStyle/>
          <a:p>
            <a:endParaRPr lang="en-US"/>
          </a:p>
        </p:txBody>
      </p:sp>
      <p:sp>
        <p:nvSpPr>
          <p:cNvPr id="5" name="Shape 3"/>
          <p:cNvSpPr/>
          <p:nvPr/>
        </p:nvSpPr>
        <p:spPr>
          <a:xfrm>
            <a:off x="548640" y="1965960"/>
            <a:ext cx="5486400" cy="2011680"/>
          </a:xfrm>
          <a:prstGeom prst="rect">
            <a:avLst/>
          </a:prstGeom>
          <a:solidFill>
            <a:srgbClr val="16181A"/>
          </a:solidFill>
          <a:ln w="9525">
            <a:solidFill>
              <a:srgbClr val="2E3236"/>
            </a:solidFill>
            <a:prstDash val="solid"/>
          </a:ln>
        </p:spPr>
        <p:txBody>
          <a:bodyPr/>
          <a:lstStyle/>
          <a:p>
            <a:endParaRPr lang="en-US"/>
          </a:p>
        </p:txBody>
      </p:sp>
      <p:sp>
        <p:nvSpPr>
          <p:cNvPr id="6" name="Text 4"/>
          <p:cNvSpPr/>
          <p:nvPr/>
        </p:nvSpPr>
        <p:spPr>
          <a:xfrm>
            <a:off x="822960" y="2148840"/>
            <a:ext cx="4937760" cy="457200"/>
          </a:xfrm>
          <a:prstGeom prst="rect">
            <a:avLst/>
          </a:prstGeom>
          <a:noFill/>
          <a:ln/>
        </p:spPr>
        <p:txBody>
          <a:bodyPr wrap="square" rtlCol="0" anchor="ctr"/>
          <a:lstStyle/>
          <a:p>
            <a:pPr marL="0" indent="0">
              <a:buNone/>
            </a:pPr>
            <a:r>
              <a:rPr lang="en-US" sz="1600" b="1" dirty="0">
                <a:solidFill>
                  <a:srgbClr val="E6E4DE"/>
                </a:solidFill>
                <a:latin typeface="Trebuchet MS" pitchFamily="34" charset="0"/>
                <a:ea typeface="Trebuchet MS" pitchFamily="34" charset="-122"/>
                <a:cs typeface="Trebuchet MS" pitchFamily="34" charset="-120"/>
              </a:rPr>
              <a:t>Official website hub</a:t>
            </a:r>
            <a:endParaRPr lang="en-US" sz="1600" dirty="0"/>
          </a:p>
        </p:txBody>
      </p:sp>
      <p:sp>
        <p:nvSpPr>
          <p:cNvPr id="7" name="Shape 5"/>
          <p:cNvSpPr/>
          <p:nvPr/>
        </p:nvSpPr>
        <p:spPr>
          <a:xfrm>
            <a:off x="822960" y="2697480"/>
            <a:ext cx="365760" cy="0"/>
          </a:xfrm>
          <a:prstGeom prst="line">
            <a:avLst/>
          </a:prstGeom>
          <a:noFill/>
          <a:ln w="19050">
            <a:solidFill>
              <a:srgbClr val="4F98A3"/>
            </a:solidFill>
            <a:prstDash val="solid"/>
          </a:ln>
        </p:spPr>
        <p:txBody>
          <a:bodyPr/>
          <a:lstStyle/>
          <a:p>
            <a:endParaRPr lang="en-US"/>
          </a:p>
        </p:txBody>
      </p:sp>
      <p:sp>
        <p:nvSpPr>
          <p:cNvPr id="8" name="Text 6"/>
          <p:cNvSpPr/>
          <p:nvPr/>
        </p:nvSpPr>
        <p:spPr>
          <a:xfrm>
            <a:off x="822960" y="2834640"/>
            <a:ext cx="4937760" cy="1097280"/>
          </a:xfrm>
          <a:prstGeom prst="rect">
            <a:avLst/>
          </a:prstGeom>
          <a:noFill/>
          <a:ln/>
        </p:spPr>
        <p:txBody>
          <a:bodyPr wrap="square" rtlCol="0" anchor="ctr"/>
          <a:lstStyle/>
          <a:p>
            <a:pPr marL="0" indent="0">
              <a:lnSpc>
                <a:spcPct val="135000"/>
              </a:lnSpc>
              <a:buNone/>
            </a:pPr>
            <a:r>
              <a:rPr lang="en-US" sz="1150" dirty="0">
                <a:solidFill>
                  <a:srgbClr val="9A958A"/>
                </a:solidFill>
                <a:latin typeface="Calibri" pitchFamily="34" charset="0"/>
                <a:ea typeface="Calibri" pitchFamily="34" charset="-122"/>
                <a:cs typeface="Calibri" pitchFamily="34" charset="-120"/>
              </a:rPr>
              <a:t>Dedicated landing pages for each wipe and new map, with detailed patch notes, 'New to Tarkov' guides, and CTAs to purchase, upgrade editions, or join the Discord and newsletter.</a:t>
            </a:r>
            <a:endParaRPr lang="en-US" sz="1150" dirty="0"/>
          </a:p>
        </p:txBody>
      </p:sp>
      <p:sp>
        <p:nvSpPr>
          <p:cNvPr id="9" name="Shape 7"/>
          <p:cNvSpPr/>
          <p:nvPr/>
        </p:nvSpPr>
        <p:spPr>
          <a:xfrm>
            <a:off x="6263640" y="1965960"/>
            <a:ext cx="5486400" cy="2011680"/>
          </a:xfrm>
          <a:prstGeom prst="rect">
            <a:avLst/>
          </a:prstGeom>
          <a:solidFill>
            <a:srgbClr val="16181A"/>
          </a:solidFill>
          <a:ln w="9525">
            <a:solidFill>
              <a:srgbClr val="2E3236"/>
            </a:solidFill>
            <a:prstDash val="solid"/>
          </a:ln>
        </p:spPr>
        <p:txBody>
          <a:bodyPr/>
          <a:lstStyle/>
          <a:p>
            <a:endParaRPr lang="en-US"/>
          </a:p>
        </p:txBody>
      </p:sp>
      <p:sp>
        <p:nvSpPr>
          <p:cNvPr id="10" name="Text 8"/>
          <p:cNvSpPr/>
          <p:nvPr/>
        </p:nvSpPr>
        <p:spPr>
          <a:xfrm>
            <a:off x="6537960" y="2148840"/>
            <a:ext cx="4937760" cy="457200"/>
          </a:xfrm>
          <a:prstGeom prst="rect">
            <a:avLst/>
          </a:prstGeom>
          <a:noFill/>
          <a:ln/>
        </p:spPr>
        <p:txBody>
          <a:bodyPr wrap="square" rtlCol="0" anchor="ctr"/>
          <a:lstStyle/>
          <a:p>
            <a:pPr marL="0" indent="0">
              <a:buNone/>
            </a:pPr>
            <a:r>
              <a:rPr lang="en-US" sz="1600" b="1" dirty="0">
                <a:solidFill>
                  <a:srgbClr val="E6E4DE"/>
                </a:solidFill>
                <a:latin typeface="Trebuchet MS" pitchFamily="34" charset="0"/>
                <a:ea typeface="Trebuchet MS" pitchFamily="34" charset="-122"/>
                <a:cs typeface="Trebuchet MS" pitchFamily="34" charset="-120"/>
              </a:rPr>
              <a:t>Segmented email program</a:t>
            </a:r>
            <a:endParaRPr lang="en-US" sz="1600" dirty="0"/>
          </a:p>
        </p:txBody>
      </p:sp>
      <p:sp>
        <p:nvSpPr>
          <p:cNvPr id="11" name="Shape 9"/>
          <p:cNvSpPr/>
          <p:nvPr/>
        </p:nvSpPr>
        <p:spPr>
          <a:xfrm>
            <a:off x="6537960" y="2697480"/>
            <a:ext cx="365760" cy="0"/>
          </a:xfrm>
          <a:prstGeom prst="line">
            <a:avLst/>
          </a:prstGeom>
          <a:noFill/>
          <a:ln w="19050">
            <a:solidFill>
              <a:srgbClr val="4F98A3"/>
            </a:solidFill>
            <a:prstDash val="solid"/>
          </a:ln>
        </p:spPr>
        <p:txBody>
          <a:bodyPr/>
          <a:lstStyle/>
          <a:p>
            <a:endParaRPr lang="en-US"/>
          </a:p>
        </p:txBody>
      </p:sp>
      <p:sp>
        <p:nvSpPr>
          <p:cNvPr id="12" name="Text 10"/>
          <p:cNvSpPr/>
          <p:nvPr/>
        </p:nvSpPr>
        <p:spPr>
          <a:xfrm>
            <a:off x="6537960" y="2834640"/>
            <a:ext cx="4937760" cy="1097280"/>
          </a:xfrm>
          <a:prstGeom prst="rect">
            <a:avLst/>
          </a:prstGeom>
          <a:noFill/>
          <a:ln/>
        </p:spPr>
        <p:txBody>
          <a:bodyPr wrap="square" rtlCol="0" anchor="ctr"/>
          <a:lstStyle/>
          <a:p>
            <a:pPr marL="0" indent="0">
              <a:lnSpc>
                <a:spcPct val="135000"/>
              </a:lnSpc>
              <a:buNone/>
            </a:pPr>
            <a:r>
              <a:rPr lang="en-US" sz="1150" dirty="0">
                <a:solidFill>
                  <a:srgbClr val="9A958A"/>
                </a:solidFill>
                <a:latin typeface="Calibri" pitchFamily="34" charset="0"/>
                <a:ea typeface="Calibri" pitchFamily="34" charset="-122"/>
                <a:cs typeface="Calibri" pitchFamily="34" charset="-120"/>
              </a:rPr>
              <a:t>Three streams — current players, lapsed players, and prospects — featuring wipe countdowns, mechanical change summaries, and curated creator roundups such as 'Top five wipe prep guides.'</a:t>
            </a:r>
            <a:endParaRPr lang="en-US" sz="1150" dirty="0"/>
          </a:p>
        </p:txBody>
      </p:sp>
      <p:sp>
        <p:nvSpPr>
          <p:cNvPr id="13" name="Shape 11"/>
          <p:cNvSpPr/>
          <p:nvPr/>
        </p:nvSpPr>
        <p:spPr>
          <a:xfrm>
            <a:off x="548640" y="4206240"/>
            <a:ext cx="5486400" cy="2011680"/>
          </a:xfrm>
          <a:prstGeom prst="rect">
            <a:avLst/>
          </a:prstGeom>
          <a:solidFill>
            <a:srgbClr val="16181A"/>
          </a:solidFill>
          <a:ln w="9525">
            <a:solidFill>
              <a:srgbClr val="2E3236"/>
            </a:solidFill>
            <a:prstDash val="solid"/>
          </a:ln>
        </p:spPr>
        <p:txBody>
          <a:bodyPr/>
          <a:lstStyle/>
          <a:p>
            <a:endParaRPr lang="en-US"/>
          </a:p>
        </p:txBody>
      </p:sp>
      <p:sp>
        <p:nvSpPr>
          <p:cNvPr id="14" name="Text 12"/>
          <p:cNvSpPr/>
          <p:nvPr/>
        </p:nvSpPr>
        <p:spPr>
          <a:xfrm>
            <a:off x="822960" y="4389120"/>
            <a:ext cx="4937760" cy="457200"/>
          </a:xfrm>
          <a:prstGeom prst="rect">
            <a:avLst/>
          </a:prstGeom>
          <a:noFill/>
          <a:ln/>
        </p:spPr>
        <p:txBody>
          <a:bodyPr wrap="square" rtlCol="0" anchor="ctr"/>
          <a:lstStyle/>
          <a:p>
            <a:pPr marL="0" indent="0">
              <a:buNone/>
            </a:pPr>
            <a:r>
              <a:rPr lang="en-US" sz="1600" b="1" dirty="0">
                <a:solidFill>
                  <a:srgbClr val="E6E4DE"/>
                </a:solidFill>
                <a:latin typeface="Trebuchet MS" pitchFamily="34" charset="0"/>
                <a:ea typeface="Trebuchet MS" pitchFamily="34" charset="-122"/>
                <a:cs typeface="Trebuchet MS" pitchFamily="34" charset="-120"/>
              </a:rPr>
              <a:t>Platform-native social</a:t>
            </a:r>
            <a:endParaRPr lang="en-US" sz="1600" dirty="0"/>
          </a:p>
        </p:txBody>
      </p:sp>
      <p:sp>
        <p:nvSpPr>
          <p:cNvPr id="15" name="Shape 13"/>
          <p:cNvSpPr/>
          <p:nvPr/>
        </p:nvSpPr>
        <p:spPr>
          <a:xfrm>
            <a:off x="822960" y="4937760"/>
            <a:ext cx="365760" cy="0"/>
          </a:xfrm>
          <a:prstGeom prst="line">
            <a:avLst/>
          </a:prstGeom>
          <a:noFill/>
          <a:ln w="19050">
            <a:solidFill>
              <a:srgbClr val="4F98A3"/>
            </a:solidFill>
            <a:prstDash val="solid"/>
          </a:ln>
        </p:spPr>
        <p:txBody>
          <a:bodyPr/>
          <a:lstStyle/>
          <a:p>
            <a:endParaRPr lang="en-US"/>
          </a:p>
        </p:txBody>
      </p:sp>
      <p:sp>
        <p:nvSpPr>
          <p:cNvPr id="16" name="Text 14"/>
          <p:cNvSpPr/>
          <p:nvPr/>
        </p:nvSpPr>
        <p:spPr>
          <a:xfrm>
            <a:off x="822960" y="5074920"/>
            <a:ext cx="4937760" cy="1097280"/>
          </a:xfrm>
          <a:prstGeom prst="rect">
            <a:avLst/>
          </a:prstGeom>
          <a:noFill/>
          <a:ln/>
        </p:spPr>
        <p:txBody>
          <a:bodyPr wrap="square" rtlCol="0" anchor="ctr"/>
          <a:lstStyle/>
          <a:p>
            <a:pPr marL="0" indent="0">
              <a:lnSpc>
                <a:spcPct val="135000"/>
              </a:lnSpc>
              <a:buNone/>
            </a:pPr>
            <a:r>
              <a:rPr lang="en-US" sz="1150" dirty="0">
                <a:solidFill>
                  <a:srgbClr val="9A958A"/>
                </a:solidFill>
                <a:latin typeface="Calibri" pitchFamily="34" charset="0"/>
                <a:ea typeface="Calibri" pitchFamily="34" charset="-122"/>
                <a:cs typeface="Calibri" pitchFamily="34" charset="-120"/>
              </a:rPr>
              <a:t>Vertical clips on TikTok and Instagram Reels, long-form breakdowns and dev diaries on YouTube, rapid updates and memes on X, and carousels that tease the content hub.</a:t>
            </a:r>
            <a:endParaRPr lang="en-US" sz="1150" dirty="0"/>
          </a:p>
        </p:txBody>
      </p:sp>
      <p:sp>
        <p:nvSpPr>
          <p:cNvPr id="17" name="Shape 15"/>
          <p:cNvSpPr/>
          <p:nvPr/>
        </p:nvSpPr>
        <p:spPr>
          <a:xfrm>
            <a:off x="6263640" y="4206240"/>
            <a:ext cx="5486400" cy="2011680"/>
          </a:xfrm>
          <a:prstGeom prst="rect">
            <a:avLst/>
          </a:prstGeom>
          <a:solidFill>
            <a:srgbClr val="16181A"/>
          </a:solidFill>
          <a:ln w="9525">
            <a:solidFill>
              <a:srgbClr val="2E3236"/>
            </a:solidFill>
            <a:prstDash val="solid"/>
          </a:ln>
        </p:spPr>
        <p:txBody>
          <a:bodyPr/>
          <a:lstStyle/>
          <a:p>
            <a:endParaRPr lang="en-US"/>
          </a:p>
        </p:txBody>
      </p:sp>
      <p:sp>
        <p:nvSpPr>
          <p:cNvPr id="18" name="Text 16"/>
          <p:cNvSpPr/>
          <p:nvPr/>
        </p:nvSpPr>
        <p:spPr>
          <a:xfrm>
            <a:off x="6537960" y="4389120"/>
            <a:ext cx="4937760" cy="457200"/>
          </a:xfrm>
          <a:prstGeom prst="rect">
            <a:avLst/>
          </a:prstGeom>
          <a:noFill/>
          <a:ln/>
        </p:spPr>
        <p:txBody>
          <a:bodyPr wrap="square" rtlCol="0" anchor="ctr"/>
          <a:lstStyle/>
          <a:p>
            <a:pPr marL="0" indent="0">
              <a:buNone/>
            </a:pPr>
            <a:r>
              <a:rPr lang="en-US" sz="1600" b="1" dirty="0">
                <a:solidFill>
                  <a:srgbClr val="E6E4DE"/>
                </a:solidFill>
                <a:latin typeface="Trebuchet MS" pitchFamily="34" charset="0"/>
                <a:ea typeface="Trebuchet MS" pitchFamily="34" charset="-122"/>
                <a:cs typeface="Trebuchet MS" pitchFamily="34" charset="-120"/>
              </a:rPr>
              <a:t>Dev streams on Twitch &amp; YouTube</a:t>
            </a:r>
            <a:endParaRPr lang="en-US" sz="1600" dirty="0"/>
          </a:p>
        </p:txBody>
      </p:sp>
      <p:sp>
        <p:nvSpPr>
          <p:cNvPr id="19" name="Shape 17"/>
          <p:cNvSpPr/>
          <p:nvPr/>
        </p:nvSpPr>
        <p:spPr>
          <a:xfrm>
            <a:off x="6537960" y="4937760"/>
            <a:ext cx="365760" cy="0"/>
          </a:xfrm>
          <a:prstGeom prst="line">
            <a:avLst/>
          </a:prstGeom>
          <a:noFill/>
          <a:ln w="19050">
            <a:solidFill>
              <a:srgbClr val="4F98A3"/>
            </a:solidFill>
            <a:prstDash val="solid"/>
          </a:ln>
        </p:spPr>
        <p:txBody>
          <a:bodyPr/>
          <a:lstStyle/>
          <a:p>
            <a:endParaRPr lang="en-US"/>
          </a:p>
        </p:txBody>
      </p:sp>
      <p:sp>
        <p:nvSpPr>
          <p:cNvPr id="20" name="Text 18"/>
          <p:cNvSpPr/>
          <p:nvPr/>
        </p:nvSpPr>
        <p:spPr>
          <a:xfrm>
            <a:off x="6537960" y="5074920"/>
            <a:ext cx="4937760" cy="1097280"/>
          </a:xfrm>
          <a:prstGeom prst="rect">
            <a:avLst/>
          </a:prstGeom>
          <a:noFill/>
          <a:ln/>
        </p:spPr>
        <p:txBody>
          <a:bodyPr wrap="square" rtlCol="0" anchor="ctr"/>
          <a:lstStyle/>
          <a:p>
            <a:pPr marL="0" indent="0">
              <a:lnSpc>
                <a:spcPct val="135000"/>
              </a:lnSpc>
              <a:buNone/>
            </a:pPr>
            <a:r>
              <a:rPr lang="en-US" sz="1150" dirty="0">
                <a:solidFill>
                  <a:srgbClr val="9A958A"/>
                </a:solidFill>
                <a:latin typeface="Calibri" pitchFamily="34" charset="0"/>
                <a:ea typeface="Calibri" pitchFamily="34" charset="-122"/>
                <a:cs typeface="Calibri" pitchFamily="34" charset="-120"/>
              </a:rPr>
              <a:t>Scheduled developer streams, patch previews, and post-wipe Q&amp;A sessions — then archived and chaptered on YouTube so players can rewatch and share specific segments.</a:t>
            </a:r>
            <a:endParaRPr lang="en-US" sz="1150" dirty="0"/>
          </a:p>
        </p:txBody>
      </p:sp>
      <p:sp>
        <p:nvSpPr>
          <p:cNvPr id="21" name="Shape 19"/>
          <p:cNvSpPr/>
          <p:nvPr/>
        </p:nvSpPr>
        <p:spPr>
          <a:xfrm>
            <a:off x="457200" y="6565392"/>
            <a:ext cx="11277295" cy="0"/>
          </a:xfrm>
          <a:prstGeom prst="line">
            <a:avLst/>
          </a:prstGeom>
          <a:noFill/>
          <a:ln w="9525">
            <a:solidFill>
              <a:srgbClr val="3A3E42"/>
            </a:solidFill>
            <a:prstDash val="solid"/>
          </a:ln>
        </p:spPr>
        <p:txBody>
          <a:bodyPr/>
          <a:lstStyle/>
          <a:p>
            <a:endParaRPr lang="en-US"/>
          </a:p>
        </p:txBody>
      </p:sp>
      <p:sp>
        <p:nvSpPr>
          <p:cNvPr id="22" name="Text 20"/>
          <p:cNvSpPr/>
          <p:nvPr/>
        </p:nvSpPr>
        <p:spPr>
          <a:xfrm>
            <a:off x="457200" y="6601968"/>
            <a:ext cx="8229600" cy="228600"/>
          </a:xfrm>
          <a:prstGeom prst="rect">
            <a:avLst/>
          </a:prstGeom>
          <a:noFill/>
          <a:ln/>
        </p:spPr>
        <p:txBody>
          <a:bodyPr wrap="square" rtlCol="0" anchor="ctr"/>
          <a:lstStyle/>
          <a:p>
            <a:pPr marL="0" indent="0">
              <a:buNone/>
            </a:pPr>
            <a:r>
              <a:rPr lang="en-US" sz="900" kern="0" spc="200" dirty="0">
                <a:solidFill>
                  <a:srgbClr val="6A665E"/>
                </a:solidFill>
                <a:latin typeface="Calibri" pitchFamily="34" charset="0"/>
                <a:ea typeface="Calibri" pitchFamily="34" charset="-122"/>
                <a:cs typeface="Calibri" pitchFamily="34" charset="-120"/>
              </a:rPr>
              <a:t>TARKOV  ·  CONTENT MARKETING CAMPAIGN  ·  JULIO HERNANDEZ</a:t>
            </a:r>
            <a:endParaRPr lang="en-US" sz="900" dirty="0"/>
          </a:p>
        </p:txBody>
      </p:sp>
      <p:sp>
        <p:nvSpPr>
          <p:cNvPr id="23" name="Text 21"/>
          <p:cNvSpPr/>
          <p:nvPr/>
        </p:nvSpPr>
        <p:spPr>
          <a:xfrm>
            <a:off x="10789920" y="6601968"/>
            <a:ext cx="914400" cy="228600"/>
          </a:xfrm>
          <a:prstGeom prst="rect">
            <a:avLst/>
          </a:prstGeom>
          <a:noFill/>
          <a:ln/>
        </p:spPr>
        <p:txBody>
          <a:bodyPr wrap="square" rtlCol="0" anchor="ctr"/>
          <a:lstStyle/>
          <a:p>
            <a:pPr marL="0" indent="0" algn="r">
              <a:buNone/>
            </a:pPr>
            <a:r>
              <a:rPr lang="en-US" sz="900" dirty="0">
                <a:solidFill>
                  <a:srgbClr val="6A665E"/>
                </a:solidFill>
                <a:latin typeface="Calibri" pitchFamily="34" charset="0"/>
                <a:ea typeface="Calibri" pitchFamily="34" charset="-122"/>
                <a:cs typeface="Calibri"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F10"/>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274320"/>
          </a:xfrm>
          <a:prstGeom prst="rect">
            <a:avLst/>
          </a:prstGeom>
          <a:noFill/>
          <a:ln/>
        </p:spPr>
        <p:txBody>
          <a:bodyPr wrap="square" rtlCol="0" anchor="ctr"/>
          <a:lstStyle/>
          <a:p>
            <a:pPr marL="0" indent="0">
              <a:buNone/>
            </a:pPr>
            <a:r>
              <a:rPr lang="en-US" sz="1000" b="1" kern="0" spc="400" dirty="0">
                <a:solidFill>
                  <a:srgbClr val="C96A2B"/>
                </a:solidFill>
                <a:latin typeface="Calibri" pitchFamily="34" charset="0"/>
                <a:ea typeface="Calibri" pitchFamily="34" charset="-122"/>
                <a:cs typeface="Calibri" pitchFamily="34" charset="-120"/>
              </a:rPr>
              <a:t>05  ·  OWNED MEDIA</a:t>
            </a:r>
            <a:endParaRPr lang="en-US" sz="1000" dirty="0"/>
          </a:p>
        </p:txBody>
      </p:sp>
      <p:sp>
        <p:nvSpPr>
          <p:cNvPr id="3" name="Text 1"/>
          <p:cNvSpPr/>
          <p:nvPr/>
        </p:nvSpPr>
        <p:spPr>
          <a:xfrm>
            <a:off x="548640" y="804672"/>
            <a:ext cx="10972800" cy="685800"/>
          </a:xfrm>
          <a:prstGeom prst="rect">
            <a:avLst/>
          </a:prstGeom>
          <a:noFill/>
          <a:ln/>
        </p:spPr>
        <p:txBody>
          <a:bodyPr wrap="square" rtlCol="0" anchor="ctr"/>
          <a:lstStyle/>
          <a:p>
            <a:pPr marL="0" indent="0">
              <a:buNone/>
            </a:pPr>
            <a:r>
              <a:rPr lang="en-US" sz="3200" b="1" dirty="0">
                <a:solidFill>
                  <a:srgbClr val="E6E4DE"/>
                </a:solidFill>
                <a:latin typeface="Trebuchet MS" pitchFamily="34" charset="0"/>
                <a:ea typeface="Trebuchet MS" pitchFamily="34" charset="-122"/>
                <a:cs typeface="Trebuchet MS" pitchFamily="34" charset="-120"/>
              </a:rPr>
              <a:t>Measurement tools and success metrics</a:t>
            </a:r>
            <a:endParaRPr lang="en-US" sz="3200" dirty="0"/>
          </a:p>
        </p:txBody>
      </p:sp>
      <p:sp>
        <p:nvSpPr>
          <p:cNvPr id="4" name="Shape 2"/>
          <p:cNvSpPr/>
          <p:nvPr/>
        </p:nvSpPr>
        <p:spPr>
          <a:xfrm>
            <a:off x="548640" y="1536192"/>
            <a:ext cx="1005840" cy="54864"/>
          </a:xfrm>
          <a:prstGeom prst="rect">
            <a:avLst/>
          </a:prstGeom>
          <a:solidFill>
            <a:srgbClr val="4F98A3"/>
          </a:solidFill>
          <a:ln/>
        </p:spPr>
        <p:txBody>
          <a:bodyPr/>
          <a:lstStyle/>
          <a:p>
            <a:endParaRPr lang="en-US"/>
          </a:p>
        </p:txBody>
      </p:sp>
      <p:sp>
        <p:nvSpPr>
          <p:cNvPr id="5" name="Shape 3"/>
          <p:cNvSpPr/>
          <p:nvPr/>
        </p:nvSpPr>
        <p:spPr>
          <a:xfrm>
            <a:off x="548640" y="1965960"/>
            <a:ext cx="11201400" cy="457200"/>
          </a:xfrm>
          <a:prstGeom prst="rect">
            <a:avLst/>
          </a:prstGeom>
          <a:solidFill>
            <a:srgbClr val="1D2023"/>
          </a:solidFill>
          <a:ln w="9525">
            <a:solidFill>
              <a:srgbClr val="2E3236"/>
            </a:solidFill>
            <a:prstDash val="solid"/>
          </a:ln>
        </p:spPr>
        <p:txBody>
          <a:bodyPr/>
          <a:lstStyle/>
          <a:p>
            <a:endParaRPr lang="en-US"/>
          </a:p>
        </p:txBody>
      </p:sp>
      <p:sp>
        <p:nvSpPr>
          <p:cNvPr id="6" name="Text 4"/>
          <p:cNvSpPr/>
          <p:nvPr/>
        </p:nvSpPr>
        <p:spPr>
          <a:xfrm>
            <a:off x="777240" y="1965960"/>
            <a:ext cx="2651760" cy="457200"/>
          </a:xfrm>
          <a:prstGeom prst="rect">
            <a:avLst/>
          </a:prstGeom>
          <a:noFill/>
          <a:ln/>
        </p:spPr>
        <p:txBody>
          <a:bodyPr wrap="square" rtlCol="0" anchor="ctr"/>
          <a:lstStyle/>
          <a:p>
            <a:pPr marL="0" indent="0">
              <a:buNone/>
            </a:pPr>
            <a:r>
              <a:rPr lang="en-US" sz="1000" b="1" kern="0" spc="200" dirty="0">
                <a:solidFill>
                  <a:srgbClr val="C96A2B"/>
                </a:solidFill>
                <a:latin typeface="Calibri" pitchFamily="34" charset="0"/>
                <a:ea typeface="Calibri" pitchFamily="34" charset="-122"/>
                <a:cs typeface="Calibri" pitchFamily="34" charset="-120"/>
              </a:rPr>
              <a:t>TOOL</a:t>
            </a:r>
            <a:endParaRPr lang="en-US" sz="1000" dirty="0"/>
          </a:p>
        </p:txBody>
      </p:sp>
      <p:sp>
        <p:nvSpPr>
          <p:cNvPr id="7" name="Text 5"/>
          <p:cNvSpPr/>
          <p:nvPr/>
        </p:nvSpPr>
        <p:spPr>
          <a:xfrm>
            <a:off x="3703320" y="1965960"/>
            <a:ext cx="3200400" cy="457200"/>
          </a:xfrm>
          <a:prstGeom prst="rect">
            <a:avLst/>
          </a:prstGeom>
          <a:noFill/>
          <a:ln/>
        </p:spPr>
        <p:txBody>
          <a:bodyPr wrap="square" rtlCol="0" anchor="ctr"/>
          <a:lstStyle/>
          <a:p>
            <a:pPr marL="0" indent="0">
              <a:buNone/>
            </a:pPr>
            <a:r>
              <a:rPr lang="en-US" sz="1000" b="1" kern="0" spc="200" dirty="0">
                <a:solidFill>
                  <a:srgbClr val="C96A2B"/>
                </a:solidFill>
                <a:latin typeface="Calibri" pitchFamily="34" charset="0"/>
                <a:ea typeface="Calibri" pitchFamily="34" charset="-122"/>
                <a:cs typeface="Calibri" pitchFamily="34" charset="-120"/>
              </a:rPr>
              <a:t>CHANNEL</a:t>
            </a:r>
            <a:endParaRPr lang="en-US" sz="1000" dirty="0"/>
          </a:p>
        </p:txBody>
      </p:sp>
      <p:sp>
        <p:nvSpPr>
          <p:cNvPr id="8" name="Text 6"/>
          <p:cNvSpPr/>
          <p:nvPr/>
        </p:nvSpPr>
        <p:spPr>
          <a:xfrm>
            <a:off x="7178040" y="1965960"/>
            <a:ext cx="4526280" cy="457200"/>
          </a:xfrm>
          <a:prstGeom prst="rect">
            <a:avLst/>
          </a:prstGeom>
          <a:noFill/>
          <a:ln/>
        </p:spPr>
        <p:txBody>
          <a:bodyPr wrap="square" rtlCol="0" anchor="ctr"/>
          <a:lstStyle/>
          <a:p>
            <a:pPr marL="0" indent="0">
              <a:buNone/>
            </a:pPr>
            <a:r>
              <a:rPr lang="en-US" sz="1000" b="1" kern="0" spc="200" dirty="0">
                <a:solidFill>
                  <a:srgbClr val="C96A2B"/>
                </a:solidFill>
                <a:latin typeface="Calibri" pitchFamily="34" charset="0"/>
                <a:ea typeface="Calibri" pitchFamily="34" charset="-122"/>
                <a:cs typeface="Calibri" pitchFamily="34" charset="-120"/>
              </a:rPr>
              <a:t>KEY METRICS</a:t>
            </a:r>
            <a:endParaRPr lang="en-US" sz="1000" dirty="0"/>
          </a:p>
        </p:txBody>
      </p:sp>
      <p:sp>
        <p:nvSpPr>
          <p:cNvPr id="9" name="Shape 7"/>
          <p:cNvSpPr/>
          <p:nvPr/>
        </p:nvSpPr>
        <p:spPr>
          <a:xfrm>
            <a:off x="548640" y="2423160"/>
            <a:ext cx="11201400" cy="566928"/>
          </a:xfrm>
          <a:prstGeom prst="rect">
            <a:avLst/>
          </a:prstGeom>
          <a:solidFill>
            <a:srgbClr val="16181A"/>
          </a:solidFill>
          <a:ln w="6350">
            <a:solidFill>
              <a:srgbClr val="2E3236"/>
            </a:solidFill>
            <a:prstDash val="solid"/>
          </a:ln>
        </p:spPr>
        <p:txBody>
          <a:bodyPr/>
          <a:lstStyle/>
          <a:p>
            <a:endParaRPr lang="en-US"/>
          </a:p>
        </p:txBody>
      </p:sp>
      <p:sp>
        <p:nvSpPr>
          <p:cNvPr id="10" name="Text 8"/>
          <p:cNvSpPr/>
          <p:nvPr/>
        </p:nvSpPr>
        <p:spPr>
          <a:xfrm>
            <a:off x="777240" y="2423160"/>
            <a:ext cx="2651760" cy="566928"/>
          </a:xfrm>
          <a:prstGeom prst="rect">
            <a:avLst/>
          </a:prstGeom>
          <a:noFill/>
          <a:ln/>
        </p:spPr>
        <p:txBody>
          <a:bodyPr wrap="square" rtlCol="0" anchor="ctr"/>
          <a:lstStyle/>
          <a:p>
            <a:pPr marL="0" indent="0">
              <a:buNone/>
            </a:pPr>
            <a:r>
              <a:rPr lang="en-US" sz="1200" b="1" dirty="0">
                <a:solidFill>
                  <a:srgbClr val="E6E4DE"/>
                </a:solidFill>
                <a:latin typeface="Calibri" pitchFamily="34" charset="0"/>
                <a:ea typeface="Calibri" pitchFamily="34" charset="-122"/>
                <a:cs typeface="Calibri" pitchFamily="34" charset="-120"/>
              </a:rPr>
              <a:t>Google Analytics 4</a:t>
            </a:r>
            <a:endParaRPr lang="en-US" sz="1200" dirty="0"/>
          </a:p>
        </p:txBody>
      </p:sp>
      <p:sp>
        <p:nvSpPr>
          <p:cNvPr id="11" name="Text 9"/>
          <p:cNvSpPr/>
          <p:nvPr/>
        </p:nvSpPr>
        <p:spPr>
          <a:xfrm>
            <a:off x="3703320" y="2423160"/>
            <a:ext cx="3200400" cy="566928"/>
          </a:xfrm>
          <a:prstGeom prst="rect">
            <a:avLst/>
          </a:prstGeom>
          <a:noFill/>
          <a:ln/>
        </p:spPr>
        <p:txBody>
          <a:bodyPr wrap="square" rtlCol="0" anchor="ctr"/>
          <a:lstStyle/>
          <a:p>
            <a:pPr marL="0" indent="0">
              <a:buNone/>
            </a:pPr>
            <a:r>
              <a:rPr lang="en-US" sz="1100" dirty="0">
                <a:solidFill>
                  <a:srgbClr val="9A958A"/>
                </a:solidFill>
                <a:latin typeface="Calibri" pitchFamily="34" charset="0"/>
                <a:ea typeface="Calibri" pitchFamily="34" charset="-122"/>
                <a:cs typeface="Calibri" pitchFamily="34" charset="-120"/>
              </a:rPr>
              <a:t>Website &amp; landing pages</a:t>
            </a:r>
            <a:endParaRPr lang="en-US" sz="1100" dirty="0"/>
          </a:p>
        </p:txBody>
      </p:sp>
      <p:sp>
        <p:nvSpPr>
          <p:cNvPr id="12" name="Text 10"/>
          <p:cNvSpPr/>
          <p:nvPr/>
        </p:nvSpPr>
        <p:spPr>
          <a:xfrm>
            <a:off x="7178040" y="2423160"/>
            <a:ext cx="4526280" cy="566928"/>
          </a:xfrm>
          <a:prstGeom prst="rect">
            <a:avLst/>
          </a:prstGeom>
          <a:noFill/>
          <a:ln/>
        </p:spPr>
        <p:txBody>
          <a:bodyPr wrap="square" rtlCol="0" anchor="ctr"/>
          <a:lstStyle/>
          <a:p>
            <a:pPr marL="0" indent="0">
              <a:buNone/>
            </a:pPr>
            <a:r>
              <a:rPr lang="en-US" sz="1050" dirty="0">
                <a:solidFill>
                  <a:srgbClr val="E6E4DE"/>
                </a:solidFill>
                <a:latin typeface="Calibri" pitchFamily="34" charset="0"/>
                <a:ea typeface="Calibri" pitchFamily="34" charset="-122"/>
                <a:cs typeface="Calibri" pitchFamily="34" charset="-120"/>
              </a:rPr>
              <a:t>Sessions, wipe-hub pageviews, scroll depth, edition-upgrade conversions</a:t>
            </a:r>
            <a:endParaRPr lang="en-US" sz="1050" dirty="0"/>
          </a:p>
        </p:txBody>
      </p:sp>
      <p:sp>
        <p:nvSpPr>
          <p:cNvPr id="13" name="Shape 11"/>
          <p:cNvSpPr/>
          <p:nvPr/>
        </p:nvSpPr>
        <p:spPr>
          <a:xfrm>
            <a:off x="548640" y="2990088"/>
            <a:ext cx="11201400" cy="566928"/>
          </a:xfrm>
          <a:prstGeom prst="rect">
            <a:avLst/>
          </a:prstGeom>
          <a:solidFill>
            <a:srgbClr val="0E0F10"/>
          </a:solidFill>
          <a:ln w="6350">
            <a:solidFill>
              <a:srgbClr val="2E3236"/>
            </a:solidFill>
            <a:prstDash val="solid"/>
          </a:ln>
        </p:spPr>
        <p:txBody>
          <a:bodyPr/>
          <a:lstStyle/>
          <a:p>
            <a:endParaRPr lang="en-US"/>
          </a:p>
        </p:txBody>
      </p:sp>
      <p:sp>
        <p:nvSpPr>
          <p:cNvPr id="14" name="Text 12"/>
          <p:cNvSpPr/>
          <p:nvPr/>
        </p:nvSpPr>
        <p:spPr>
          <a:xfrm>
            <a:off x="777240" y="2990088"/>
            <a:ext cx="2651760" cy="566928"/>
          </a:xfrm>
          <a:prstGeom prst="rect">
            <a:avLst/>
          </a:prstGeom>
          <a:noFill/>
          <a:ln/>
        </p:spPr>
        <p:txBody>
          <a:bodyPr wrap="square" rtlCol="0" anchor="ctr"/>
          <a:lstStyle/>
          <a:p>
            <a:pPr marL="0" indent="0">
              <a:buNone/>
            </a:pPr>
            <a:r>
              <a:rPr lang="en-US" sz="1200" b="1" dirty="0">
                <a:solidFill>
                  <a:srgbClr val="E6E4DE"/>
                </a:solidFill>
                <a:latin typeface="Calibri" pitchFamily="34" charset="0"/>
                <a:ea typeface="Calibri" pitchFamily="34" charset="-122"/>
                <a:cs typeface="Calibri" pitchFamily="34" charset="-120"/>
              </a:rPr>
              <a:t>Mailchimp / HubSpot</a:t>
            </a:r>
            <a:endParaRPr lang="en-US" sz="1200" dirty="0"/>
          </a:p>
        </p:txBody>
      </p:sp>
      <p:sp>
        <p:nvSpPr>
          <p:cNvPr id="15" name="Text 13"/>
          <p:cNvSpPr/>
          <p:nvPr/>
        </p:nvSpPr>
        <p:spPr>
          <a:xfrm>
            <a:off x="3703320" y="2990088"/>
            <a:ext cx="3200400" cy="566928"/>
          </a:xfrm>
          <a:prstGeom prst="rect">
            <a:avLst/>
          </a:prstGeom>
          <a:noFill/>
          <a:ln/>
        </p:spPr>
        <p:txBody>
          <a:bodyPr wrap="square" rtlCol="0" anchor="ctr"/>
          <a:lstStyle/>
          <a:p>
            <a:pPr marL="0" indent="0">
              <a:buNone/>
            </a:pPr>
            <a:r>
              <a:rPr lang="en-US" sz="1100" dirty="0">
                <a:solidFill>
                  <a:srgbClr val="9A958A"/>
                </a:solidFill>
                <a:latin typeface="Calibri" pitchFamily="34" charset="0"/>
                <a:ea typeface="Calibri" pitchFamily="34" charset="-122"/>
                <a:cs typeface="Calibri" pitchFamily="34" charset="-120"/>
              </a:rPr>
              <a:t>Email newsletter program</a:t>
            </a:r>
            <a:endParaRPr lang="en-US" sz="1100" dirty="0"/>
          </a:p>
        </p:txBody>
      </p:sp>
      <p:sp>
        <p:nvSpPr>
          <p:cNvPr id="16" name="Text 14"/>
          <p:cNvSpPr/>
          <p:nvPr/>
        </p:nvSpPr>
        <p:spPr>
          <a:xfrm>
            <a:off x="7178040" y="2990088"/>
            <a:ext cx="4526280" cy="566928"/>
          </a:xfrm>
          <a:prstGeom prst="rect">
            <a:avLst/>
          </a:prstGeom>
          <a:noFill/>
          <a:ln/>
        </p:spPr>
        <p:txBody>
          <a:bodyPr wrap="square" rtlCol="0" anchor="ctr"/>
          <a:lstStyle/>
          <a:p>
            <a:pPr marL="0" indent="0">
              <a:buNone/>
            </a:pPr>
            <a:r>
              <a:rPr lang="en-US" sz="1050" dirty="0">
                <a:solidFill>
                  <a:srgbClr val="E6E4DE"/>
                </a:solidFill>
                <a:latin typeface="Calibri" pitchFamily="34" charset="0"/>
                <a:ea typeface="Calibri" pitchFamily="34" charset="-122"/>
                <a:cs typeface="Calibri" pitchFamily="34" charset="-120"/>
              </a:rPr>
              <a:t>Open rate, click-through rate, list growth, segment performance</a:t>
            </a:r>
            <a:endParaRPr lang="en-US" sz="1050" dirty="0"/>
          </a:p>
        </p:txBody>
      </p:sp>
      <p:sp>
        <p:nvSpPr>
          <p:cNvPr id="17" name="Shape 15"/>
          <p:cNvSpPr/>
          <p:nvPr/>
        </p:nvSpPr>
        <p:spPr>
          <a:xfrm>
            <a:off x="548640" y="3557016"/>
            <a:ext cx="11201400" cy="566928"/>
          </a:xfrm>
          <a:prstGeom prst="rect">
            <a:avLst/>
          </a:prstGeom>
          <a:solidFill>
            <a:srgbClr val="16181A"/>
          </a:solidFill>
          <a:ln w="6350">
            <a:solidFill>
              <a:srgbClr val="2E3236"/>
            </a:solidFill>
            <a:prstDash val="solid"/>
          </a:ln>
        </p:spPr>
        <p:txBody>
          <a:bodyPr/>
          <a:lstStyle/>
          <a:p>
            <a:endParaRPr lang="en-US"/>
          </a:p>
        </p:txBody>
      </p:sp>
      <p:sp>
        <p:nvSpPr>
          <p:cNvPr id="18" name="Text 16"/>
          <p:cNvSpPr/>
          <p:nvPr/>
        </p:nvSpPr>
        <p:spPr>
          <a:xfrm>
            <a:off x="777240" y="3557016"/>
            <a:ext cx="2651760" cy="566928"/>
          </a:xfrm>
          <a:prstGeom prst="rect">
            <a:avLst/>
          </a:prstGeom>
          <a:noFill/>
          <a:ln/>
        </p:spPr>
        <p:txBody>
          <a:bodyPr wrap="square" rtlCol="0" anchor="ctr"/>
          <a:lstStyle/>
          <a:p>
            <a:pPr marL="0" indent="0">
              <a:buNone/>
            </a:pPr>
            <a:r>
              <a:rPr lang="en-US" sz="1200" b="1" dirty="0">
                <a:solidFill>
                  <a:srgbClr val="E6E4DE"/>
                </a:solidFill>
                <a:latin typeface="Calibri" pitchFamily="34" charset="0"/>
                <a:ea typeface="Calibri" pitchFamily="34" charset="-122"/>
                <a:cs typeface="Calibri" pitchFamily="34" charset="-120"/>
              </a:rPr>
              <a:t>YouTube Studio</a:t>
            </a:r>
            <a:endParaRPr lang="en-US" sz="1200" dirty="0"/>
          </a:p>
        </p:txBody>
      </p:sp>
      <p:sp>
        <p:nvSpPr>
          <p:cNvPr id="19" name="Text 17"/>
          <p:cNvSpPr/>
          <p:nvPr/>
        </p:nvSpPr>
        <p:spPr>
          <a:xfrm>
            <a:off x="3703320" y="3557016"/>
            <a:ext cx="3200400" cy="566928"/>
          </a:xfrm>
          <a:prstGeom prst="rect">
            <a:avLst/>
          </a:prstGeom>
          <a:noFill/>
          <a:ln/>
        </p:spPr>
        <p:txBody>
          <a:bodyPr wrap="square" rtlCol="0" anchor="ctr"/>
          <a:lstStyle/>
          <a:p>
            <a:pPr marL="0" indent="0">
              <a:buNone/>
            </a:pPr>
            <a:r>
              <a:rPr lang="en-US" sz="1100" dirty="0">
                <a:solidFill>
                  <a:srgbClr val="9A958A"/>
                </a:solidFill>
                <a:latin typeface="Calibri" pitchFamily="34" charset="0"/>
                <a:ea typeface="Calibri" pitchFamily="34" charset="-122"/>
                <a:cs typeface="Calibri" pitchFamily="34" charset="-120"/>
              </a:rPr>
              <a:t>Dev diaries and episode series</a:t>
            </a:r>
            <a:endParaRPr lang="en-US" sz="1100" dirty="0"/>
          </a:p>
        </p:txBody>
      </p:sp>
      <p:sp>
        <p:nvSpPr>
          <p:cNvPr id="20" name="Text 18"/>
          <p:cNvSpPr/>
          <p:nvPr/>
        </p:nvSpPr>
        <p:spPr>
          <a:xfrm>
            <a:off x="7178040" y="3557016"/>
            <a:ext cx="4526280" cy="566928"/>
          </a:xfrm>
          <a:prstGeom prst="rect">
            <a:avLst/>
          </a:prstGeom>
          <a:noFill/>
          <a:ln/>
        </p:spPr>
        <p:txBody>
          <a:bodyPr wrap="square" rtlCol="0" anchor="ctr"/>
          <a:lstStyle/>
          <a:p>
            <a:pPr marL="0" indent="0">
              <a:buNone/>
            </a:pPr>
            <a:r>
              <a:rPr lang="en-US" sz="1050" dirty="0">
                <a:solidFill>
                  <a:srgbClr val="E6E4DE"/>
                </a:solidFill>
                <a:latin typeface="Calibri" pitchFamily="34" charset="0"/>
                <a:ea typeface="Calibri" pitchFamily="34" charset="-122"/>
                <a:cs typeface="Calibri" pitchFamily="34" charset="-120"/>
              </a:rPr>
              <a:t>Watch time, avg. view duration, subscriber lift, traffic sources</a:t>
            </a:r>
            <a:endParaRPr lang="en-US" sz="1050" dirty="0"/>
          </a:p>
        </p:txBody>
      </p:sp>
      <p:sp>
        <p:nvSpPr>
          <p:cNvPr id="21" name="Shape 19"/>
          <p:cNvSpPr/>
          <p:nvPr/>
        </p:nvSpPr>
        <p:spPr>
          <a:xfrm>
            <a:off x="548640" y="4123944"/>
            <a:ext cx="11201400" cy="566928"/>
          </a:xfrm>
          <a:prstGeom prst="rect">
            <a:avLst/>
          </a:prstGeom>
          <a:solidFill>
            <a:srgbClr val="0E0F10"/>
          </a:solidFill>
          <a:ln w="6350">
            <a:solidFill>
              <a:srgbClr val="2E3236"/>
            </a:solidFill>
            <a:prstDash val="solid"/>
          </a:ln>
        </p:spPr>
        <p:txBody>
          <a:bodyPr/>
          <a:lstStyle/>
          <a:p>
            <a:endParaRPr lang="en-US"/>
          </a:p>
        </p:txBody>
      </p:sp>
      <p:sp>
        <p:nvSpPr>
          <p:cNvPr id="22" name="Text 20"/>
          <p:cNvSpPr/>
          <p:nvPr/>
        </p:nvSpPr>
        <p:spPr>
          <a:xfrm>
            <a:off x="777240" y="4123944"/>
            <a:ext cx="2651760" cy="566928"/>
          </a:xfrm>
          <a:prstGeom prst="rect">
            <a:avLst/>
          </a:prstGeom>
          <a:noFill/>
          <a:ln/>
        </p:spPr>
        <p:txBody>
          <a:bodyPr wrap="square" rtlCol="0" anchor="ctr"/>
          <a:lstStyle/>
          <a:p>
            <a:pPr marL="0" indent="0">
              <a:buNone/>
            </a:pPr>
            <a:r>
              <a:rPr lang="en-US" sz="1200" b="1" dirty="0">
                <a:solidFill>
                  <a:srgbClr val="E6E4DE"/>
                </a:solidFill>
                <a:latin typeface="Calibri" pitchFamily="34" charset="0"/>
                <a:ea typeface="Calibri" pitchFamily="34" charset="-122"/>
                <a:cs typeface="Calibri" pitchFamily="34" charset="-120"/>
              </a:rPr>
              <a:t>Twitch Insights</a:t>
            </a:r>
            <a:endParaRPr lang="en-US" sz="1200" dirty="0"/>
          </a:p>
        </p:txBody>
      </p:sp>
      <p:sp>
        <p:nvSpPr>
          <p:cNvPr id="23" name="Text 21"/>
          <p:cNvSpPr/>
          <p:nvPr/>
        </p:nvSpPr>
        <p:spPr>
          <a:xfrm>
            <a:off x="3703320" y="4123944"/>
            <a:ext cx="3200400" cy="566928"/>
          </a:xfrm>
          <a:prstGeom prst="rect">
            <a:avLst/>
          </a:prstGeom>
          <a:noFill/>
          <a:ln/>
        </p:spPr>
        <p:txBody>
          <a:bodyPr wrap="square" rtlCol="0" anchor="ctr"/>
          <a:lstStyle/>
          <a:p>
            <a:pPr marL="0" indent="0">
              <a:buNone/>
            </a:pPr>
            <a:r>
              <a:rPr lang="en-US" sz="1100" dirty="0">
                <a:solidFill>
                  <a:srgbClr val="9A958A"/>
                </a:solidFill>
                <a:latin typeface="Calibri" pitchFamily="34" charset="0"/>
                <a:ea typeface="Calibri" pitchFamily="34" charset="-122"/>
                <a:cs typeface="Calibri" pitchFamily="34" charset="-120"/>
              </a:rPr>
              <a:t>Official BattlestateGames channel</a:t>
            </a:r>
            <a:endParaRPr lang="en-US" sz="1100" dirty="0"/>
          </a:p>
        </p:txBody>
      </p:sp>
      <p:sp>
        <p:nvSpPr>
          <p:cNvPr id="24" name="Text 22"/>
          <p:cNvSpPr/>
          <p:nvPr/>
        </p:nvSpPr>
        <p:spPr>
          <a:xfrm>
            <a:off x="7178040" y="4123944"/>
            <a:ext cx="4526280" cy="566928"/>
          </a:xfrm>
          <a:prstGeom prst="rect">
            <a:avLst/>
          </a:prstGeom>
          <a:noFill/>
          <a:ln/>
        </p:spPr>
        <p:txBody>
          <a:bodyPr wrap="square" rtlCol="0" anchor="ctr"/>
          <a:lstStyle/>
          <a:p>
            <a:pPr marL="0" indent="0">
              <a:buNone/>
            </a:pPr>
            <a:r>
              <a:rPr lang="en-US" sz="1050" dirty="0">
                <a:solidFill>
                  <a:srgbClr val="E6E4DE"/>
                </a:solidFill>
                <a:latin typeface="Calibri" pitchFamily="34" charset="0"/>
                <a:ea typeface="Calibri" pitchFamily="34" charset="-122"/>
                <a:cs typeface="Calibri" pitchFamily="34" charset="-120"/>
              </a:rPr>
              <a:t>Avg. concurrent viewers, unique viewers, follows gained per stream</a:t>
            </a:r>
            <a:endParaRPr lang="en-US" sz="1050" dirty="0"/>
          </a:p>
        </p:txBody>
      </p:sp>
      <p:sp>
        <p:nvSpPr>
          <p:cNvPr id="25" name="Shape 23"/>
          <p:cNvSpPr/>
          <p:nvPr/>
        </p:nvSpPr>
        <p:spPr>
          <a:xfrm>
            <a:off x="548640" y="4690872"/>
            <a:ext cx="11201400" cy="566928"/>
          </a:xfrm>
          <a:prstGeom prst="rect">
            <a:avLst/>
          </a:prstGeom>
          <a:solidFill>
            <a:srgbClr val="16181A"/>
          </a:solidFill>
          <a:ln w="6350">
            <a:solidFill>
              <a:srgbClr val="2E3236"/>
            </a:solidFill>
            <a:prstDash val="solid"/>
          </a:ln>
        </p:spPr>
        <p:txBody>
          <a:bodyPr/>
          <a:lstStyle/>
          <a:p>
            <a:endParaRPr lang="en-US"/>
          </a:p>
        </p:txBody>
      </p:sp>
      <p:sp>
        <p:nvSpPr>
          <p:cNvPr id="26" name="Text 24"/>
          <p:cNvSpPr/>
          <p:nvPr/>
        </p:nvSpPr>
        <p:spPr>
          <a:xfrm>
            <a:off x="777240" y="4690872"/>
            <a:ext cx="2651760" cy="566928"/>
          </a:xfrm>
          <a:prstGeom prst="rect">
            <a:avLst/>
          </a:prstGeom>
          <a:noFill/>
          <a:ln/>
        </p:spPr>
        <p:txBody>
          <a:bodyPr wrap="square" rtlCol="0" anchor="ctr"/>
          <a:lstStyle/>
          <a:p>
            <a:pPr marL="0" indent="0">
              <a:buNone/>
            </a:pPr>
            <a:r>
              <a:rPr lang="en-US" sz="1200" b="1" dirty="0">
                <a:solidFill>
                  <a:srgbClr val="E6E4DE"/>
                </a:solidFill>
                <a:latin typeface="Calibri" pitchFamily="34" charset="0"/>
                <a:ea typeface="Calibri" pitchFamily="34" charset="-122"/>
                <a:cs typeface="Calibri" pitchFamily="34" charset="-120"/>
              </a:rPr>
              <a:t>Sprout Social / Hootsuite</a:t>
            </a:r>
            <a:endParaRPr lang="en-US" sz="1200" dirty="0"/>
          </a:p>
        </p:txBody>
      </p:sp>
      <p:sp>
        <p:nvSpPr>
          <p:cNvPr id="27" name="Text 25"/>
          <p:cNvSpPr/>
          <p:nvPr/>
        </p:nvSpPr>
        <p:spPr>
          <a:xfrm>
            <a:off x="3703320" y="4690872"/>
            <a:ext cx="3200400" cy="566928"/>
          </a:xfrm>
          <a:prstGeom prst="rect">
            <a:avLst/>
          </a:prstGeom>
          <a:noFill/>
          <a:ln/>
        </p:spPr>
        <p:txBody>
          <a:bodyPr wrap="square" rtlCol="0" anchor="ctr"/>
          <a:lstStyle/>
          <a:p>
            <a:pPr marL="0" indent="0">
              <a:buNone/>
            </a:pPr>
            <a:r>
              <a:rPr lang="en-US" sz="1100" dirty="0">
                <a:solidFill>
                  <a:srgbClr val="9A958A"/>
                </a:solidFill>
                <a:latin typeface="Calibri" pitchFamily="34" charset="0"/>
                <a:ea typeface="Calibri" pitchFamily="34" charset="-122"/>
                <a:cs typeface="Calibri" pitchFamily="34" charset="-120"/>
              </a:rPr>
              <a:t>X, Instagram, TikTok, Facebook</a:t>
            </a:r>
            <a:endParaRPr lang="en-US" sz="1100" dirty="0"/>
          </a:p>
        </p:txBody>
      </p:sp>
      <p:sp>
        <p:nvSpPr>
          <p:cNvPr id="28" name="Text 26"/>
          <p:cNvSpPr/>
          <p:nvPr/>
        </p:nvSpPr>
        <p:spPr>
          <a:xfrm>
            <a:off x="7178040" y="4690872"/>
            <a:ext cx="4526280" cy="566928"/>
          </a:xfrm>
          <a:prstGeom prst="rect">
            <a:avLst/>
          </a:prstGeom>
          <a:noFill/>
          <a:ln/>
        </p:spPr>
        <p:txBody>
          <a:bodyPr wrap="square" rtlCol="0" anchor="ctr"/>
          <a:lstStyle/>
          <a:p>
            <a:pPr marL="0" indent="0">
              <a:buNone/>
            </a:pPr>
            <a:r>
              <a:rPr lang="en-US" sz="1050" dirty="0">
                <a:solidFill>
                  <a:srgbClr val="E6E4DE"/>
                </a:solidFill>
                <a:latin typeface="Calibri" pitchFamily="34" charset="0"/>
                <a:ea typeface="Calibri" pitchFamily="34" charset="-122"/>
                <a:cs typeface="Calibri" pitchFamily="34" charset="-120"/>
              </a:rPr>
              <a:t>Engagement rate, impressions, shares, best-time-to-post analytics</a:t>
            </a:r>
            <a:endParaRPr lang="en-US" sz="1050" dirty="0"/>
          </a:p>
        </p:txBody>
      </p:sp>
      <p:sp>
        <p:nvSpPr>
          <p:cNvPr id="29" name="Shape 27"/>
          <p:cNvSpPr/>
          <p:nvPr/>
        </p:nvSpPr>
        <p:spPr>
          <a:xfrm>
            <a:off x="548640" y="5257800"/>
            <a:ext cx="11201400" cy="566928"/>
          </a:xfrm>
          <a:prstGeom prst="rect">
            <a:avLst/>
          </a:prstGeom>
          <a:solidFill>
            <a:srgbClr val="0E0F10"/>
          </a:solidFill>
          <a:ln w="6350">
            <a:solidFill>
              <a:srgbClr val="2E3236"/>
            </a:solidFill>
            <a:prstDash val="solid"/>
          </a:ln>
        </p:spPr>
        <p:txBody>
          <a:bodyPr/>
          <a:lstStyle/>
          <a:p>
            <a:endParaRPr lang="en-US"/>
          </a:p>
        </p:txBody>
      </p:sp>
      <p:sp>
        <p:nvSpPr>
          <p:cNvPr id="30" name="Text 28"/>
          <p:cNvSpPr/>
          <p:nvPr/>
        </p:nvSpPr>
        <p:spPr>
          <a:xfrm>
            <a:off x="777240" y="5257800"/>
            <a:ext cx="2651760" cy="566928"/>
          </a:xfrm>
          <a:prstGeom prst="rect">
            <a:avLst/>
          </a:prstGeom>
          <a:noFill/>
          <a:ln/>
        </p:spPr>
        <p:txBody>
          <a:bodyPr wrap="square" rtlCol="0" anchor="ctr"/>
          <a:lstStyle/>
          <a:p>
            <a:pPr marL="0" indent="0">
              <a:buNone/>
            </a:pPr>
            <a:r>
              <a:rPr lang="en-US" sz="1200" b="1" dirty="0">
                <a:solidFill>
                  <a:srgbClr val="E6E4DE"/>
                </a:solidFill>
                <a:latin typeface="Calibri" pitchFamily="34" charset="0"/>
                <a:ea typeface="Calibri" pitchFamily="34" charset="-122"/>
                <a:cs typeface="Calibri" pitchFamily="34" charset="-120"/>
              </a:rPr>
              <a:t>Discord Server Insights</a:t>
            </a:r>
            <a:endParaRPr lang="en-US" sz="1200" dirty="0"/>
          </a:p>
        </p:txBody>
      </p:sp>
      <p:sp>
        <p:nvSpPr>
          <p:cNvPr id="31" name="Text 29"/>
          <p:cNvSpPr/>
          <p:nvPr/>
        </p:nvSpPr>
        <p:spPr>
          <a:xfrm>
            <a:off x="3703320" y="5257800"/>
            <a:ext cx="3200400" cy="566928"/>
          </a:xfrm>
          <a:prstGeom prst="rect">
            <a:avLst/>
          </a:prstGeom>
          <a:noFill/>
          <a:ln/>
        </p:spPr>
        <p:txBody>
          <a:bodyPr wrap="square" rtlCol="0" anchor="ctr"/>
          <a:lstStyle/>
          <a:p>
            <a:pPr marL="0" indent="0">
              <a:buNone/>
            </a:pPr>
            <a:r>
              <a:rPr lang="en-US" sz="1100" dirty="0">
                <a:solidFill>
                  <a:srgbClr val="9A958A"/>
                </a:solidFill>
                <a:latin typeface="Calibri" pitchFamily="34" charset="0"/>
                <a:ea typeface="Calibri" pitchFamily="34" charset="-122"/>
                <a:cs typeface="Calibri" pitchFamily="34" charset="-120"/>
              </a:rPr>
              <a:t>Official community server</a:t>
            </a:r>
            <a:endParaRPr lang="en-US" sz="1100" dirty="0"/>
          </a:p>
        </p:txBody>
      </p:sp>
      <p:sp>
        <p:nvSpPr>
          <p:cNvPr id="32" name="Text 30"/>
          <p:cNvSpPr/>
          <p:nvPr/>
        </p:nvSpPr>
        <p:spPr>
          <a:xfrm>
            <a:off x="7178040" y="5257800"/>
            <a:ext cx="4526280" cy="566928"/>
          </a:xfrm>
          <a:prstGeom prst="rect">
            <a:avLst/>
          </a:prstGeom>
          <a:noFill/>
          <a:ln/>
        </p:spPr>
        <p:txBody>
          <a:bodyPr wrap="square" rtlCol="0" anchor="ctr"/>
          <a:lstStyle/>
          <a:p>
            <a:pPr marL="0" indent="0">
              <a:buNone/>
            </a:pPr>
            <a:r>
              <a:rPr lang="en-US" sz="1050" dirty="0">
                <a:solidFill>
                  <a:srgbClr val="E6E4DE"/>
                </a:solidFill>
                <a:latin typeface="Calibri" pitchFamily="34" charset="0"/>
                <a:ea typeface="Calibri" pitchFamily="34" charset="-122"/>
                <a:cs typeface="Calibri" pitchFamily="34" charset="-120"/>
              </a:rPr>
              <a:t>Members joined, messages sent, retention at 7 and 30 days</a:t>
            </a:r>
            <a:endParaRPr lang="en-US" sz="1050" dirty="0"/>
          </a:p>
        </p:txBody>
      </p:sp>
      <p:sp>
        <p:nvSpPr>
          <p:cNvPr id="33" name="Text 31"/>
          <p:cNvSpPr/>
          <p:nvPr/>
        </p:nvSpPr>
        <p:spPr>
          <a:xfrm>
            <a:off x="548640" y="6080760"/>
            <a:ext cx="11201400" cy="256032"/>
          </a:xfrm>
          <a:prstGeom prst="rect">
            <a:avLst/>
          </a:prstGeom>
          <a:noFill/>
          <a:ln/>
        </p:spPr>
        <p:txBody>
          <a:bodyPr wrap="square" rtlCol="0" anchor="ctr"/>
          <a:lstStyle/>
          <a:p>
            <a:pPr marL="0" indent="0">
              <a:buNone/>
            </a:pPr>
            <a:r>
              <a:rPr lang="en-US" sz="900" dirty="0">
                <a:solidFill>
                  <a:srgbClr val="6A665E"/>
                </a:solidFill>
                <a:latin typeface="Calibri" pitchFamily="34" charset="0"/>
                <a:ea typeface="Calibri" pitchFamily="34" charset="-122"/>
                <a:cs typeface="Calibri" pitchFamily="34" charset="-120"/>
              </a:rPr>
              <a:t>Source: </a:t>
            </a:r>
            <a:r>
              <a:rPr lang="en-US" sz="900" u="sng" dirty="0">
                <a:solidFill>
                  <a:srgbClr val="C96A2B"/>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Google Analytics Help</a:t>
            </a:r>
            <a:r>
              <a:rPr lang="en-US" sz="900" dirty="0">
                <a:solidFill>
                  <a:srgbClr val="6A665E"/>
                </a:solidFill>
                <a:latin typeface="Calibri" pitchFamily="34" charset="0"/>
                <a:ea typeface="Calibri" pitchFamily="34" charset="-122"/>
                <a:cs typeface="Calibri" pitchFamily="34" charset="-120"/>
              </a:rPr>
              <a:t>, </a:t>
            </a:r>
            <a:r>
              <a:rPr lang="en-US" sz="900" u="sng" dirty="0">
                <a:solidFill>
                  <a:srgbClr val="C96A2B"/>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Taiminen &amp; Karjaluoto (2015)</a:t>
            </a:r>
            <a:r>
              <a:rPr lang="en-US" sz="900" dirty="0">
                <a:solidFill>
                  <a:srgbClr val="6A665E"/>
                </a:solidFill>
                <a:latin typeface="Calibri" pitchFamily="34" charset="0"/>
                <a:ea typeface="Calibri" pitchFamily="34" charset="-122"/>
                <a:cs typeface="Calibri" pitchFamily="34" charset="-120"/>
              </a:rPr>
              <a:t>, </a:t>
            </a:r>
            <a:r>
              <a:rPr lang="en-US" sz="900" u="sng" dirty="0">
                <a:solidFill>
                  <a:srgbClr val="C96A2B"/>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Koob (2021)</a:t>
            </a:r>
            <a:endParaRPr lang="en-US" sz="900" dirty="0"/>
          </a:p>
        </p:txBody>
      </p:sp>
      <p:sp>
        <p:nvSpPr>
          <p:cNvPr id="34" name="Shape 32"/>
          <p:cNvSpPr/>
          <p:nvPr/>
        </p:nvSpPr>
        <p:spPr>
          <a:xfrm>
            <a:off x="457200" y="6565392"/>
            <a:ext cx="11277295" cy="0"/>
          </a:xfrm>
          <a:prstGeom prst="line">
            <a:avLst/>
          </a:prstGeom>
          <a:noFill/>
          <a:ln w="9525">
            <a:solidFill>
              <a:srgbClr val="3A3E42"/>
            </a:solidFill>
            <a:prstDash val="solid"/>
          </a:ln>
        </p:spPr>
        <p:txBody>
          <a:bodyPr/>
          <a:lstStyle/>
          <a:p>
            <a:endParaRPr lang="en-US"/>
          </a:p>
        </p:txBody>
      </p:sp>
      <p:sp>
        <p:nvSpPr>
          <p:cNvPr id="35" name="Text 33"/>
          <p:cNvSpPr/>
          <p:nvPr/>
        </p:nvSpPr>
        <p:spPr>
          <a:xfrm>
            <a:off x="457200" y="6601968"/>
            <a:ext cx="8229600" cy="228600"/>
          </a:xfrm>
          <a:prstGeom prst="rect">
            <a:avLst/>
          </a:prstGeom>
          <a:noFill/>
          <a:ln/>
        </p:spPr>
        <p:txBody>
          <a:bodyPr wrap="square" rtlCol="0" anchor="ctr"/>
          <a:lstStyle/>
          <a:p>
            <a:pPr marL="0" indent="0">
              <a:buNone/>
            </a:pPr>
            <a:r>
              <a:rPr lang="en-US" sz="900" kern="0" spc="200" dirty="0">
                <a:solidFill>
                  <a:srgbClr val="6A665E"/>
                </a:solidFill>
                <a:latin typeface="Calibri" pitchFamily="34" charset="0"/>
                <a:ea typeface="Calibri" pitchFamily="34" charset="-122"/>
                <a:cs typeface="Calibri" pitchFamily="34" charset="-120"/>
              </a:rPr>
              <a:t>TARKOV  ·  CONTENT MARKETING CAMPAIGN  ·  JULIO HERNANDEZ</a:t>
            </a:r>
            <a:endParaRPr lang="en-US" sz="900" dirty="0"/>
          </a:p>
        </p:txBody>
      </p:sp>
      <p:sp>
        <p:nvSpPr>
          <p:cNvPr id="36" name="Text 34"/>
          <p:cNvSpPr/>
          <p:nvPr/>
        </p:nvSpPr>
        <p:spPr>
          <a:xfrm>
            <a:off x="10789920" y="6601968"/>
            <a:ext cx="914400" cy="228600"/>
          </a:xfrm>
          <a:prstGeom prst="rect">
            <a:avLst/>
          </a:prstGeom>
          <a:noFill/>
          <a:ln/>
        </p:spPr>
        <p:txBody>
          <a:bodyPr wrap="square" rtlCol="0" anchor="ctr"/>
          <a:lstStyle/>
          <a:p>
            <a:pPr marL="0" indent="0" algn="r">
              <a:buNone/>
            </a:pPr>
            <a:r>
              <a:rPr lang="en-US" sz="900" dirty="0">
                <a:solidFill>
                  <a:srgbClr val="6A665E"/>
                </a:solidFill>
                <a:latin typeface="Calibri" pitchFamily="34" charset="0"/>
                <a:ea typeface="Calibri" pitchFamily="34" charset="-122"/>
                <a:cs typeface="Calibri"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0F10"/>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274320"/>
          </a:xfrm>
          <a:prstGeom prst="rect">
            <a:avLst/>
          </a:prstGeom>
          <a:noFill/>
          <a:ln/>
        </p:spPr>
        <p:txBody>
          <a:bodyPr wrap="square" rtlCol="0" anchor="ctr"/>
          <a:lstStyle/>
          <a:p>
            <a:pPr marL="0" indent="0">
              <a:buNone/>
            </a:pPr>
            <a:r>
              <a:rPr lang="en-US" sz="1000" b="1" kern="0" spc="400" dirty="0">
                <a:solidFill>
                  <a:srgbClr val="C96A2B"/>
                </a:solidFill>
                <a:latin typeface="Calibri" pitchFamily="34" charset="0"/>
                <a:ea typeface="Calibri" pitchFamily="34" charset="-122"/>
                <a:cs typeface="Calibri" pitchFamily="34" charset="-120"/>
              </a:rPr>
              <a:t>06  ·  PAID MEDIA</a:t>
            </a:r>
            <a:endParaRPr lang="en-US" sz="1000" dirty="0"/>
          </a:p>
        </p:txBody>
      </p:sp>
      <p:sp>
        <p:nvSpPr>
          <p:cNvPr id="3" name="Text 1"/>
          <p:cNvSpPr/>
          <p:nvPr/>
        </p:nvSpPr>
        <p:spPr>
          <a:xfrm>
            <a:off x="548640" y="804672"/>
            <a:ext cx="10972800" cy="685800"/>
          </a:xfrm>
          <a:prstGeom prst="rect">
            <a:avLst/>
          </a:prstGeom>
          <a:noFill/>
          <a:ln/>
        </p:spPr>
        <p:txBody>
          <a:bodyPr wrap="square" rtlCol="0" anchor="ctr"/>
          <a:lstStyle/>
          <a:p>
            <a:pPr marL="0" indent="0">
              <a:buNone/>
            </a:pPr>
            <a:r>
              <a:rPr lang="en-US" sz="3200" b="1" dirty="0">
                <a:solidFill>
                  <a:srgbClr val="E6E4DE"/>
                </a:solidFill>
                <a:latin typeface="Trebuchet MS" pitchFamily="34" charset="0"/>
                <a:ea typeface="Trebuchet MS" pitchFamily="34" charset="-122"/>
                <a:cs typeface="Trebuchet MS" pitchFamily="34" charset="-120"/>
              </a:rPr>
              <a:t>Tactics to extend reach beyond the core</a:t>
            </a:r>
            <a:endParaRPr lang="en-US" sz="3200" dirty="0"/>
          </a:p>
        </p:txBody>
      </p:sp>
      <p:sp>
        <p:nvSpPr>
          <p:cNvPr id="4" name="Shape 2"/>
          <p:cNvSpPr/>
          <p:nvPr/>
        </p:nvSpPr>
        <p:spPr>
          <a:xfrm>
            <a:off x="548640" y="1536192"/>
            <a:ext cx="1005840" cy="54864"/>
          </a:xfrm>
          <a:prstGeom prst="rect">
            <a:avLst/>
          </a:prstGeom>
          <a:solidFill>
            <a:srgbClr val="D19900"/>
          </a:solidFill>
          <a:ln/>
        </p:spPr>
        <p:txBody>
          <a:bodyPr/>
          <a:lstStyle/>
          <a:p>
            <a:endParaRPr lang="en-US"/>
          </a:p>
        </p:txBody>
      </p:sp>
      <p:sp>
        <p:nvSpPr>
          <p:cNvPr id="5" name="Shape 3"/>
          <p:cNvSpPr/>
          <p:nvPr/>
        </p:nvSpPr>
        <p:spPr>
          <a:xfrm>
            <a:off x="548640" y="1965960"/>
            <a:ext cx="5486400" cy="2011680"/>
          </a:xfrm>
          <a:prstGeom prst="rect">
            <a:avLst/>
          </a:prstGeom>
          <a:solidFill>
            <a:srgbClr val="16181A"/>
          </a:solidFill>
          <a:ln w="9525">
            <a:solidFill>
              <a:srgbClr val="2E3236"/>
            </a:solidFill>
            <a:prstDash val="solid"/>
          </a:ln>
        </p:spPr>
        <p:txBody>
          <a:bodyPr/>
          <a:lstStyle/>
          <a:p>
            <a:endParaRPr lang="en-US"/>
          </a:p>
        </p:txBody>
      </p:sp>
      <p:sp>
        <p:nvSpPr>
          <p:cNvPr id="6" name="Text 4"/>
          <p:cNvSpPr/>
          <p:nvPr/>
        </p:nvSpPr>
        <p:spPr>
          <a:xfrm>
            <a:off x="822960" y="2148840"/>
            <a:ext cx="4937760" cy="457200"/>
          </a:xfrm>
          <a:prstGeom prst="rect">
            <a:avLst/>
          </a:prstGeom>
          <a:noFill/>
          <a:ln/>
        </p:spPr>
        <p:txBody>
          <a:bodyPr wrap="square" rtlCol="0" anchor="ctr"/>
          <a:lstStyle/>
          <a:p>
            <a:pPr marL="0" indent="0">
              <a:buNone/>
            </a:pPr>
            <a:r>
              <a:rPr lang="en-US" sz="1600" b="1" dirty="0">
                <a:solidFill>
                  <a:srgbClr val="E6E4DE"/>
                </a:solidFill>
                <a:latin typeface="Trebuchet MS" pitchFamily="34" charset="0"/>
                <a:ea typeface="Trebuchet MS" pitchFamily="34" charset="-122"/>
                <a:cs typeface="Trebuchet MS" pitchFamily="34" charset="-120"/>
              </a:rPr>
              <a:t>Targeted Meta campaigns</a:t>
            </a:r>
            <a:endParaRPr lang="en-US" sz="1600" dirty="0"/>
          </a:p>
        </p:txBody>
      </p:sp>
      <p:sp>
        <p:nvSpPr>
          <p:cNvPr id="7" name="Shape 5"/>
          <p:cNvSpPr/>
          <p:nvPr/>
        </p:nvSpPr>
        <p:spPr>
          <a:xfrm>
            <a:off x="822960" y="2697480"/>
            <a:ext cx="365760" cy="0"/>
          </a:xfrm>
          <a:prstGeom prst="line">
            <a:avLst/>
          </a:prstGeom>
          <a:noFill/>
          <a:ln w="19050">
            <a:solidFill>
              <a:srgbClr val="D19900"/>
            </a:solidFill>
            <a:prstDash val="solid"/>
          </a:ln>
        </p:spPr>
        <p:txBody>
          <a:bodyPr/>
          <a:lstStyle/>
          <a:p>
            <a:endParaRPr lang="en-US"/>
          </a:p>
        </p:txBody>
      </p:sp>
      <p:sp>
        <p:nvSpPr>
          <p:cNvPr id="8" name="Text 6"/>
          <p:cNvSpPr/>
          <p:nvPr/>
        </p:nvSpPr>
        <p:spPr>
          <a:xfrm>
            <a:off x="822960" y="2834640"/>
            <a:ext cx="4937760" cy="1097280"/>
          </a:xfrm>
          <a:prstGeom prst="rect">
            <a:avLst/>
          </a:prstGeom>
          <a:noFill/>
          <a:ln/>
        </p:spPr>
        <p:txBody>
          <a:bodyPr wrap="square" rtlCol="0" anchor="ctr"/>
          <a:lstStyle/>
          <a:p>
            <a:pPr marL="0" indent="0">
              <a:lnSpc>
                <a:spcPct val="135000"/>
              </a:lnSpc>
              <a:buNone/>
            </a:pPr>
            <a:r>
              <a:rPr lang="en-US" sz="1150" dirty="0">
                <a:solidFill>
                  <a:srgbClr val="9A958A"/>
                </a:solidFill>
                <a:latin typeface="Calibri" pitchFamily="34" charset="0"/>
                <a:ea typeface="Calibri" pitchFamily="34" charset="-122"/>
                <a:cs typeface="Calibri" pitchFamily="34" charset="-120"/>
              </a:rPr>
              <a:t>Facebook and Instagram auction campaigns targeting interests in tactical shooters, mil-sim, and survival games. Creative features intense raid footage with copy like 'Think you can survive Tarkov?' Optimized for video views and landing-page clicks.</a:t>
            </a:r>
            <a:endParaRPr lang="en-US" sz="1150" dirty="0"/>
          </a:p>
        </p:txBody>
      </p:sp>
      <p:sp>
        <p:nvSpPr>
          <p:cNvPr id="9" name="Shape 7"/>
          <p:cNvSpPr/>
          <p:nvPr/>
        </p:nvSpPr>
        <p:spPr>
          <a:xfrm>
            <a:off x="6263640" y="1965960"/>
            <a:ext cx="5486400" cy="2011680"/>
          </a:xfrm>
          <a:prstGeom prst="rect">
            <a:avLst/>
          </a:prstGeom>
          <a:solidFill>
            <a:srgbClr val="16181A"/>
          </a:solidFill>
          <a:ln w="9525">
            <a:solidFill>
              <a:srgbClr val="2E3236"/>
            </a:solidFill>
            <a:prstDash val="solid"/>
          </a:ln>
        </p:spPr>
        <p:txBody>
          <a:bodyPr/>
          <a:lstStyle/>
          <a:p>
            <a:endParaRPr lang="en-US"/>
          </a:p>
        </p:txBody>
      </p:sp>
      <p:sp>
        <p:nvSpPr>
          <p:cNvPr id="10" name="Text 8"/>
          <p:cNvSpPr/>
          <p:nvPr/>
        </p:nvSpPr>
        <p:spPr>
          <a:xfrm>
            <a:off x="6537960" y="2148840"/>
            <a:ext cx="4937760" cy="457200"/>
          </a:xfrm>
          <a:prstGeom prst="rect">
            <a:avLst/>
          </a:prstGeom>
          <a:noFill/>
          <a:ln/>
        </p:spPr>
        <p:txBody>
          <a:bodyPr wrap="square" rtlCol="0" anchor="ctr"/>
          <a:lstStyle/>
          <a:p>
            <a:pPr marL="0" indent="0">
              <a:buNone/>
            </a:pPr>
            <a:r>
              <a:rPr lang="en-US" sz="1600" b="1" dirty="0">
                <a:solidFill>
                  <a:srgbClr val="E6E4DE"/>
                </a:solidFill>
                <a:latin typeface="Trebuchet MS" pitchFamily="34" charset="0"/>
                <a:ea typeface="Trebuchet MS" pitchFamily="34" charset="-122"/>
                <a:cs typeface="Trebuchet MS" pitchFamily="34" charset="-120"/>
              </a:rPr>
              <a:t>Short-form vertical boosts</a:t>
            </a:r>
            <a:endParaRPr lang="en-US" sz="1600" dirty="0"/>
          </a:p>
        </p:txBody>
      </p:sp>
      <p:sp>
        <p:nvSpPr>
          <p:cNvPr id="11" name="Shape 9"/>
          <p:cNvSpPr/>
          <p:nvPr/>
        </p:nvSpPr>
        <p:spPr>
          <a:xfrm>
            <a:off x="6537960" y="2697480"/>
            <a:ext cx="365760" cy="0"/>
          </a:xfrm>
          <a:prstGeom prst="line">
            <a:avLst/>
          </a:prstGeom>
          <a:noFill/>
          <a:ln w="19050">
            <a:solidFill>
              <a:srgbClr val="D19900"/>
            </a:solidFill>
            <a:prstDash val="solid"/>
          </a:ln>
        </p:spPr>
        <p:txBody>
          <a:bodyPr/>
          <a:lstStyle/>
          <a:p>
            <a:endParaRPr lang="en-US"/>
          </a:p>
        </p:txBody>
      </p:sp>
      <p:sp>
        <p:nvSpPr>
          <p:cNvPr id="12" name="Text 10"/>
          <p:cNvSpPr/>
          <p:nvPr/>
        </p:nvSpPr>
        <p:spPr>
          <a:xfrm>
            <a:off x="6537960" y="2834640"/>
            <a:ext cx="4937760" cy="1097280"/>
          </a:xfrm>
          <a:prstGeom prst="rect">
            <a:avLst/>
          </a:prstGeom>
          <a:noFill/>
          <a:ln/>
        </p:spPr>
        <p:txBody>
          <a:bodyPr wrap="square" rtlCol="0" anchor="ctr"/>
          <a:lstStyle/>
          <a:p>
            <a:pPr marL="0" indent="0">
              <a:lnSpc>
                <a:spcPct val="135000"/>
              </a:lnSpc>
              <a:buNone/>
            </a:pPr>
            <a:r>
              <a:rPr lang="en-US" sz="1150" dirty="0">
                <a:solidFill>
                  <a:srgbClr val="9A958A"/>
                </a:solidFill>
                <a:latin typeface="Calibri" pitchFamily="34" charset="0"/>
                <a:ea typeface="Calibri" pitchFamily="34" charset="-122"/>
                <a:cs typeface="Calibri" pitchFamily="34" charset="-120"/>
              </a:rPr>
              <a:t>Paid placements on Instagram Reels and TikTok that promote 30-second raid moments and 'extractions gone wrong' clips with interactive captions ('What would you do here?') to drive shares and duets.</a:t>
            </a:r>
            <a:endParaRPr lang="en-US" sz="1150" dirty="0"/>
          </a:p>
        </p:txBody>
      </p:sp>
      <p:sp>
        <p:nvSpPr>
          <p:cNvPr id="13" name="Shape 11"/>
          <p:cNvSpPr/>
          <p:nvPr/>
        </p:nvSpPr>
        <p:spPr>
          <a:xfrm>
            <a:off x="548640" y="4206240"/>
            <a:ext cx="5486400" cy="2011680"/>
          </a:xfrm>
          <a:prstGeom prst="rect">
            <a:avLst/>
          </a:prstGeom>
          <a:solidFill>
            <a:srgbClr val="16181A"/>
          </a:solidFill>
          <a:ln w="9525">
            <a:solidFill>
              <a:srgbClr val="2E3236"/>
            </a:solidFill>
            <a:prstDash val="solid"/>
          </a:ln>
        </p:spPr>
        <p:txBody>
          <a:bodyPr/>
          <a:lstStyle/>
          <a:p>
            <a:endParaRPr lang="en-US"/>
          </a:p>
        </p:txBody>
      </p:sp>
      <p:sp>
        <p:nvSpPr>
          <p:cNvPr id="14" name="Text 12"/>
          <p:cNvSpPr/>
          <p:nvPr/>
        </p:nvSpPr>
        <p:spPr>
          <a:xfrm>
            <a:off x="822960" y="4389120"/>
            <a:ext cx="4937760" cy="457200"/>
          </a:xfrm>
          <a:prstGeom prst="rect">
            <a:avLst/>
          </a:prstGeom>
          <a:noFill/>
          <a:ln/>
        </p:spPr>
        <p:txBody>
          <a:bodyPr wrap="square" rtlCol="0" anchor="ctr"/>
          <a:lstStyle/>
          <a:p>
            <a:pPr marL="0" indent="0">
              <a:buNone/>
            </a:pPr>
            <a:r>
              <a:rPr lang="en-US" sz="1600" b="1" dirty="0">
                <a:solidFill>
                  <a:srgbClr val="E6E4DE"/>
                </a:solidFill>
                <a:latin typeface="Trebuchet MS" pitchFamily="34" charset="0"/>
                <a:ea typeface="Trebuchet MS" pitchFamily="34" charset="-122"/>
                <a:cs typeface="Trebuchet MS" pitchFamily="34" charset="-120"/>
              </a:rPr>
              <a:t>Retargeting funnels</a:t>
            </a:r>
            <a:endParaRPr lang="en-US" sz="1600" dirty="0"/>
          </a:p>
        </p:txBody>
      </p:sp>
      <p:sp>
        <p:nvSpPr>
          <p:cNvPr id="15" name="Shape 13"/>
          <p:cNvSpPr/>
          <p:nvPr/>
        </p:nvSpPr>
        <p:spPr>
          <a:xfrm>
            <a:off x="822960" y="4937760"/>
            <a:ext cx="365760" cy="0"/>
          </a:xfrm>
          <a:prstGeom prst="line">
            <a:avLst/>
          </a:prstGeom>
          <a:noFill/>
          <a:ln w="19050">
            <a:solidFill>
              <a:srgbClr val="D19900"/>
            </a:solidFill>
            <a:prstDash val="solid"/>
          </a:ln>
        </p:spPr>
        <p:txBody>
          <a:bodyPr/>
          <a:lstStyle/>
          <a:p>
            <a:endParaRPr lang="en-US"/>
          </a:p>
        </p:txBody>
      </p:sp>
      <p:sp>
        <p:nvSpPr>
          <p:cNvPr id="16" name="Text 14"/>
          <p:cNvSpPr/>
          <p:nvPr/>
        </p:nvSpPr>
        <p:spPr>
          <a:xfrm>
            <a:off x="822960" y="5074920"/>
            <a:ext cx="4937760" cy="1097280"/>
          </a:xfrm>
          <a:prstGeom prst="rect">
            <a:avLst/>
          </a:prstGeom>
          <a:noFill/>
          <a:ln/>
        </p:spPr>
        <p:txBody>
          <a:bodyPr wrap="square" rtlCol="0" anchor="ctr"/>
          <a:lstStyle/>
          <a:p>
            <a:pPr marL="0" indent="0">
              <a:lnSpc>
                <a:spcPct val="135000"/>
              </a:lnSpc>
              <a:buNone/>
            </a:pPr>
            <a:r>
              <a:rPr lang="en-US" sz="1150" dirty="0">
                <a:solidFill>
                  <a:srgbClr val="9A958A"/>
                </a:solidFill>
                <a:latin typeface="Calibri" pitchFamily="34" charset="0"/>
                <a:ea typeface="Calibri" pitchFamily="34" charset="-122"/>
                <a:cs typeface="Calibri" pitchFamily="34" charset="-120"/>
              </a:rPr>
              <a:t>Pixels on the wipe hub and trailer pages build audiences of engaged visitors, who then see follow-up ads for wipe-prep guides, 'what changed this patch' breakdowns, and edition-upgrade explainers over several weeks.</a:t>
            </a:r>
            <a:endParaRPr lang="en-US" sz="1150" dirty="0"/>
          </a:p>
        </p:txBody>
      </p:sp>
      <p:sp>
        <p:nvSpPr>
          <p:cNvPr id="17" name="Shape 15"/>
          <p:cNvSpPr/>
          <p:nvPr/>
        </p:nvSpPr>
        <p:spPr>
          <a:xfrm>
            <a:off x="6263640" y="4206240"/>
            <a:ext cx="5486400" cy="2011680"/>
          </a:xfrm>
          <a:prstGeom prst="rect">
            <a:avLst/>
          </a:prstGeom>
          <a:solidFill>
            <a:srgbClr val="16181A"/>
          </a:solidFill>
          <a:ln w="9525">
            <a:solidFill>
              <a:srgbClr val="2E3236"/>
            </a:solidFill>
            <a:prstDash val="solid"/>
          </a:ln>
        </p:spPr>
        <p:txBody>
          <a:bodyPr/>
          <a:lstStyle/>
          <a:p>
            <a:endParaRPr lang="en-US"/>
          </a:p>
        </p:txBody>
      </p:sp>
      <p:sp>
        <p:nvSpPr>
          <p:cNvPr id="18" name="Text 16"/>
          <p:cNvSpPr/>
          <p:nvPr/>
        </p:nvSpPr>
        <p:spPr>
          <a:xfrm>
            <a:off x="6537960" y="4389120"/>
            <a:ext cx="4937760" cy="457200"/>
          </a:xfrm>
          <a:prstGeom prst="rect">
            <a:avLst/>
          </a:prstGeom>
          <a:noFill/>
          <a:ln/>
        </p:spPr>
        <p:txBody>
          <a:bodyPr wrap="square" rtlCol="0" anchor="ctr"/>
          <a:lstStyle/>
          <a:p>
            <a:pPr marL="0" indent="0">
              <a:buNone/>
            </a:pPr>
            <a:r>
              <a:rPr lang="en-US" sz="1600" b="1" dirty="0">
                <a:solidFill>
                  <a:srgbClr val="E6E4DE"/>
                </a:solidFill>
                <a:latin typeface="Trebuchet MS" pitchFamily="34" charset="0"/>
                <a:ea typeface="Trebuchet MS" pitchFamily="34" charset="-122"/>
                <a:cs typeface="Trebuchet MS" pitchFamily="34" charset="-120"/>
              </a:rPr>
              <a:t>Defensive clarifying ads</a:t>
            </a:r>
            <a:endParaRPr lang="en-US" sz="1600" dirty="0"/>
          </a:p>
        </p:txBody>
      </p:sp>
      <p:sp>
        <p:nvSpPr>
          <p:cNvPr id="19" name="Shape 17"/>
          <p:cNvSpPr/>
          <p:nvPr/>
        </p:nvSpPr>
        <p:spPr>
          <a:xfrm>
            <a:off x="6537960" y="4937760"/>
            <a:ext cx="365760" cy="0"/>
          </a:xfrm>
          <a:prstGeom prst="line">
            <a:avLst/>
          </a:prstGeom>
          <a:noFill/>
          <a:ln w="19050">
            <a:solidFill>
              <a:srgbClr val="D19900"/>
            </a:solidFill>
            <a:prstDash val="solid"/>
          </a:ln>
        </p:spPr>
        <p:txBody>
          <a:bodyPr/>
          <a:lstStyle/>
          <a:p>
            <a:endParaRPr lang="en-US"/>
          </a:p>
        </p:txBody>
      </p:sp>
      <p:sp>
        <p:nvSpPr>
          <p:cNvPr id="20" name="Text 18"/>
          <p:cNvSpPr/>
          <p:nvPr/>
        </p:nvSpPr>
        <p:spPr>
          <a:xfrm>
            <a:off x="6537960" y="5074920"/>
            <a:ext cx="4937760" cy="1097280"/>
          </a:xfrm>
          <a:prstGeom prst="rect">
            <a:avLst/>
          </a:prstGeom>
          <a:noFill/>
          <a:ln/>
        </p:spPr>
        <p:txBody>
          <a:bodyPr wrap="square" rtlCol="0" anchor="ctr"/>
          <a:lstStyle/>
          <a:p>
            <a:pPr marL="0" indent="0">
              <a:lnSpc>
                <a:spcPct val="135000"/>
              </a:lnSpc>
              <a:buNone/>
            </a:pPr>
            <a:r>
              <a:rPr lang="en-US" sz="1150" dirty="0">
                <a:solidFill>
                  <a:srgbClr val="9A958A"/>
                </a:solidFill>
                <a:latin typeface="Calibri" pitchFamily="34" charset="0"/>
                <a:ea typeface="Calibri" pitchFamily="34" charset="-122"/>
                <a:cs typeface="Calibri" pitchFamily="34" charset="-120"/>
              </a:rPr>
              <a:t>Around controversies like PvE pricing, paid placements point to honest FAQs and developer commentary rather than pure sales pages — ensuring accurate information is widely seen.</a:t>
            </a:r>
            <a:endParaRPr lang="en-US" sz="1150" dirty="0"/>
          </a:p>
        </p:txBody>
      </p:sp>
      <p:sp>
        <p:nvSpPr>
          <p:cNvPr id="21" name="Text 19"/>
          <p:cNvSpPr/>
          <p:nvPr/>
        </p:nvSpPr>
        <p:spPr>
          <a:xfrm>
            <a:off x="548640" y="6080760"/>
            <a:ext cx="11201400" cy="256032"/>
          </a:xfrm>
          <a:prstGeom prst="rect">
            <a:avLst/>
          </a:prstGeom>
          <a:noFill/>
          <a:ln/>
        </p:spPr>
        <p:txBody>
          <a:bodyPr wrap="square" rtlCol="0" anchor="ctr"/>
          <a:lstStyle/>
          <a:p>
            <a:pPr marL="0" indent="0">
              <a:buNone/>
            </a:pPr>
            <a:r>
              <a:rPr lang="en-US" sz="900" dirty="0">
                <a:solidFill>
                  <a:srgbClr val="6A665E"/>
                </a:solidFill>
                <a:latin typeface="Calibri" pitchFamily="34" charset="0"/>
                <a:ea typeface="Calibri" pitchFamily="34" charset="-122"/>
                <a:cs typeface="Calibri" pitchFamily="34" charset="-120"/>
              </a:rPr>
              <a:t>Source: </a:t>
            </a:r>
            <a:r>
              <a:rPr lang="en-US" sz="900" u="sng" dirty="0">
                <a:solidFill>
                  <a:srgbClr val="C96A2B"/>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 Vries, Gensler &amp; Leeflang (2017), Journal of Marketing</a:t>
            </a:r>
            <a:r>
              <a:rPr lang="en-US" sz="900" dirty="0">
                <a:solidFill>
                  <a:srgbClr val="6A665E"/>
                </a:solidFill>
                <a:latin typeface="Calibri" pitchFamily="34" charset="0"/>
                <a:ea typeface="Calibri" pitchFamily="34" charset="-122"/>
                <a:cs typeface="Calibri" pitchFamily="34" charset="-120"/>
              </a:rPr>
              <a:t>, </a:t>
            </a:r>
            <a:r>
              <a:rPr lang="en-US" sz="900" u="sng" dirty="0">
                <a:solidFill>
                  <a:srgbClr val="C96A2B"/>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Meta for Business</a:t>
            </a:r>
            <a:endParaRPr lang="en-US" sz="900" dirty="0"/>
          </a:p>
        </p:txBody>
      </p:sp>
      <p:sp>
        <p:nvSpPr>
          <p:cNvPr id="22" name="Shape 20"/>
          <p:cNvSpPr/>
          <p:nvPr/>
        </p:nvSpPr>
        <p:spPr>
          <a:xfrm>
            <a:off x="457200" y="6565392"/>
            <a:ext cx="11277295" cy="0"/>
          </a:xfrm>
          <a:prstGeom prst="line">
            <a:avLst/>
          </a:prstGeom>
          <a:noFill/>
          <a:ln w="9525">
            <a:solidFill>
              <a:srgbClr val="3A3E42"/>
            </a:solidFill>
            <a:prstDash val="solid"/>
          </a:ln>
        </p:spPr>
        <p:txBody>
          <a:bodyPr/>
          <a:lstStyle/>
          <a:p>
            <a:endParaRPr lang="en-US"/>
          </a:p>
        </p:txBody>
      </p:sp>
      <p:sp>
        <p:nvSpPr>
          <p:cNvPr id="23" name="Text 21"/>
          <p:cNvSpPr/>
          <p:nvPr/>
        </p:nvSpPr>
        <p:spPr>
          <a:xfrm>
            <a:off x="457200" y="6601968"/>
            <a:ext cx="8229600" cy="228600"/>
          </a:xfrm>
          <a:prstGeom prst="rect">
            <a:avLst/>
          </a:prstGeom>
          <a:noFill/>
          <a:ln/>
        </p:spPr>
        <p:txBody>
          <a:bodyPr wrap="square" rtlCol="0" anchor="ctr"/>
          <a:lstStyle/>
          <a:p>
            <a:pPr marL="0" indent="0">
              <a:buNone/>
            </a:pPr>
            <a:r>
              <a:rPr lang="en-US" sz="900" kern="0" spc="200" dirty="0">
                <a:solidFill>
                  <a:srgbClr val="6A665E"/>
                </a:solidFill>
                <a:latin typeface="Calibri" pitchFamily="34" charset="0"/>
                <a:ea typeface="Calibri" pitchFamily="34" charset="-122"/>
                <a:cs typeface="Calibri" pitchFamily="34" charset="-120"/>
              </a:rPr>
              <a:t>TARKOV  ·  CONTENT MARKETING CAMPAIGN  ·  JULIO HERNANDEZ</a:t>
            </a:r>
            <a:endParaRPr lang="en-US" sz="900" dirty="0"/>
          </a:p>
        </p:txBody>
      </p:sp>
      <p:sp>
        <p:nvSpPr>
          <p:cNvPr id="24" name="Text 22"/>
          <p:cNvSpPr/>
          <p:nvPr/>
        </p:nvSpPr>
        <p:spPr>
          <a:xfrm>
            <a:off x="10789920" y="6601968"/>
            <a:ext cx="914400" cy="228600"/>
          </a:xfrm>
          <a:prstGeom prst="rect">
            <a:avLst/>
          </a:prstGeom>
          <a:noFill/>
          <a:ln/>
        </p:spPr>
        <p:txBody>
          <a:bodyPr wrap="square" rtlCol="0" anchor="ctr"/>
          <a:lstStyle/>
          <a:p>
            <a:pPr marL="0" indent="0" algn="r">
              <a:buNone/>
            </a:pPr>
            <a:r>
              <a:rPr lang="en-US" sz="900" dirty="0">
                <a:solidFill>
                  <a:srgbClr val="6A665E"/>
                </a:solidFill>
                <a:latin typeface="Calibri" pitchFamily="34" charset="0"/>
                <a:ea typeface="Calibri" pitchFamily="34" charset="-122"/>
                <a:cs typeface="Calibri"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0F10"/>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274320"/>
          </a:xfrm>
          <a:prstGeom prst="rect">
            <a:avLst/>
          </a:prstGeom>
          <a:noFill/>
          <a:ln/>
        </p:spPr>
        <p:txBody>
          <a:bodyPr wrap="square" rtlCol="0" anchor="ctr"/>
          <a:lstStyle/>
          <a:p>
            <a:pPr marL="0" indent="0">
              <a:buNone/>
            </a:pPr>
            <a:r>
              <a:rPr lang="en-US" sz="1000" b="1" kern="0" spc="400" dirty="0">
                <a:solidFill>
                  <a:srgbClr val="C96A2B"/>
                </a:solidFill>
                <a:latin typeface="Calibri" pitchFamily="34" charset="0"/>
                <a:ea typeface="Calibri" pitchFamily="34" charset="-122"/>
                <a:cs typeface="Calibri" pitchFamily="34" charset="-120"/>
              </a:rPr>
              <a:t>06  ·  PAID MEDIA</a:t>
            </a:r>
            <a:endParaRPr lang="en-US" sz="1000" dirty="0"/>
          </a:p>
        </p:txBody>
      </p:sp>
      <p:sp>
        <p:nvSpPr>
          <p:cNvPr id="3" name="Text 1"/>
          <p:cNvSpPr/>
          <p:nvPr/>
        </p:nvSpPr>
        <p:spPr>
          <a:xfrm>
            <a:off x="548640" y="804672"/>
            <a:ext cx="10972800" cy="685800"/>
          </a:xfrm>
          <a:prstGeom prst="rect">
            <a:avLst/>
          </a:prstGeom>
          <a:noFill/>
          <a:ln/>
        </p:spPr>
        <p:txBody>
          <a:bodyPr wrap="square" rtlCol="0" anchor="ctr"/>
          <a:lstStyle/>
          <a:p>
            <a:pPr marL="0" indent="0">
              <a:buNone/>
            </a:pPr>
            <a:r>
              <a:rPr lang="en-US" sz="3200" b="1" dirty="0">
                <a:solidFill>
                  <a:srgbClr val="E6E4DE"/>
                </a:solidFill>
                <a:latin typeface="Trebuchet MS" pitchFamily="34" charset="0"/>
                <a:ea typeface="Trebuchet MS" pitchFamily="34" charset="-122"/>
                <a:cs typeface="Trebuchet MS" pitchFamily="34" charset="-120"/>
              </a:rPr>
              <a:t>Measurement tools and success metrics</a:t>
            </a:r>
            <a:endParaRPr lang="en-US" sz="3200" dirty="0"/>
          </a:p>
        </p:txBody>
      </p:sp>
      <p:sp>
        <p:nvSpPr>
          <p:cNvPr id="4" name="Shape 2"/>
          <p:cNvSpPr/>
          <p:nvPr/>
        </p:nvSpPr>
        <p:spPr>
          <a:xfrm>
            <a:off x="548640" y="1536192"/>
            <a:ext cx="1005840" cy="54864"/>
          </a:xfrm>
          <a:prstGeom prst="rect">
            <a:avLst/>
          </a:prstGeom>
          <a:solidFill>
            <a:srgbClr val="D19900"/>
          </a:solidFill>
          <a:ln/>
        </p:spPr>
        <p:txBody>
          <a:bodyPr/>
          <a:lstStyle/>
          <a:p>
            <a:endParaRPr lang="en-US"/>
          </a:p>
        </p:txBody>
      </p:sp>
      <p:sp>
        <p:nvSpPr>
          <p:cNvPr id="5" name="Shape 3"/>
          <p:cNvSpPr/>
          <p:nvPr/>
        </p:nvSpPr>
        <p:spPr>
          <a:xfrm>
            <a:off x="548640" y="1965960"/>
            <a:ext cx="11201400" cy="457200"/>
          </a:xfrm>
          <a:prstGeom prst="rect">
            <a:avLst/>
          </a:prstGeom>
          <a:solidFill>
            <a:srgbClr val="1D2023"/>
          </a:solidFill>
          <a:ln w="9525">
            <a:solidFill>
              <a:srgbClr val="2E3236"/>
            </a:solidFill>
            <a:prstDash val="solid"/>
          </a:ln>
        </p:spPr>
        <p:txBody>
          <a:bodyPr/>
          <a:lstStyle/>
          <a:p>
            <a:endParaRPr lang="en-US"/>
          </a:p>
        </p:txBody>
      </p:sp>
      <p:sp>
        <p:nvSpPr>
          <p:cNvPr id="6" name="Text 4"/>
          <p:cNvSpPr/>
          <p:nvPr/>
        </p:nvSpPr>
        <p:spPr>
          <a:xfrm>
            <a:off x="777240" y="1965960"/>
            <a:ext cx="2651760" cy="457200"/>
          </a:xfrm>
          <a:prstGeom prst="rect">
            <a:avLst/>
          </a:prstGeom>
          <a:noFill/>
          <a:ln/>
        </p:spPr>
        <p:txBody>
          <a:bodyPr wrap="square" rtlCol="0" anchor="ctr"/>
          <a:lstStyle/>
          <a:p>
            <a:pPr marL="0" indent="0">
              <a:buNone/>
            </a:pPr>
            <a:r>
              <a:rPr lang="en-US" sz="1000" b="1" kern="0" spc="200" dirty="0">
                <a:solidFill>
                  <a:srgbClr val="C96A2B"/>
                </a:solidFill>
                <a:latin typeface="Calibri" pitchFamily="34" charset="0"/>
                <a:ea typeface="Calibri" pitchFamily="34" charset="-122"/>
                <a:cs typeface="Calibri" pitchFamily="34" charset="-120"/>
              </a:rPr>
              <a:t>TOOL</a:t>
            </a:r>
            <a:endParaRPr lang="en-US" sz="1000" dirty="0"/>
          </a:p>
        </p:txBody>
      </p:sp>
      <p:sp>
        <p:nvSpPr>
          <p:cNvPr id="7" name="Text 5"/>
          <p:cNvSpPr/>
          <p:nvPr/>
        </p:nvSpPr>
        <p:spPr>
          <a:xfrm>
            <a:off x="3703320" y="1965960"/>
            <a:ext cx="3200400" cy="457200"/>
          </a:xfrm>
          <a:prstGeom prst="rect">
            <a:avLst/>
          </a:prstGeom>
          <a:noFill/>
          <a:ln/>
        </p:spPr>
        <p:txBody>
          <a:bodyPr wrap="square" rtlCol="0" anchor="ctr"/>
          <a:lstStyle/>
          <a:p>
            <a:pPr marL="0" indent="0">
              <a:buNone/>
            </a:pPr>
            <a:r>
              <a:rPr lang="en-US" sz="1000" b="1" kern="0" spc="200" dirty="0">
                <a:solidFill>
                  <a:srgbClr val="C96A2B"/>
                </a:solidFill>
                <a:latin typeface="Calibri" pitchFamily="34" charset="0"/>
                <a:ea typeface="Calibri" pitchFamily="34" charset="-122"/>
                <a:cs typeface="Calibri" pitchFamily="34" charset="-120"/>
              </a:rPr>
              <a:t>PURPOSE</a:t>
            </a:r>
            <a:endParaRPr lang="en-US" sz="1000" dirty="0"/>
          </a:p>
        </p:txBody>
      </p:sp>
      <p:sp>
        <p:nvSpPr>
          <p:cNvPr id="8" name="Text 6"/>
          <p:cNvSpPr/>
          <p:nvPr/>
        </p:nvSpPr>
        <p:spPr>
          <a:xfrm>
            <a:off x="7178040" y="1965960"/>
            <a:ext cx="4526280" cy="457200"/>
          </a:xfrm>
          <a:prstGeom prst="rect">
            <a:avLst/>
          </a:prstGeom>
          <a:noFill/>
          <a:ln/>
        </p:spPr>
        <p:txBody>
          <a:bodyPr wrap="square" rtlCol="0" anchor="ctr"/>
          <a:lstStyle/>
          <a:p>
            <a:pPr marL="0" indent="0">
              <a:buNone/>
            </a:pPr>
            <a:r>
              <a:rPr lang="en-US" sz="1000" b="1" kern="0" spc="200" dirty="0">
                <a:solidFill>
                  <a:srgbClr val="C96A2B"/>
                </a:solidFill>
                <a:latin typeface="Calibri" pitchFamily="34" charset="0"/>
                <a:ea typeface="Calibri" pitchFamily="34" charset="-122"/>
                <a:cs typeface="Calibri" pitchFamily="34" charset="-120"/>
              </a:rPr>
              <a:t>KEY METRICS</a:t>
            </a:r>
            <a:endParaRPr lang="en-US" sz="1000" dirty="0"/>
          </a:p>
        </p:txBody>
      </p:sp>
      <p:sp>
        <p:nvSpPr>
          <p:cNvPr id="9" name="Shape 7"/>
          <p:cNvSpPr/>
          <p:nvPr/>
        </p:nvSpPr>
        <p:spPr>
          <a:xfrm>
            <a:off x="548640" y="2423160"/>
            <a:ext cx="11201400" cy="566928"/>
          </a:xfrm>
          <a:prstGeom prst="rect">
            <a:avLst/>
          </a:prstGeom>
          <a:solidFill>
            <a:srgbClr val="16181A"/>
          </a:solidFill>
          <a:ln w="6350">
            <a:solidFill>
              <a:srgbClr val="2E3236"/>
            </a:solidFill>
            <a:prstDash val="solid"/>
          </a:ln>
        </p:spPr>
        <p:txBody>
          <a:bodyPr/>
          <a:lstStyle/>
          <a:p>
            <a:endParaRPr lang="en-US"/>
          </a:p>
        </p:txBody>
      </p:sp>
      <p:sp>
        <p:nvSpPr>
          <p:cNvPr id="10" name="Text 8"/>
          <p:cNvSpPr/>
          <p:nvPr/>
        </p:nvSpPr>
        <p:spPr>
          <a:xfrm>
            <a:off x="777240" y="2423160"/>
            <a:ext cx="2651760" cy="566928"/>
          </a:xfrm>
          <a:prstGeom prst="rect">
            <a:avLst/>
          </a:prstGeom>
          <a:noFill/>
          <a:ln/>
        </p:spPr>
        <p:txBody>
          <a:bodyPr wrap="square" rtlCol="0" anchor="ctr"/>
          <a:lstStyle/>
          <a:p>
            <a:pPr marL="0" indent="0">
              <a:buNone/>
            </a:pPr>
            <a:r>
              <a:rPr lang="en-US" sz="1200" b="1" dirty="0">
                <a:solidFill>
                  <a:srgbClr val="E6E4DE"/>
                </a:solidFill>
                <a:latin typeface="Calibri" pitchFamily="34" charset="0"/>
                <a:ea typeface="Calibri" pitchFamily="34" charset="-122"/>
                <a:cs typeface="Calibri" pitchFamily="34" charset="-120"/>
              </a:rPr>
              <a:t>Meta Ads Manager</a:t>
            </a:r>
            <a:endParaRPr lang="en-US" sz="1200" dirty="0"/>
          </a:p>
        </p:txBody>
      </p:sp>
      <p:sp>
        <p:nvSpPr>
          <p:cNvPr id="11" name="Text 9"/>
          <p:cNvSpPr/>
          <p:nvPr/>
        </p:nvSpPr>
        <p:spPr>
          <a:xfrm>
            <a:off x="3703320" y="2423160"/>
            <a:ext cx="3200400" cy="566928"/>
          </a:xfrm>
          <a:prstGeom prst="rect">
            <a:avLst/>
          </a:prstGeom>
          <a:noFill/>
          <a:ln/>
        </p:spPr>
        <p:txBody>
          <a:bodyPr wrap="square" rtlCol="0" anchor="ctr"/>
          <a:lstStyle/>
          <a:p>
            <a:pPr marL="0" indent="0">
              <a:buNone/>
            </a:pPr>
            <a:r>
              <a:rPr lang="en-US" sz="1100" dirty="0">
                <a:solidFill>
                  <a:srgbClr val="9A958A"/>
                </a:solidFill>
                <a:latin typeface="Calibri" pitchFamily="34" charset="0"/>
                <a:ea typeface="Calibri" pitchFamily="34" charset="-122"/>
                <a:cs typeface="Calibri" pitchFamily="34" charset="-120"/>
              </a:rPr>
              <a:t>Facebook &amp; Instagram campaigns</a:t>
            </a:r>
            <a:endParaRPr lang="en-US" sz="1100" dirty="0"/>
          </a:p>
        </p:txBody>
      </p:sp>
      <p:sp>
        <p:nvSpPr>
          <p:cNvPr id="12" name="Text 10"/>
          <p:cNvSpPr/>
          <p:nvPr/>
        </p:nvSpPr>
        <p:spPr>
          <a:xfrm>
            <a:off x="7178040" y="2423160"/>
            <a:ext cx="4526280" cy="566928"/>
          </a:xfrm>
          <a:prstGeom prst="rect">
            <a:avLst/>
          </a:prstGeom>
          <a:noFill/>
          <a:ln/>
        </p:spPr>
        <p:txBody>
          <a:bodyPr wrap="square" rtlCol="0" anchor="ctr"/>
          <a:lstStyle/>
          <a:p>
            <a:pPr marL="0" indent="0">
              <a:buNone/>
            </a:pPr>
            <a:r>
              <a:rPr lang="en-US" sz="1050" dirty="0">
                <a:solidFill>
                  <a:srgbClr val="E6E4DE"/>
                </a:solidFill>
                <a:latin typeface="Calibri" pitchFamily="34" charset="0"/>
                <a:ea typeface="Calibri" pitchFamily="34" charset="-122"/>
                <a:cs typeface="Calibri" pitchFamily="34" charset="-120"/>
              </a:rPr>
              <a:t>CPM, CPC, CTR, video views, cost per landing-page view</a:t>
            </a:r>
            <a:endParaRPr lang="en-US" sz="1050" dirty="0"/>
          </a:p>
        </p:txBody>
      </p:sp>
      <p:sp>
        <p:nvSpPr>
          <p:cNvPr id="13" name="Shape 11"/>
          <p:cNvSpPr/>
          <p:nvPr/>
        </p:nvSpPr>
        <p:spPr>
          <a:xfrm>
            <a:off x="548640" y="2990088"/>
            <a:ext cx="11201400" cy="566928"/>
          </a:xfrm>
          <a:prstGeom prst="rect">
            <a:avLst/>
          </a:prstGeom>
          <a:solidFill>
            <a:srgbClr val="0E0F10"/>
          </a:solidFill>
          <a:ln w="6350">
            <a:solidFill>
              <a:srgbClr val="2E3236"/>
            </a:solidFill>
            <a:prstDash val="solid"/>
          </a:ln>
        </p:spPr>
        <p:txBody>
          <a:bodyPr/>
          <a:lstStyle/>
          <a:p>
            <a:endParaRPr lang="en-US"/>
          </a:p>
        </p:txBody>
      </p:sp>
      <p:sp>
        <p:nvSpPr>
          <p:cNvPr id="14" name="Text 12"/>
          <p:cNvSpPr/>
          <p:nvPr/>
        </p:nvSpPr>
        <p:spPr>
          <a:xfrm>
            <a:off x="777240" y="2990088"/>
            <a:ext cx="2651760" cy="566928"/>
          </a:xfrm>
          <a:prstGeom prst="rect">
            <a:avLst/>
          </a:prstGeom>
          <a:noFill/>
          <a:ln/>
        </p:spPr>
        <p:txBody>
          <a:bodyPr wrap="square" rtlCol="0" anchor="ctr"/>
          <a:lstStyle/>
          <a:p>
            <a:pPr marL="0" indent="0">
              <a:buNone/>
            </a:pPr>
            <a:r>
              <a:rPr lang="en-US" sz="1200" b="1" dirty="0">
                <a:solidFill>
                  <a:srgbClr val="E6E4DE"/>
                </a:solidFill>
                <a:latin typeface="Calibri" pitchFamily="34" charset="0"/>
                <a:ea typeface="Calibri" pitchFamily="34" charset="-122"/>
                <a:cs typeface="Calibri" pitchFamily="34" charset="-120"/>
              </a:rPr>
              <a:t>TikTok Ads Manager</a:t>
            </a:r>
            <a:endParaRPr lang="en-US" sz="1200" dirty="0"/>
          </a:p>
        </p:txBody>
      </p:sp>
      <p:sp>
        <p:nvSpPr>
          <p:cNvPr id="15" name="Text 13"/>
          <p:cNvSpPr/>
          <p:nvPr/>
        </p:nvSpPr>
        <p:spPr>
          <a:xfrm>
            <a:off x="3703320" y="2990088"/>
            <a:ext cx="3200400" cy="566928"/>
          </a:xfrm>
          <a:prstGeom prst="rect">
            <a:avLst/>
          </a:prstGeom>
          <a:noFill/>
          <a:ln/>
        </p:spPr>
        <p:txBody>
          <a:bodyPr wrap="square" rtlCol="0" anchor="ctr"/>
          <a:lstStyle/>
          <a:p>
            <a:pPr marL="0" indent="0">
              <a:buNone/>
            </a:pPr>
            <a:r>
              <a:rPr lang="en-US" sz="1100" dirty="0">
                <a:solidFill>
                  <a:srgbClr val="9A958A"/>
                </a:solidFill>
                <a:latin typeface="Calibri" pitchFamily="34" charset="0"/>
                <a:ea typeface="Calibri" pitchFamily="34" charset="-122"/>
                <a:cs typeface="Calibri" pitchFamily="34" charset="-120"/>
              </a:rPr>
              <a:t>Vertical short-form boosts</a:t>
            </a:r>
            <a:endParaRPr lang="en-US" sz="1100" dirty="0"/>
          </a:p>
        </p:txBody>
      </p:sp>
      <p:sp>
        <p:nvSpPr>
          <p:cNvPr id="16" name="Text 14"/>
          <p:cNvSpPr/>
          <p:nvPr/>
        </p:nvSpPr>
        <p:spPr>
          <a:xfrm>
            <a:off x="7178040" y="2990088"/>
            <a:ext cx="4526280" cy="566928"/>
          </a:xfrm>
          <a:prstGeom prst="rect">
            <a:avLst/>
          </a:prstGeom>
          <a:noFill/>
          <a:ln/>
        </p:spPr>
        <p:txBody>
          <a:bodyPr wrap="square" rtlCol="0" anchor="ctr"/>
          <a:lstStyle/>
          <a:p>
            <a:pPr marL="0" indent="0">
              <a:buNone/>
            </a:pPr>
            <a:r>
              <a:rPr lang="en-US" sz="1050" dirty="0">
                <a:solidFill>
                  <a:srgbClr val="E6E4DE"/>
                </a:solidFill>
                <a:latin typeface="Calibri" pitchFamily="34" charset="0"/>
                <a:ea typeface="Calibri" pitchFamily="34" charset="-122"/>
                <a:cs typeface="Calibri" pitchFamily="34" charset="-120"/>
              </a:rPr>
              <a:t>Views, engagement rate, cost per 1,000 impressions, follows</a:t>
            </a:r>
            <a:endParaRPr lang="en-US" sz="1050" dirty="0"/>
          </a:p>
        </p:txBody>
      </p:sp>
      <p:sp>
        <p:nvSpPr>
          <p:cNvPr id="17" name="Shape 15"/>
          <p:cNvSpPr/>
          <p:nvPr/>
        </p:nvSpPr>
        <p:spPr>
          <a:xfrm>
            <a:off x="548640" y="3557016"/>
            <a:ext cx="11201400" cy="566928"/>
          </a:xfrm>
          <a:prstGeom prst="rect">
            <a:avLst/>
          </a:prstGeom>
          <a:solidFill>
            <a:srgbClr val="16181A"/>
          </a:solidFill>
          <a:ln w="6350">
            <a:solidFill>
              <a:srgbClr val="2E3236"/>
            </a:solidFill>
            <a:prstDash val="solid"/>
          </a:ln>
        </p:spPr>
        <p:txBody>
          <a:bodyPr/>
          <a:lstStyle/>
          <a:p>
            <a:endParaRPr lang="en-US"/>
          </a:p>
        </p:txBody>
      </p:sp>
      <p:sp>
        <p:nvSpPr>
          <p:cNvPr id="18" name="Text 16"/>
          <p:cNvSpPr/>
          <p:nvPr/>
        </p:nvSpPr>
        <p:spPr>
          <a:xfrm>
            <a:off x="777240" y="3557016"/>
            <a:ext cx="2651760" cy="566928"/>
          </a:xfrm>
          <a:prstGeom prst="rect">
            <a:avLst/>
          </a:prstGeom>
          <a:noFill/>
          <a:ln/>
        </p:spPr>
        <p:txBody>
          <a:bodyPr wrap="square" rtlCol="0" anchor="ctr"/>
          <a:lstStyle/>
          <a:p>
            <a:pPr marL="0" indent="0">
              <a:buNone/>
            </a:pPr>
            <a:r>
              <a:rPr lang="en-US" sz="1200" b="1" dirty="0">
                <a:solidFill>
                  <a:srgbClr val="E6E4DE"/>
                </a:solidFill>
                <a:latin typeface="Calibri" pitchFamily="34" charset="0"/>
                <a:ea typeface="Calibri" pitchFamily="34" charset="-122"/>
                <a:cs typeface="Calibri" pitchFamily="34" charset="-120"/>
              </a:rPr>
              <a:t>Google Ads + Analytics 4</a:t>
            </a:r>
            <a:endParaRPr lang="en-US" sz="1200" dirty="0"/>
          </a:p>
        </p:txBody>
      </p:sp>
      <p:sp>
        <p:nvSpPr>
          <p:cNvPr id="19" name="Text 17"/>
          <p:cNvSpPr/>
          <p:nvPr/>
        </p:nvSpPr>
        <p:spPr>
          <a:xfrm>
            <a:off x="3703320" y="3557016"/>
            <a:ext cx="3200400" cy="566928"/>
          </a:xfrm>
          <a:prstGeom prst="rect">
            <a:avLst/>
          </a:prstGeom>
          <a:noFill/>
          <a:ln/>
        </p:spPr>
        <p:txBody>
          <a:bodyPr wrap="square" rtlCol="0" anchor="ctr"/>
          <a:lstStyle/>
          <a:p>
            <a:pPr marL="0" indent="0">
              <a:buNone/>
            </a:pPr>
            <a:r>
              <a:rPr lang="en-US" sz="1100" dirty="0">
                <a:solidFill>
                  <a:srgbClr val="9A958A"/>
                </a:solidFill>
                <a:latin typeface="Calibri" pitchFamily="34" charset="0"/>
                <a:ea typeface="Calibri" pitchFamily="34" charset="-122"/>
                <a:cs typeface="Calibri" pitchFamily="34" charset="-120"/>
              </a:rPr>
              <a:t>YouTube pre-roll &amp; display</a:t>
            </a:r>
            <a:endParaRPr lang="en-US" sz="1100" dirty="0"/>
          </a:p>
        </p:txBody>
      </p:sp>
      <p:sp>
        <p:nvSpPr>
          <p:cNvPr id="20" name="Text 18"/>
          <p:cNvSpPr/>
          <p:nvPr/>
        </p:nvSpPr>
        <p:spPr>
          <a:xfrm>
            <a:off x="7178040" y="3557016"/>
            <a:ext cx="4526280" cy="566928"/>
          </a:xfrm>
          <a:prstGeom prst="rect">
            <a:avLst/>
          </a:prstGeom>
          <a:noFill/>
          <a:ln/>
        </p:spPr>
        <p:txBody>
          <a:bodyPr wrap="square" rtlCol="0" anchor="ctr"/>
          <a:lstStyle/>
          <a:p>
            <a:pPr marL="0" indent="0">
              <a:buNone/>
            </a:pPr>
            <a:r>
              <a:rPr lang="en-US" sz="1050" dirty="0">
                <a:solidFill>
                  <a:srgbClr val="E6E4DE"/>
                </a:solidFill>
                <a:latin typeface="Calibri" pitchFamily="34" charset="0"/>
                <a:ea typeface="Calibri" pitchFamily="34" charset="-122"/>
                <a:cs typeface="Calibri" pitchFamily="34" charset="-120"/>
              </a:rPr>
              <a:t>View-through rate, CPV, conversions, post-click engagement</a:t>
            </a:r>
            <a:endParaRPr lang="en-US" sz="1050" dirty="0"/>
          </a:p>
        </p:txBody>
      </p:sp>
      <p:sp>
        <p:nvSpPr>
          <p:cNvPr id="21" name="Shape 19"/>
          <p:cNvSpPr/>
          <p:nvPr/>
        </p:nvSpPr>
        <p:spPr>
          <a:xfrm>
            <a:off x="548640" y="4123944"/>
            <a:ext cx="11201400" cy="566928"/>
          </a:xfrm>
          <a:prstGeom prst="rect">
            <a:avLst/>
          </a:prstGeom>
          <a:solidFill>
            <a:srgbClr val="0E0F10"/>
          </a:solidFill>
          <a:ln w="6350">
            <a:solidFill>
              <a:srgbClr val="2E3236"/>
            </a:solidFill>
            <a:prstDash val="solid"/>
          </a:ln>
        </p:spPr>
        <p:txBody>
          <a:bodyPr/>
          <a:lstStyle/>
          <a:p>
            <a:endParaRPr lang="en-US"/>
          </a:p>
        </p:txBody>
      </p:sp>
      <p:sp>
        <p:nvSpPr>
          <p:cNvPr id="22" name="Text 20"/>
          <p:cNvSpPr/>
          <p:nvPr/>
        </p:nvSpPr>
        <p:spPr>
          <a:xfrm>
            <a:off x="777240" y="4123944"/>
            <a:ext cx="2651760" cy="566928"/>
          </a:xfrm>
          <a:prstGeom prst="rect">
            <a:avLst/>
          </a:prstGeom>
          <a:noFill/>
          <a:ln/>
        </p:spPr>
        <p:txBody>
          <a:bodyPr wrap="square" rtlCol="0" anchor="ctr"/>
          <a:lstStyle/>
          <a:p>
            <a:pPr marL="0" indent="0">
              <a:buNone/>
            </a:pPr>
            <a:r>
              <a:rPr lang="en-US" sz="1200" b="1" dirty="0">
                <a:solidFill>
                  <a:srgbClr val="E6E4DE"/>
                </a:solidFill>
                <a:latin typeface="Calibri" pitchFamily="34" charset="0"/>
                <a:ea typeface="Calibri" pitchFamily="34" charset="-122"/>
                <a:cs typeface="Calibri" pitchFamily="34" charset="-120"/>
              </a:rPr>
              <a:t>GA4 + Meta Cost Import</a:t>
            </a:r>
            <a:endParaRPr lang="en-US" sz="1200" dirty="0"/>
          </a:p>
        </p:txBody>
      </p:sp>
      <p:sp>
        <p:nvSpPr>
          <p:cNvPr id="23" name="Text 21"/>
          <p:cNvSpPr/>
          <p:nvPr/>
        </p:nvSpPr>
        <p:spPr>
          <a:xfrm>
            <a:off x="3703320" y="4123944"/>
            <a:ext cx="3200400" cy="566928"/>
          </a:xfrm>
          <a:prstGeom prst="rect">
            <a:avLst/>
          </a:prstGeom>
          <a:noFill/>
          <a:ln/>
        </p:spPr>
        <p:txBody>
          <a:bodyPr wrap="square" rtlCol="0" anchor="ctr"/>
          <a:lstStyle/>
          <a:p>
            <a:pPr marL="0" indent="0">
              <a:buNone/>
            </a:pPr>
            <a:r>
              <a:rPr lang="en-US" sz="1100" dirty="0">
                <a:solidFill>
                  <a:srgbClr val="9A958A"/>
                </a:solidFill>
                <a:latin typeface="Calibri" pitchFamily="34" charset="0"/>
                <a:ea typeface="Calibri" pitchFamily="34" charset="-122"/>
                <a:cs typeface="Calibri" pitchFamily="34" charset="-120"/>
              </a:rPr>
              <a:t>Cross-channel attribution</a:t>
            </a:r>
            <a:endParaRPr lang="en-US" sz="1100" dirty="0"/>
          </a:p>
        </p:txBody>
      </p:sp>
      <p:sp>
        <p:nvSpPr>
          <p:cNvPr id="24" name="Text 22"/>
          <p:cNvSpPr/>
          <p:nvPr/>
        </p:nvSpPr>
        <p:spPr>
          <a:xfrm>
            <a:off x="7178040" y="4123944"/>
            <a:ext cx="4526280" cy="566928"/>
          </a:xfrm>
          <a:prstGeom prst="rect">
            <a:avLst/>
          </a:prstGeom>
          <a:noFill/>
          <a:ln/>
        </p:spPr>
        <p:txBody>
          <a:bodyPr wrap="square" rtlCol="0" anchor="ctr"/>
          <a:lstStyle/>
          <a:p>
            <a:pPr marL="0" indent="0">
              <a:buNone/>
            </a:pPr>
            <a:r>
              <a:rPr lang="en-US" sz="1050" dirty="0">
                <a:solidFill>
                  <a:srgbClr val="E6E4DE"/>
                </a:solidFill>
                <a:latin typeface="Calibri" pitchFamily="34" charset="0"/>
                <a:ea typeface="Calibri" pitchFamily="34" charset="-122"/>
                <a:cs typeface="Calibri" pitchFamily="34" charset="-120"/>
              </a:rPr>
              <a:t>ROAS, cost per conversion, assisted conversions, journey paths</a:t>
            </a:r>
            <a:endParaRPr lang="en-US" sz="1050" dirty="0"/>
          </a:p>
        </p:txBody>
      </p:sp>
      <p:sp>
        <p:nvSpPr>
          <p:cNvPr id="25" name="Shape 23"/>
          <p:cNvSpPr/>
          <p:nvPr/>
        </p:nvSpPr>
        <p:spPr>
          <a:xfrm>
            <a:off x="548640" y="4690872"/>
            <a:ext cx="11201400" cy="566928"/>
          </a:xfrm>
          <a:prstGeom prst="rect">
            <a:avLst/>
          </a:prstGeom>
          <a:solidFill>
            <a:srgbClr val="16181A"/>
          </a:solidFill>
          <a:ln w="6350">
            <a:solidFill>
              <a:srgbClr val="2E3236"/>
            </a:solidFill>
            <a:prstDash val="solid"/>
          </a:ln>
        </p:spPr>
        <p:txBody>
          <a:bodyPr/>
          <a:lstStyle/>
          <a:p>
            <a:endParaRPr lang="en-US"/>
          </a:p>
        </p:txBody>
      </p:sp>
      <p:sp>
        <p:nvSpPr>
          <p:cNvPr id="26" name="Text 24"/>
          <p:cNvSpPr/>
          <p:nvPr/>
        </p:nvSpPr>
        <p:spPr>
          <a:xfrm>
            <a:off x="777240" y="4690872"/>
            <a:ext cx="2651760" cy="566928"/>
          </a:xfrm>
          <a:prstGeom prst="rect">
            <a:avLst/>
          </a:prstGeom>
          <a:noFill/>
          <a:ln/>
        </p:spPr>
        <p:txBody>
          <a:bodyPr wrap="square" rtlCol="0" anchor="ctr"/>
          <a:lstStyle/>
          <a:p>
            <a:pPr marL="0" indent="0">
              <a:buNone/>
            </a:pPr>
            <a:r>
              <a:rPr lang="en-US" sz="1200" b="1" dirty="0">
                <a:solidFill>
                  <a:srgbClr val="E6E4DE"/>
                </a:solidFill>
                <a:latin typeface="Calibri" pitchFamily="34" charset="0"/>
                <a:ea typeface="Calibri" pitchFamily="34" charset="-122"/>
                <a:cs typeface="Calibri" pitchFamily="34" charset="-120"/>
              </a:rPr>
              <a:t>Meta Pixel</a:t>
            </a:r>
            <a:endParaRPr lang="en-US" sz="1200" dirty="0"/>
          </a:p>
        </p:txBody>
      </p:sp>
      <p:sp>
        <p:nvSpPr>
          <p:cNvPr id="27" name="Text 25"/>
          <p:cNvSpPr/>
          <p:nvPr/>
        </p:nvSpPr>
        <p:spPr>
          <a:xfrm>
            <a:off x="3703320" y="4690872"/>
            <a:ext cx="3200400" cy="566928"/>
          </a:xfrm>
          <a:prstGeom prst="rect">
            <a:avLst/>
          </a:prstGeom>
          <a:noFill/>
          <a:ln/>
        </p:spPr>
        <p:txBody>
          <a:bodyPr wrap="square" rtlCol="0" anchor="ctr"/>
          <a:lstStyle/>
          <a:p>
            <a:pPr marL="0" indent="0">
              <a:buNone/>
            </a:pPr>
            <a:r>
              <a:rPr lang="en-US" sz="1100" dirty="0">
                <a:solidFill>
                  <a:srgbClr val="9A958A"/>
                </a:solidFill>
                <a:latin typeface="Calibri" pitchFamily="34" charset="0"/>
                <a:ea typeface="Calibri" pitchFamily="34" charset="-122"/>
                <a:cs typeface="Calibri" pitchFamily="34" charset="-120"/>
              </a:rPr>
              <a:t>Retargeting audience building</a:t>
            </a:r>
            <a:endParaRPr lang="en-US" sz="1100" dirty="0"/>
          </a:p>
        </p:txBody>
      </p:sp>
      <p:sp>
        <p:nvSpPr>
          <p:cNvPr id="28" name="Text 26"/>
          <p:cNvSpPr/>
          <p:nvPr/>
        </p:nvSpPr>
        <p:spPr>
          <a:xfrm>
            <a:off x="7178040" y="4690872"/>
            <a:ext cx="4526280" cy="566928"/>
          </a:xfrm>
          <a:prstGeom prst="rect">
            <a:avLst/>
          </a:prstGeom>
          <a:noFill/>
          <a:ln/>
        </p:spPr>
        <p:txBody>
          <a:bodyPr wrap="square" rtlCol="0" anchor="ctr"/>
          <a:lstStyle/>
          <a:p>
            <a:pPr marL="0" indent="0">
              <a:buNone/>
            </a:pPr>
            <a:r>
              <a:rPr lang="en-US" sz="1050" dirty="0">
                <a:solidFill>
                  <a:srgbClr val="E6E4DE"/>
                </a:solidFill>
                <a:latin typeface="Calibri" pitchFamily="34" charset="0"/>
                <a:ea typeface="Calibri" pitchFamily="34" charset="-122"/>
                <a:cs typeface="Calibri" pitchFamily="34" charset="-120"/>
              </a:rPr>
              <a:t>Pixel events fired, audience size, retargeted conversion rate</a:t>
            </a:r>
            <a:endParaRPr lang="en-US" sz="1050" dirty="0"/>
          </a:p>
        </p:txBody>
      </p:sp>
      <p:sp>
        <p:nvSpPr>
          <p:cNvPr id="29" name="Shape 27"/>
          <p:cNvSpPr/>
          <p:nvPr/>
        </p:nvSpPr>
        <p:spPr>
          <a:xfrm>
            <a:off x="548640" y="5257800"/>
            <a:ext cx="11201400" cy="566928"/>
          </a:xfrm>
          <a:prstGeom prst="rect">
            <a:avLst/>
          </a:prstGeom>
          <a:solidFill>
            <a:srgbClr val="0E0F10"/>
          </a:solidFill>
          <a:ln w="6350">
            <a:solidFill>
              <a:srgbClr val="2E3236"/>
            </a:solidFill>
            <a:prstDash val="solid"/>
          </a:ln>
        </p:spPr>
        <p:txBody>
          <a:bodyPr/>
          <a:lstStyle/>
          <a:p>
            <a:endParaRPr lang="en-US"/>
          </a:p>
        </p:txBody>
      </p:sp>
      <p:sp>
        <p:nvSpPr>
          <p:cNvPr id="30" name="Text 28"/>
          <p:cNvSpPr/>
          <p:nvPr/>
        </p:nvSpPr>
        <p:spPr>
          <a:xfrm>
            <a:off x="777240" y="5257800"/>
            <a:ext cx="2651760" cy="566928"/>
          </a:xfrm>
          <a:prstGeom prst="rect">
            <a:avLst/>
          </a:prstGeom>
          <a:noFill/>
          <a:ln/>
        </p:spPr>
        <p:txBody>
          <a:bodyPr wrap="square" rtlCol="0" anchor="ctr"/>
          <a:lstStyle/>
          <a:p>
            <a:pPr marL="0" indent="0">
              <a:buNone/>
            </a:pPr>
            <a:r>
              <a:rPr lang="en-US" sz="1200" b="1" dirty="0">
                <a:solidFill>
                  <a:srgbClr val="E6E4DE"/>
                </a:solidFill>
                <a:latin typeface="Calibri" pitchFamily="34" charset="0"/>
                <a:ea typeface="Calibri" pitchFamily="34" charset="-122"/>
                <a:cs typeface="Calibri" pitchFamily="34" charset="-120"/>
              </a:rPr>
              <a:t>Supermetrics / Looker Studio</a:t>
            </a:r>
            <a:endParaRPr lang="en-US" sz="1200" dirty="0"/>
          </a:p>
        </p:txBody>
      </p:sp>
      <p:sp>
        <p:nvSpPr>
          <p:cNvPr id="31" name="Text 29"/>
          <p:cNvSpPr/>
          <p:nvPr/>
        </p:nvSpPr>
        <p:spPr>
          <a:xfrm>
            <a:off x="3703320" y="5257800"/>
            <a:ext cx="3200400" cy="566928"/>
          </a:xfrm>
          <a:prstGeom prst="rect">
            <a:avLst/>
          </a:prstGeom>
          <a:noFill/>
          <a:ln/>
        </p:spPr>
        <p:txBody>
          <a:bodyPr wrap="square" rtlCol="0" anchor="ctr"/>
          <a:lstStyle/>
          <a:p>
            <a:pPr marL="0" indent="0">
              <a:buNone/>
            </a:pPr>
            <a:r>
              <a:rPr lang="en-US" sz="1100" dirty="0">
                <a:solidFill>
                  <a:srgbClr val="9A958A"/>
                </a:solidFill>
                <a:latin typeface="Calibri" pitchFamily="34" charset="0"/>
                <a:ea typeface="Calibri" pitchFamily="34" charset="-122"/>
                <a:cs typeface="Calibri" pitchFamily="34" charset="-120"/>
              </a:rPr>
              <a:t>Unified reporting dashboard</a:t>
            </a:r>
            <a:endParaRPr lang="en-US" sz="1100" dirty="0"/>
          </a:p>
        </p:txBody>
      </p:sp>
      <p:sp>
        <p:nvSpPr>
          <p:cNvPr id="32" name="Text 30"/>
          <p:cNvSpPr/>
          <p:nvPr/>
        </p:nvSpPr>
        <p:spPr>
          <a:xfrm>
            <a:off x="7178040" y="5257800"/>
            <a:ext cx="4526280" cy="566928"/>
          </a:xfrm>
          <a:prstGeom prst="rect">
            <a:avLst/>
          </a:prstGeom>
          <a:noFill/>
          <a:ln/>
        </p:spPr>
        <p:txBody>
          <a:bodyPr wrap="square" rtlCol="0" anchor="ctr"/>
          <a:lstStyle/>
          <a:p>
            <a:pPr marL="0" indent="0">
              <a:buNone/>
            </a:pPr>
            <a:r>
              <a:rPr lang="en-US" sz="1050" dirty="0">
                <a:solidFill>
                  <a:srgbClr val="E6E4DE"/>
                </a:solidFill>
                <a:latin typeface="Calibri" pitchFamily="34" charset="0"/>
                <a:ea typeface="Calibri" pitchFamily="34" charset="-122"/>
                <a:cs typeface="Calibri" pitchFamily="34" charset="-120"/>
              </a:rPr>
              <a:t>Weekly paid media scorecard across platforms in one view</a:t>
            </a:r>
            <a:endParaRPr lang="en-US" sz="1050" dirty="0"/>
          </a:p>
        </p:txBody>
      </p:sp>
      <p:sp>
        <p:nvSpPr>
          <p:cNvPr id="33" name="Text 31"/>
          <p:cNvSpPr/>
          <p:nvPr/>
        </p:nvSpPr>
        <p:spPr>
          <a:xfrm>
            <a:off x="548640" y="6080760"/>
            <a:ext cx="11201400" cy="256032"/>
          </a:xfrm>
          <a:prstGeom prst="rect">
            <a:avLst/>
          </a:prstGeom>
          <a:noFill/>
          <a:ln/>
        </p:spPr>
        <p:txBody>
          <a:bodyPr wrap="square" rtlCol="0" anchor="ctr"/>
          <a:lstStyle/>
          <a:p>
            <a:pPr marL="0" indent="0">
              <a:buNone/>
            </a:pPr>
            <a:r>
              <a:rPr lang="en-US" sz="900" dirty="0">
                <a:solidFill>
                  <a:srgbClr val="6A665E"/>
                </a:solidFill>
                <a:latin typeface="Calibri" pitchFamily="34" charset="0"/>
                <a:ea typeface="Calibri" pitchFamily="34" charset="-122"/>
                <a:cs typeface="Calibri" pitchFamily="34" charset="-120"/>
              </a:rPr>
              <a:t>Source: </a:t>
            </a:r>
            <a:r>
              <a:rPr lang="en-US" sz="900" u="sng" dirty="0">
                <a:solidFill>
                  <a:srgbClr val="C96A2B"/>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Meta for Business</a:t>
            </a:r>
            <a:r>
              <a:rPr lang="en-US" sz="900" dirty="0">
                <a:solidFill>
                  <a:srgbClr val="6A665E"/>
                </a:solidFill>
                <a:latin typeface="Calibri" pitchFamily="34" charset="0"/>
                <a:ea typeface="Calibri" pitchFamily="34" charset="-122"/>
                <a:cs typeface="Calibri" pitchFamily="34" charset="-120"/>
              </a:rPr>
              <a:t>, </a:t>
            </a:r>
            <a:r>
              <a:rPr lang="en-US" sz="900" u="sng" dirty="0">
                <a:solidFill>
                  <a:srgbClr val="C96A2B"/>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TikTok for Business</a:t>
            </a:r>
            <a:r>
              <a:rPr lang="en-US" sz="900" dirty="0">
                <a:solidFill>
                  <a:srgbClr val="6A665E"/>
                </a:solidFill>
                <a:latin typeface="Calibri" pitchFamily="34" charset="0"/>
                <a:ea typeface="Calibri" pitchFamily="34" charset="-122"/>
                <a:cs typeface="Calibri" pitchFamily="34" charset="-120"/>
              </a:rPr>
              <a:t>, </a:t>
            </a:r>
            <a:r>
              <a:rPr lang="en-US" sz="900" u="sng" dirty="0">
                <a:solidFill>
                  <a:srgbClr val="C96A2B"/>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de Vries, Gensler &amp; Leeflang (2017), JBR</a:t>
            </a:r>
            <a:endParaRPr lang="en-US" sz="900" dirty="0"/>
          </a:p>
        </p:txBody>
      </p:sp>
      <p:sp>
        <p:nvSpPr>
          <p:cNvPr id="34" name="Shape 32"/>
          <p:cNvSpPr/>
          <p:nvPr/>
        </p:nvSpPr>
        <p:spPr>
          <a:xfrm>
            <a:off x="457200" y="6565392"/>
            <a:ext cx="11277295" cy="0"/>
          </a:xfrm>
          <a:prstGeom prst="line">
            <a:avLst/>
          </a:prstGeom>
          <a:noFill/>
          <a:ln w="9525">
            <a:solidFill>
              <a:srgbClr val="3A3E42"/>
            </a:solidFill>
            <a:prstDash val="solid"/>
          </a:ln>
        </p:spPr>
        <p:txBody>
          <a:bodyPr/>
          <a:lstStyle/>
          <a:p>
            <a:endParaRPr lang="en-US"/>
          </a:p>
        </p:txBody>
      </p:sp>
      <p:sp>
        <p:nvSpPr>
          <p:cNvPr id="35" name="Text 33"/>
          <p:cNvSpPr/>
          <p:nvPr/>
        </p:nvSpPr>
        <p:spPr>
          <a:xfrm>
            <a:off x="457200" y="6601968"/>
            <a:ext cx="8229600" cy="228600"/>
          </a:xfrm>
          <a:prstGeom prst="rect">
            <a:avLst/>
          </a:prstGeom>
          <a:noFill/>
          <a:ln/>
        </p:spPr>
        <p:txBody>
          <a:bodyPr wrap="square" rtlCol="0" anchor="ctr"/>
          <a:lstStyle/>
          <a:p>
            <a:pPr marL="0" indent="0">
              <a:buNone/>
            </a:pPr>
            <a:r>
              <a:rPr lang="en-US" sz="900" kern="0" spc="200" dirty="0">
                <a:solidFill>
                  <a:srgbClr val="6A665E"/>
                </a:solidFill>
                <a:latin typeface="Calibri" pitchFamily="34" charset="0"/>
                <a:ea typeface="Calibri" pitchFamily="34" charset="-122"/>
                <a:cs typeface="Calibri" pitchFamily="34" charset="-120"/>
              </a:rPr>
              <a:t>TARKOV  ·  CONTENT MARKETING CAMPAIGN  ·  JULIO HERNANDEZ</a:t>
            </a:r>
            <a:endParaRPr lang="en-US" sz="900" dirty="0"/>
          </a:p>
        </p:txBody>
      </p:sp>
      <p:sp>
        <p:nvSpPr>
          <p:cNvPr id="36" name="Text 34"/>
          <p:cNvSpPr/>
          <p:nvPr/>
        </p:nvSpPr>
        <p:spPr>
          <a:xfrm>
            <a:off x="10789920" y="6601968"/>
            <a:ext cx="914400" cy="228600"/>
          </a:xfrm>
          <a:prstGeom prst="rect">
            <a:avLst/>
          </a:prstGeom>
          <a:noFill/>
          <a:ln/>
        </p:spPr>
        <p:txBody>
          <a:bodyPr wrap="square" rtlCol="0" anchor="ctr"/>
          <a:lstStyle/>
          <a:p>
            <a:pPr marL="0" indent="0" algn="r">
              <a:buNone/>
            </a:pPr>
            <a:r>
              <a:rPr lang="en-US" sz="900" dirty="0">
                <a:solidFill>
                  <a:srgbClr val="6A665E"/>
                </a:solidFill>
                <a:latin typeface="Calibri" pitchFamily="34" charset="0"/>
                <a:ea typeface="Calibri" pitchFamily="34" charset="-122"/>
                <a:cs typeface="Calibri"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0F10"/>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274320"/>
          </a:xfrm>
          <a:prstGeom prst="rect">
            <a:avLst/>
          </a:prstGeom>
          <a:noFill/>
          <a:ln/>
        </p:spPr>
        <p:txBody>
          <a:bodyPr wrap="square" rtlCol="0" anchor="ctr"/>
          <a:lstStyle/>
          <a:p>
            <a:pPr marL="0" indent="0">
              <a:buNone/>
            </a:pPr>
            <a:r>
              <a:rPr lang="en-US" sz="1000" b="1" kern="0" spc="400" dirty="0">
                <a:solidFill>
                  <a:srgbClr val="C96A2B"/>
                </a:solidFill>
                <a:latin typeface="Calibri" pitchFamily="34" charset="0"/>
                <a:ea typeface="Calibri" pitchFamily="34" charset="-122"/>
                <a:cs typeface="Calibri" pitchFamily="34" charset="-120"/>
              </a:rPr>
              <a:t>07  ·  EARNED MEDIA</a:t>
            </a:r>
            <a:endParaRPr lang="en-US" sz="1000" dirty="0"/>
          </a:p>
        </p:txBody>
      </p:sp>
      <p:sp>
        <p:nvSpPr>
          <p:cNvPr id="3" name="Text 1"/>
          <p:cNvSpPr/>
          <p:nvPr/>
        </p:nvSpPr>
        <p:spPr>
          <a:xfrm>
            <a:off x="548640" y="804672"/>
            <a:ext cx="10972800" cy="685800"/>
          </a:xfrm>
          <a:prstGeom prst="rect">
            <a:avLst/>
          </a:prstGeom>
          <a:noFill/>
          <a:ln/>
        </p:spPr>
        <p:txBody>
          <a:bodyPr wrap="square" rtlCol="0" anchor="ctr"/>
          <a:lstStyle/>
          <a:p>
            <a:pPr marL="0" indent="0">
              <a:buNone/>
            </a:pPr>
            <a:r>
              <a:rPr lang="en-US" sz="3200" b="1" dirty="0">
                <a:solidFill>
                  <a:srgbClr val="E6E4DE"/>
                </a:solidFill>
                <a:latin typeface="Trebuchet MS" pitchFamily="34" charset="0"/>
                <a:ea typeface="Trebuchet MS" pitchFamily="34" charset="-122"/>
                <a:cs typeface="Trebuchet MS" pitchFamily="34" charset="-120"/>
              </a:rPr>
              <a:t>Tactics where creators do the storytelling</a:t>
            </a:r>
            <a:endParaRPr lang="en-US" sz="3200" dirty="0"/>
          </a:p>
        </p:txBody>
      </p:sp>
      <p:sp>
        <p:nvSpPr>
          <p:cNvPr id="4" name="Shape 2"/>
          <p:cNvSpPr/>
          <p:nvPr/>
        </p:nvSpPr>
        <p:spPr>
          <a:xfrm>
            <a:off x="548640" y="1536192"/>
            <a:ext cx="1005840" cy="54864"/>
          </a:xfrm>
          <a:prstGeom prst="rect">
            <a:avLst/>
          </a:prstGeom>
          <a:solidFill>
            <a:srgbClr val="A84B2F"/>
          </a:solidFill>
          <a:ln/>
        </p:spPr>
        <p:txBody>
          <a:bodyPr/>
          <a:lstStyle/>
          <a:p>
            <a:endParaRPr lang="en-US"/>
          </a:p>
        </p:txBody>
      </p:sp>
      <p:sp>
        <p:nvSpPr>
          <p:cNvPr id="5" name="Shape 3"/>
          <p:cNvSpPr/>
          <p:nvPr/>
        </p:nvSpPr>
        <p:spPr>
          <a:xfrm>
            <a:off x="548640" y="1965960"/>
            <a:ext cx="5486400" cy="2011680"/>
          </a:xfrm>
          <a:prstGeom prst="rect">
            <a:avLst/>
          </a:prstGeom>
          <a:solidFill>
            <a:srgbClr val="16181A"/>
          </a:solidFill>
          <a:ln w="9525">
            <a:solidFill>
              <a:srgbClr val="2E3236"/>
            </a:solidFill>
            <a:prstDash val="solid"/>
          </a:ln>
        </p:spPr>
        <p:txBody>
          <a:bodyPr/>
          <a:lstStyle/>
          <a:p>
            <a:endParaRPr lang="en-US"/>
          </a:p>
        </p:txBody>
      </p:sp>
      <p:sp>
        <p:nvSpPr>
          <p:cNvPr id="6" name="Text 4"/>
          <p:cNvSpPr/>
          <p:nvPr/>
        </p:nvSpPr>
        <p:spPr>
          <a:xfrm>
            <a:off x="822960" y="2148840"/>
            <a:ext cx="4937760" cy="457200"/>
          </a:xfrm>
          <a:prstGeom prst="rect">
            <a:avLst/>
          </a:prstGeom>
          <a:noFill/>
          <a:ln/>
        </p:spPr>
        <p:txBody>
          <a:bodyPr wrap="square" rtlCol="0" anchor="ctr"/>
          <a:lstStyle/>
          <a:p>
            <a:pPr marL="0" indent="0">
              <a:buNone/>
            </a:pPr>
            <a:r>
              <a:rPr lang="en-US" sz="1600" b="1" dirty="0">
                <a:solidFill>
                  <a:srgbClr val="E6E4DE"/>
                </a:solidFill>
                <a:latin typeface="Trebuchet MS" pitchFamily="34" charset="0"/>
                <a:ea typeface="Trebuchet MS" pitchFamily="34" charset="-122"/>
                <a:cs typeface="Trebuchet MS" pitchFamily="34" charset="-120"/>
              </a:rPr>
              <a:t>Twitch drops campaigns</a:t>
            </a:r>
            <a:endParaRPr lang="en-US" sz="1600" dirty="0"/>
          </a:p>
        </p:txBody>
      </p:sp>
      <p:sp>
        <p:nvSpPr>
          <p:cNvPr id="7" name="Shape 5"/>
          <p:cNvSpPr/>
          <p:nvPr/>
        </p:nvSpPr>
        <p:spPr>
          <a:xfrm>
            <a:off x="822960" y="2697480"/>
            <a:ext cx="365760" cy="0"/>
          </a:xfrm>
          <a:prstGeom prst="line">
            <a:avLst/>
          </a:prstGeom>
          <a:noFill/>
          <a:ln w="19050">
            <a:solidFill>
              <a:srgbClr val="A84B2F"/>
            </a:solidFill>
            <a:prstDash val="solid"/>
          </a:ln>
        </p:spPr>
        <p:txBody>
          <a:bodyPr/>
          <a:lstStyle/>
          <a:p>
            <a:endParaRPr lang="en-US"/>
          </a:p>
        </p:txBody>
      </p:sp>
      <p:sp>
        <p:nvSpPr>
          <p:cNvPr id="8" name="Text 6"/>
          <p:cNvSpPr/>
          <p:nvPr/>
        </p:nvSpPr>
        <p:spPr>
          <a:xfrm>
            <a:off x="822960" y="2834640"/>
            <a:ext cx="4937760" cy="1097280"/>
          </a:xfrm>
          <a:prstGeom prst="rect">
            <a:avLst/>
          </a:prstGeom>
          <a:noFill/>
          <a:ln/>
        </p:spPr>
        <p:txBody>
          <a:bodyPr wrap="square" rtlCol="0" anchor="ctr"/>
          <a:lstStyle/>
          <a:p>
            <a:pPr marL="0" indent="0">
              <a:lnSpc>
                <a:spcPct val="135000"/>
              </a:lnSpc>
              <a:buNone/>
            </a:pPr>
            <a:r>
              <a:rPr lang="en-US" sz="1150" dirty="0">
                <a:solidFill>
                  <a:srgbClr val="9A958A"/>
                </a:solidFill>
                <a:latin typeface="Calibri" pitchFamily="34" charset="0"/>
                <a:ea typeface="Calibri" pitchFamily="34" charset="-122"/>
                <a:cs typeface="Calibri" pitchFamily="34" charset="-120"/>
              </a:rPr>
              <a:t>Drop events timed around wipes and major updates elevate selected Tarkov streamers, creating 'must-watch' viewership and pushing Tarkov to the top of Twitch categories for days at a time.</a:t>
            </a:r>
            <a:endParaRPr lang="en-US" sz="1150" dirty="0"/>
          </a:p>
        </p:txBody>
      </p:sp>
      <p:sp>
        <p:nvSpPr>
          <p:cNvPr id="9" name="Shape 7"/>
          <p:cNvSpPr/>
          <p:nvPr/>
        </p:nvSpPr>
        <p:spPr>
          <a:xfrm>
            <a:off x="6263640" y="1965960"/>
            <a:ext cx="5486400" cy="2011680"/>
          </a:xfrm>
          <a:prstGeom prst="rect">
            <a:avLst/>
          </a:prstGeom>
          <a:solidFill>
            <a:srgbClr val="16181A"/>
          </a:solidFill>
          <a:ln w="9525">
            <a:solidFill>
              <a:srgbClr val="2E3236"/>
            </a:solidFill>
            <a:prstDash val="solid"/>
          </a:ln>
        </p:spPr>
        <p:txBody>
          <a:bodyPr/>
          <a:lstStyle/>
          <a:p>
            <a:endParaRPr lang="en-US"/>
          </a:p>
        </p:txBody>
      </p:sp>
      <p:sp>
        <p:nvSpPr>
          <p:cNvPr id="10" name="Text 8"/>
          <p:cNvSpPr/>
          <p:nvPr/>
        </p:nvSpPr>
        <p:spPr>
          <a:xfrm>
            <a:off x="6537960" y="2148840"/>
            <a:ext cx="4937760" cy="457200"/>
          </a:xfrm>
          <a:prstGeom prst="rect">
            <a:avLst/>
          </a:prstGeom>
          <a:noFill/>
          <a:ln/>
        </p:spPr>
        <p:txBody>
          <a:bodyPr wrap="square" rtlCol="0" anchor="ctr"/>
          <a:lstStyle/>
          <a:p>
            <a:pPr marL="0" indent="0">
              <a:buNone/>
            </a:pPr>
            <a:r>
              <a:rPr lang="en-US" sz="1600" b="1" dirty="0">
                <a:solidFill>
                  <a:srgbClr val="E6E4DE"/>
                </a:solidFill>
                <a:latin typeface="Trebuchet MS" pitchFamily="34" charset="0"/>
                <a:ea typeface="Trebuchet MS" pitchFamily="34" charset="-122"/>
                <a:cs typeface="Trebuchet MS" pitchFamily="34" charset="-120"/>
              </a:rPr>
              <a:t>UGC amplification loop</a:t>
            </a:r>
            <a:endParaRPr lang="en-US" sz="1600" dirty="0"/>
          </a:p>
        </p:txBody>
      </p:sp>
      <p:sp>
        <p:nvSpPr>
          <p:cNvPr id="11" name="Shape 9"/>
          <p:cNvSpPr/>
          <p:nvPr/>
        </p:nvSpPr>
        <p:spPr>
          <a:xfrm>
            <a:off x="6537960" y="2697480"/>
            <a:ext cx="365760" cy="0"/>
          </a:xfrm>
          <a:prstGeom prst="line">
            <a:avLst/>
          </a:prstGeom>
          <a:noFill/>
          <a:ln w="19050">
            <a:solidFill>
              <a:srgbClr val="A84B2F"/>
            </a:solidFill>
            <a:prstDash val="solid"/>
          </a:ln>
        </p:spPr>
        <p:txBody>
          <a:bodyPr/>
          <a:lstStyle/>
          <a:p>
            <a:endParaRPr lang="en-US"/>
          </a:p>
        </p:txBody>
      </p:sp>
      <p:sp>
        <p:nvSpPr>
          <p:cNvPr id="12" name="Text 10"/>
          <p:cNvSpPr/>
          <p:nvPr/>
        </p:nvSpPr>
        <p:spPr>
          <a:xfrm>
            <a:off x="6537960" y="2834640"/>
            <a:ext cx="4937760" cy="1097280"/>
          </a:xfrm>
          <a:prstGeom prst="rect">
            <a:avLst/>
          </a:prstGeom>
          <a:noFill/>
          <a:ln/>
        </p:spPr>
        <p:txBody>
          <a:bodyPr wrap="square" rtlCol="0" anchor="ctr"/>
          <a:lstStyle/>
          <a:p>
            <a:pPr marL="0" indent="0">
              <a:lnSpc>
                <a:spcPct val="135000"/>
              </a:lnSpc>
              <a:buNone/>
            </a:pPr>
            <a:r>
              <a:rPr lang="en-US" sz="1150" dirty="0">
                <a:solidFill>
                  <a:srgbClr val="9A958A"/>
                </a:solidFill>
                <a:latin typeface="Calibri" pitchFamily="34" charset="0"/>
                <a:ea typeface="Calibri" pitchFamily="34" charset="-122"/>
                <a:cs typeface="Calibri" pitchFamily="34" charset="-120"/>
              </a:rPr>
              <a:t>Systematic monitoring of YouTube, Twitch, Reddit, and X for standout videos, guides, montages, and memes — then resharing via official accounts and tagging creators to reinforce that the community is seen and valued.</a:t>
            </a:r>
            <a:endParaRPr lang="en-US" sz="1150" dirty="0"/>
          </a:p>
        </p:txBody>
      </p:sp>
      <p:sp>
        <p:nvSpPr>
          <p:cNvPr id="13" name="Shape 11"/>
          <p:cNvSpPr/>
          <p:nvPr/>
        </p:nvSpPr>
        <p:spPr>
          <a:xfrm>
            <a:off x="548640" y="4206240"/>
            <a:ext cx="5486400" cy="2011680"/>
          </a:xfrm>
          <a:prstGeom prst="rect">
            <a:avLst/>
          </a:prstGeom>
          <a:solidFill>
            <a:srgbClr val="16181A"/>
          </a:solidFill>
          <a:ln w="9525">
            <a:solidFill>
              <a:srgbClr val="2E3236"/>
            </a:solidFill>
            <a:prstDash val="solid"/>
          </a:ln>
        </p:spPr>
        <p:txBody>
          <a:bodyPr/>
          <a:lstStyle/>
          <a:p>
            <a:endParaRPr lang="en-US"/>
          </a:p>
        </p:txBody>
      </p:sp>
      <p:sp>
        <p:nvSpPr>
          <p:cNvPr id="14" name="Text 12"/>
          <p:cNvSpPr/>
          <p:nvPr/>
        </p:nvSpPr>
        <p:spPr>
          <a:xfrm>
            <a:off x="822960" y="4389120"/>
            <a:ext cx="4937760" cy="457200"/>
          </a:xfrm>
          <a:prstGeom prst="rect">
            <a:avLst/>
          </a:prstGeom>
          <a:noFill/>
          <a:ln/>
        </p:spPr>
        <p:txBody>
          <a:bodyPr wrap="square" rtlCol="0" anchor="ctr"/>
          <a:lstStyle/>
          <a:p>
            <a:pPr marL="0" indent="0">
              <a:buNone/>
            </a:pPr>
            <a:r>
              <a:rPr lang="en-US" sz="1600" b="1" dirty="0">
                <a:solidFill>
                  <a:srgbClr val="E6E4DE"/>
                </a:solidFill>
                <a:latin typeface="Trebuchet MS" pitchFamily="34" charset="0"/>
                <a:ea typeface="Trebuchet MS" pitchFamily="34" charset="-122"/>
                <a:cs typeface="Trebuchet MS" pitchFamily="34" charset="-120"/>
              </a:rPr>
              <a:t>Proactive press &amp; creator outreach</a:t>
            </a:r>
            <a:endParaRPr lang="en-US" sz="1600" dirty="0"/>
          </a:p>
        </p:txBody>
      </p:sp>
      <p:sp>
        <p:nvSpPr>
          <p:cNvPr id="15" name="Shape 13"/>
          <p:cNvSpPr/>
          <p:nvPr/>
        </p:nvSpPr>
        <p:spPr>
          <a:xfrm>
            <a:off x="822960" y="4937760"/>
            <a:ext cx="365760" cy="0"/>
          </a:xfrm>
          <a:prstGeom prst="line">
            <a:avLst/>
          </a:prstGeom>
          <a:noFill/>
          <a:ln w="19050">
            <a:solidFill>
              <a:srgbClr val="A84B2F"/>
            </a:solidFill>
            <a:prstDash val="solid"/>
          </a:ln>
        </p:spPr>
        <p:txBody>
          <a:bodyPr/>
          <a:lstStyle/>
          <a:p>
            <a:endParaRPr lang="en-US"/>
          </a:p>
        </p:txBody>
      </p:sp>
      <p:sp>
        <p:nvSpPr>
          <p:cNvPr id="16" name="Text 14"/>
          <p:cNvSpPr/>
          <p:nvPr/>
        </p:nvSpPr>
        <p:spPr>
          <a:xfrm>
            <a:off x="822960" y="5074920"/>
            <a:ext cx="4937760" cy="1097280"/>
          </a:xfrm>
          <a:prstGeom prst="rect">
            <a:avLst/>
          </a:prstGeom>
          <a:noFill/>
          <a:ln/>
        </p:spPr>
        <p:txBody>
          <a:bodyPr wrap="square" rtlCol="0" anchor="ctr"/>
          <a:lstStyle/>
          <a:p>
            <a:pPr marL="0" indent="0">
              <a:lnSpc>
                <a:spcPct val="135000"/>
              </a:lnSpc>
              <a:buNone/>
            </a:pPr>
            <a:r>
              <a:rPr lang="en-US" sz="1150" dirty="0">
                <a:solidFill>
                  <a:srgbClr val="9A958A"/>
                </a:solidFill>
                <a:latin typeface="Calibri" pitchFamily="34" charset="0"/>
                <a:ea typeface="Calibri" pitchFamily="34" charset="-122"/>
                <a:cs typeface="Calibri" pitchFamily="34" charset="-120"/>
              </a:rPr>
              <a:t>Pitch stories like wipe analytics, player behavior insights, and anti-cheat progress to gaming outlets (PC Gamer, IGN, Kotaku) and mid-tier creators — turning internal data into newsworthy narratives.</a:t>
            </a:r>
            <a:endParaRPr lang="en-US" sz="1150" dirty="0"/>
          </a:p>
        </p:txBody>
      </p:sp>
      <p:sp>
        <p:nvSpPr>
          <p:cNvPr id="17" name="Shape 15"/>
          <p:cNvSpPr/>
          <p:nvPr/>
        </p:nvSpPr>
        <p:spPr>
          <a:xfrm>
            <a:off x="6263640" y="4206240"/>
            <a:ext cx="5486400" cy="2011680"/>
          </a:xfrm>
          <a:prstGeom prst="rect">
            <a:avLst/>
          </a:prstGeom>
          <a:solidFill>
            <a:srgbClr val="16181A"/>
          </a:solidFill>
          <a:ln w="9525">
            <a:solidFill>
              <a:srgbClr val="2E3236"/>
            </a:solidFill>
            <a:prstDash val="solid"/>
          </a:ln>
        </p:spPr>
        <p:txBody>
          <a:bodyPr/>
          <a:lstStyle/>
          <a:p>
            <a:endParaRPr lang="en-US"/>
          </a:p>
        </p:txBody>
      </p:sp>
      <p:sp>
        <p:nvSpPr>
          <p:cNvPr id="18" name="Text 16"/>
          <p:cNvSpPr/>
          <p:nvPr/>
        </p:nvSpPr>
        <p:spPr>
          <a:xfrm>
            <a:off x="6537960" y="4389120"/>
            <a:ext cx="4937760" cy="457200"/>
          </a:xfrm>
          <a:prstGeom prst="rect">
            <a:avLst/>
          </a:prstGeom>
          <a:noFill/>
          <a:ln/>
        </p:spPr>
        <p:txBody>
          <a:bodyPr wrap="square" rtlCol="0" anchor="ctr"/>
          <a:lstStyle/>
          <a:p>
            <a:pPr marL="0" indent="0">
              <a:buNone/>
            </a:pPr>
            <a:r>
              <a:rPr lang="en-US" sz="1600" b="1" dirty="0">
                <a:solidFill>
                  <a:srgbClr val="E6E4DE"/>
                </a:solidFill>
                <a:latin typeface="Trebuchet MS" pitchFamily="34" charset="0"/>
                <a:ea typeface="Trebuchet MS" pitchFamily="34" charset="-122"/>
                <a:cs typeface="Trebuchet MS" pitchFamily="34" charset="-120"/>
              </a:rPr>
              <a:t>Transparent response to coverage</a:t>
            </a:r>
            <a:endParaRPr lang="en-US" sz="1600" dirty="0"/>
          </a:p>
        </p:txBody>
      </p:sp>
      <p:sp>
        <p:nvSpPr>
          <p:cNvPr id="19" name="Shape 17"/>
          <p:cNvSpPr/>
          <p:nvPr/>
        </p:nvSpPr>
        <p:spPr>
          <a:xfrm>
            <a:off x="6537960" y="4937760"/>
            <a:ext cx="365760" cy="0"/>
          </a:xfrm>
          <a:prstGeom prst="line">
            <a:avLst/>
          </a:prstGeom>
          <a:noFill/>
          <a:ln w="19050">
            <a:solidFill>
              <a:srgbClr val="A84B2F"/>
            </a:solidFill>
            <a:prstDash val="solid"/>
          </a:ln>
        </p:spPr>
        <p:txBody>
          <a:bodyPr/>
          <a:lstStyle/>
          <a:p>
            <a:endParaRPr lang="en-US"/>
          </a:p>
        </p:txBody>
      </p:sp>
      <p:sp>
        <p:nvSpPr>
          <p:cNvPr id="20" name="Text 18"/>
          <p:cNvSpPr/>
          <p:nvPr/>
        </p:nvSpPr>
        <p:spPr>
          <a:xfrm>
            <a:off x="6537960" y="5074920"/>
            <a:ext cx="4937760" cy="1097280"/>
          </a:xfrm>
          <a:prstGeom prst="rect">
            <a:avLst/>
          </a:prstGeom>
          <a:noFill/>
          <a:ln/>
        </p:spPr>
        <p:txBody>
          <a:bodyPr wrap="square" rtlCol="0" anchor="ctr"/>
          <a:lstStyle/>
          <a:p>
            <a:pPr marL="0" indent="0">
              <a:lnSpc>
                <a:spcPct val="135000"/>
              </a:lnSpc>
              <a:buNone/>
            </a:pPr>
            <a:r>
              <a:rPr lang="en-US" sz="1150" dirty="0">
                <a:solidFill>
                  <a:srgbClr val="9A958A"/>
                </a:solidFill>
                <a:latin typeface="Calibri" pitchFamily="34" charset="0"/>
                <a:ea typeface="Calibri" pitchFamily="34" charset="-122"/>
                <a:cs typeface="Calibri" pitchFamily="34" charset="-120"/>
              </a:rPr>
              <a:t>When third-party coverage appears — positive or critical — share it openly through owned channels and address it in dev commentary. Turns controversy moments into trust-building moments.</a:t>
            </a:r>
            <a:endParaRPr lang="en-US" sz="1150" dirty="0"/>
          </a:p>
        </p:txBody>
      </p:sp>
      <p:sp>
        <p:nvSpPr>
          <p:cNvPr id="21" name="Text 19"/>
          <p:cNvSpPr/>
          <p:nvPr/>
        </p:nvSpPr>
        <p:spPr>
          <a:xfrm>
            <a:off x="548640" y="6080760"/>
            <a:ext cx="11201400" cy="256032"/>
          </a:xfrm>
          <a:prstGeom prst="rect">
            <a:avLst/>
          </a:prstGeom>
          <a:noFill/>
          <a:ln/>
        </p:spPr>
        <p:txBody>
          <a:bodyPr wrap="square" rtlCol="0" anchor="ctr"/>
          <a:lstStyle/>
          <a:p>
            <a:pPr marL="0" indent="0">
              <a:buNone/>
            </a:pPr>
            <a:r>
              <a:rPr lang="en-US" sz="900" dirty="0">
                <a:solidFill>
                  <a:srgbClr val="6A665E"/>
                </a:solidFill>
                <a:latin typeface="Calibri" pitchFamily="34" charset="0"/>
                <a:ea typeface="Calibri" pitchFamily="34" charset="-122"/>
                <a:cs typeface="Calibri" pitchFamily="34" charset="-120"/>
              </a:rPr>
              <a:t>Source: </a:t>
            </a:r>
            <a:r>
              <a:rPr lang="en-US" sz="900" u="sng" dirty="0">
                <a:solidFill>
                  <a:srgbClr val="C96A2B"/>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Stephen &amp; Galak (2012), Journal of Marketing Research</a:t>
            </a:r>
            <a:r>
              <a:rPr lang="en-US" sz="900" dirty="0">
                <a:solidFill>
                  <a:srgbClr val="6A665E"/>
                </a:solidFill>
                <a:latin typeface="Calibri" pitchFamily="34" charset="0"/>
                <a:ea typeface="Calibri" pitchFamily="34" charset="-122"/>
                <a:cs typeface="Calibri" pitchFamily="34" charset="-120"/>
              </a:rPr>
              <a:t>, </a:t>
            </a:r>
            <a:r>
              <a:rPr lang="en-US" sz="900" u="sng" dirty="0">
                <a:solidFill>
                  <a:srgbClr val="C96A2B"/>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Lovett &amp; Staelin (2016), Marketing Science</a:t>
            </a:r>
            <a:endParaRPr lang="en-US" sz="900" dirty="0"/>
          </a:p>
        </p:txBody>
      </p:sp>
      <p:sp>
        <p:nvSpPr>
          <p:cNvPr id="22" name="Shape 20"/>
          <p:cNvSpPr/>
          <p:nvPr/>
        </p:nvSpPr>
        <p:spPr>
          <a:xfrm>
            <a:off x="457200" y="6565392"/>
            <a:ext cx="11277295" cy="0"/>
          </a:xfrm>
          <a:prstGeom prst="line">
            <a:avLst/>
          </a:prstGeom>
          <a:noFill/>
          <a:ln w="9525">
            <a:solidFill>
              <a:srgbClr val="3A3E42"/>
            </a:solidFill>
            <a:prstDash val="solid"/>
          </a:ln>
        </p:spPr>
        <p:txBody>
          <a:bodyPr/>
          <a:lstStyle/>
          <a:p>
            <a:endParaRPr lang="en-US"/>
          </a:p>
        </p:txBody>
      </p:sp>
      <p:sp>
        <p:nvSpPr>
          <p:cNvPr id="23" name="Text 21"/>
          <p:cNvSpPr/>
          <p:nvPr/>
        </p:nvSpPr>
        <p:spPr>
          <a:xfrm>
            <a:off x="457200" y="6601968"/>
            <a:ext cx="8229600" cy="228600"/>
          </a:xfrm>
          <a:prstGeom prst="rect">
            <a:avLst/>
          </a:prstGeom>
          <a:noFill/>
          <a:ln/>
        </p:spPr>
        <p:txBody>
          <a:bodyPr wrap="square" rtlCol="0" anchor="ctr"/>
          <a:lstStyle/>
          <a:p>
            <a:pPr marL="0" indent="0">
              <a:buNone/>
            </a:pPr>
            <a:r>
              <a:rPr lang="en-US" sz="900" kern="0" spc="200" dirty="0">
                <a:solidFill>
                  <a:srgbClr val="6A665E"/>
                </a:solidFill>
                <a:latin typeface="Calibri" pitchFamily="34" charset="0"/>
                <a:ea typeface="Calibri" pitchFamily="34" charset="-122"/>
                <a:cs typeface="Calibri" pitchFamily="34" charset="-120"/>
              </a:rPr>
              <a:t>TARKOV  ·  CONTENT MARKETING CAMPAIGN  ·  JULIO HERNANDEZ</a:t>
            </a:r>
            <a:endParaRPr lang="en-US" sz="900" dirty="0"/>
          </a:p>
        </p:txBody>
      </p:sp>
      <p:sp>
        <p:nvSpPr>
          <p:cNvPr id="24" name="Text 22"/>
          <p:cNvSpPr/>
          <p:nvPr/>
        </p:nvSpPr>
        <p:spPr>
          <a:xfrm>
            <a:off x="10789920" y="6601968"/>
            <a:ext cx="914400" cy="228600"/>
          </a:xfrm>
          <a:prstGeom prst="rect">
            <a:avLst/>
          </a:prstGeom>
          <a:noFill/>
          <a:ln/>
        </p:spPr>
        <p:txBody>
          <a:bodyPr wrap="square" rtlCol="0" anchor="ctr"/>
          <a:lstStyle/>
          <a:p>
            <a:pPr marL="0" indent="0" algn="r">
              <a:buNone/>
            </a:pPr>
            <a:r>
              <a:rPr lang="en-US" sz="900" dirty="0">
                <a:solidFill>
                  <a:srgbClr val="6A665E"/>
                </a:solidFill>
                <a:latin typeface="Calibri" pitchFamily="34" charset="0"/>
                <a:ea typeface="Calibri" pitchFamily="34" charset="-122"/>
                <a:cs typeface="Calibri"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0F10"/>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274320"/>
          </a:xfrm>
          <a:prstGeom prst="rect">
            <a:avLst/>
          </a:prstGeom>
          <a:noFill/>
          <a:ln/>
        </p:spPr>
        <p:txBody>
          <a:bodyPr wrap="square" rtlCol="0" anchor="ctr"/>
          <a:lstStyle/>
          <a:p>
            <a:pPr marL="0" indent="0">
              <a:buNone/>
            </a:pPr>
            <a:r>
              <a:rPr lang="en-US" sz="1000" b="1" kern="0" spc="400" dirty="0">
                <a:solidFill>
                  <a:srgbClr val="C96A2B"/>
                </a:solidFill>
                <a:latin typeface="Calibri" pitchFamily="34" charset="0"/>
                <a:ea typeface="Calibri" pitchFamily="34" charset="-122"/>
                <a:cs typeface="Calibri" pitchFamily="34" charset="-120"/>
              </a:rPr>
              <a:t>07  ·  EARNED MEDIA</a:t>
            </a:r>
            <a:endParaRPr lang="en-US" sz="1000" dirty="0"/>
          </a:p>
        </p:txBody>
      </p:sp>
      <p:sp>
        <p:nvSpPr>
          <p:cNvPr id="3" name="Text 1"/>
          <p:cNvSpPr/>
          <p:nvPr/>
        </p:nvSpPr>
        <p:spPr>
          <a:xfrm>
            <a:off x="548640" y="804672"/>
            <a:ext cx="10972800" cy="685800"/>
          </a:xfrm>
          <a:prstGeom prst="rect">
            <a:avLst/>
          </a:prstGeom>
          <a:noFill/>
          <a:ln/>
        </p:spPr>
        <p:txBody>
          <a:bodyPr wrap="square" rtlCol="0" anchor="ctr"/>
          <a:lstStyle/>
          <a:p>
            <a:pPr marL="0" indent="0">
              <a:buNone/>
            </a:pPr>
            <a:r>
              <a:rPr lang="en-US" sz="3200" b="1" dirty="0">
                <a:solidFill>
                  <a:srgbClr val="E6E4DE"/>
                </a:solidFill>
                <a:latin typeface="Trebuchet MS" pitchFamily="34" charset="0"/>
                <a:ea typeface="Trebuchet MS" pitchFamily="34" charset="-122"/>
                <a:cs typeface="Trebuchet MS" pitchFamily="34" charset="-120"/>
              </a:rPr>
              <a:t>Measurement tools and success metrics</a:t>
            </a:r>
            <a:endParaRPr lang="en-US" sz="3200" dirty="0"/>
          </a:p>
        </p:txBody>
      </p:sp>
      <p:sp>
        <p:nvSpPr>
          <p:cNvPr id="4" name="Shape 2"/>
          <p:cNvSpPr/>
          <p:nvPr/>
        </p:nvSpPr>
        <p:spPr>
          <a:xfrm>
            <a:off x="548640" y="1536192"/>
            <a:ext cx="1005840" cy="54864"/>
          </a:xfrm>
          <a:prstGeom prst="rect">
            <a:avLst/>
          </a:prstGeom>
          <a:solidFill>
            <a:srgbClr val="A84B2F"/>
          </a:solidFill>
          <a:ln/>
        </p:spPr>
        <p:txBody>
          <a:bodyPr/>
          <a:lstStyle/>
          <a:p>
            <a:endParaRPr lang="en-US"/>
          </a:p>
        </p:txBody>
      </p:sp>
      <p:sp>
        <p:nvSpPr>
          <p:cNvPr id="5" name="Shape 3"/>
          <p:cNvSpPr/>
          <p:nvPr/>
        </p:nvSpPr>
        <p:spPr>
          <a:xfrm>
            <a:off x="548640" y="1965960"/>
            <a:ext cx="11201400" cy="457200"/>
          </a:xfrm>
          <a:prstGeom prst="rect">
            <a:avLst/>
          </a:prstGeom>
          <a:solidFill>
            <a:srgbClr val="1D2023"/>
          </a:solidFill>
          <a:ln w="9525">
            <a:solidFill>
              <a:srgbClr val="2E3236"/>
            </a:solidFill>
            <a:prstDash val="solid"/>
          </a:ln>
        </p:spPr>
        <p:txBody>
          <a:bodyPr/>
          <a:lstStyle/>
          <a:p>
            <a:endParaRPr lang="en-US"/>
          </a:p>
        </p:txBody>
      </p:sp>
      <p:sp>
        <p:nvSpPr>
          <p:cNvPr id="6" name="Text 4"/>
          <p:cNvSpPr/>
          <p:nvPr/>
        </p:nvSpPr>
        <p:spPr>
          <a:xfrm>
            <a:off x="777240" y="1965960"/>
            <a:ext cx="2651760" cy="457200"/>
          </a:xfrm>
          <a:prstGeom prst="rect">
            <a:avLst/>
          </a:prstGeom>
          <a:noFill/>
          <a:ln/>
        </p:spPr>
        <p:txBody>
          <a:bodyPr wrap="square" rtlCol="0" anchor="ctr"/>
          <a:lstStyle/>
          <a:p>
            <a:pPr marL="0" indent="0">
              <a:buNone/>
            </a:pPr>
            <a:r>
              <a:rPr lang="en-US" sz="1000" b="1" kern="0" spc="200" dirty="0">
                <a:solidFill>
                  <a:srgbClr val="C96A2B"/>
                </a:solidFill>
                <a:latin typeface="Calibri" pitchFamily="34" charset="0"/>
                <a:ea typeface="Calibri" pitchFamily="34" charset="-122"/>
                <a:cs typeface="Calibri" pitchFamily="34" charset="-120"/>
              </a:rPr>
              <a:t>TOOL</a:t>
            </a:r>
            <a:endParaRPr lang="en-US" sz="1000" dirty="0"/>
          </a:p>
        </p:txBody>
      </p:sp>
      <p:sp>
        <p:nvSpPr>
          <p:cNvPr id="7" name="Text 5"/>
          <p:cNvSpPr/>
          <p:nvPr/>
        </p:nvSpPr>
        <p:spPr>
          <a:xfrm>
            <a:off x="3703320" y="1965960"/>
            <a:ext cx="3200400" cy="457200"/>
          </a:xfrm>
          <a:prstGeom prst="rect">
            <a:avLst/>
          </a:prstGeom>
          <a:noFill/>
          <a:ln/>
        </p:spPr>
        <p:txBody>
          <a:bodyPr wrap="square" rtlCol="0" anchor="ctr"/>
          <a:lstStyle/>
          <a:p>
            <a:pPr marL="0" indent="0">
              <a:buNone/>
            </a:pPr>
            <a:r>
              <a:rPr lang="en-US" sz="1000" b="1" kern="0" spc="200" dirty="0">
                <a:solidFill>
                  <a:srgbClr val="C96A2B"/>
                </a:solidFill>
                <a:latin typeface="Calibri" pitchFamily="34" charset="0"/>
                <a:ea typeface="Calibri" pitchFamily="34" charset="-122"/>
                <a:cs typeface="Calibri" pitchFamily="34" charset="-120"/>
              </a:rPr>
              <a:t>PURPOSE</a:t>
            </a:r>
            <a:endParaRPr lang="en-US" sz="1000" dirty="0"/>
          </a:p>
        </p:txBody>
      </p:sp>
      <p:sp>
        <p:nvSpPr>
          <p:cNvPr id="8" name="Text 6"/>
          <p:cNvSpPr/>
          <p:nvPr/>
        </p:nvSpPr>
        <p:spPr>
          <a:xfrm>
            <a:off x="7178040" y="1965960"/>
            <a:ext cx="4526280" cy="457200"/>
          </a:xfrm>
          <a:prstGeom prst="rect">
            <a:avLst/>
          </a:prstGeom>
          <a:noFill/>
          <a:ln/>
        </p:spPr>
        <p:txBody>
          <a:bodyPr wrap="square" rtlCol="0" anchor="ctr"/>
          <a:lstStyle/>
          <a:p>
            <a:pPr marL="0" indent="0">
              <a:buNone/>
            </a:pPr>
            <a:r>
              <a:rPr lang="en-US" sz="1000" b="1" kern="0" spc="200" dirty="0">
                <a:solidFill>
                  <a:srgbClr val="C96A2B"/>
                </a:solidFill>
                <a:latin typeface="Calibri" pitchFamily="34" charset="0"/>
                <a:ea typeface="Calibri" pitchFamily="34" charset="-122"/>
                <a:cs typeface="Calibri" pitchFamily="34" charset="-120"/>
              </a:rPr>
              <a:t>KEY METRICS</a:t>
            </a:r>
            <a:endParaRPr lang="en-US" sz="1000" dirty="0"/>
          </a:p>
        </p:txBody>
      </p:sp>
      <p:sp>
        <p:nvSpPr>
          <p:cNvPr id="9" name="Shape 7"/>
          <p:cNvSpPr/>
          <p:nvPr/>
        </p:nvSpPr>
        <p:spPr>
          <a:xfrm>
            <a:off x="548640" y="2423160"/>
            <a:ext cx="11201400" cy="566928"/>
          </a:xfrm>
          <a:prstGeom prst="rect">
            <a:avLst/>
          </a:prstGeom>
          <a:solidFill>
            <a:srgbClr val="16181A"/>
          </a:solidFill>
          <a:ln w="6350">
            <a:solidFill>
              <a:srgbClr val="2E3236"/>
            </a:solidFill>
            <a:prstDash val="solid"/>
          </a:ln>
        </p:spPr>
        <p:txBody>
          <a:bodyPr/>
          <a:lstStyle/>
          <a:p>
            <a:endParaRPr lang="en-US"/>
          </a:p>
        </p:txBody>
      </p:sp>
      <p:sp>
        <p:nvSpPr>
          <p:cNvPr id="10" name="Text 8"/>
          <p:cNvSpPr/>
          <p:nvPr/>
        </p:nvSpPr>
        <p:spPr>
          <a:xfrm>
            <a:off x="777240" y="2423160"/>
            <a:ext cx="2651760" cy="566928"/>
          </a:xfrm>
          <a:prstGeom prst="rect">
            <a:avLst/>
          </a:prstGeom>
          <a:noFill/>
          <a:ln/>
        </p:spPr>
        <p:txBody>
          <a:bodyPr wrap="square" rtlCol="0" anchor="ctr"/>
          <a:lstStyle/>
          <a:p>
            <a:pPr marL="0" indent="0">
              <a:buNone/>
            </a:pPr>
            <a:r>
              <a:rPr lang="en-US" sz="1200" b="1" dirty="0">
                <a:solidFill>
                  <a:srgbClr val="E6E4DE"/>
                </a:solidFill>
                <a:latin typeface="Calibri" pitchFamily="34" charset="0"/>
                <a:ea typeface="Calibri" pitchFamily="34" charset="-122"/>
                <a:cs typeface="Calibri" pitchFamily="34" charset="-120"/>
              </a:rPr>
              <a:t>Meltwater</a:t>
            </a:r>
            <a:endParaRPr lang="en-US" sz="1200" dirty="0"/>
          </a:p>
        </p:txBody>
      </p:sp>
      <p:sp>
        <p:nvSpPr>
          <p:cNvPr id="11" name="Text 9"/>
          <p:cNvSpPr/>
          <p:nvPr/>
        </p:nvSpPr>
        <p:spPr>
          <a:xfrm>
            <a:off x="3703320" y="2423160"/>
            <a:ext cx="3200400" cy="566928"/>
          </a:xfrm>
          <a:prstGeom prst="rect">
            <a:avLst/>
          </a:prstGeom>
          <a:noFill/>
          <a:ln/>
        </p:spPr>
        <p:txBody>
          <a:bodyPr wrap="square" rtlCol="0" anchor="ctr"/>
          <a:lstStyle/>
          <a:p>
            <a:pPr marL="0" indent="0">
              <a:buNone/>
            </a:pPr>
            <a:r>
              <a:rPr lang="en-US" sz="1100" dirty="0">
                <a:solidFill>
                  <a:srgbClr val="9A958A"/>
                </a:solidFill>
                <a:latin typeface="Calibri" pitchFamily="34" charset="0"/>
                <a:ea typeface="Calibri" pitchFamily="34" charset="-122"/>
                <a:cs typeface="Calibri" pitchFamily="34" charset="-120"/>
              </a:rPr>
              <a:t>News, broadcast &amp; social monitoring</a:t>
            </a:r>
            <a:endParaRPr lang="en-US" sz="1100" dirty="0"/>
          </a:p>
        </p:txBody>
      </p:sp>
      <p:sp>
        <p:nvSpPr>
          <p:cNvPr id="12" name="Text 10"/>
          <p:cNvSpPr/>
          <p:nvPr/>
        </p:nvSpPr>
        <p:spPr>
          <a:xfrm>
            <a:off x="7178040" y="2423160"/>
            <a:ext cx="4526280" cy="566928"/>
          </a:xfrm>
          <a:prstGeom prst="rect">
            <a:avLst/>
          </a:prstGeom>
          <a:noFill/>
          <a:ln/>
        </p:spPr>
        <p:txBody>
          <a:bodyPr wrap="square" rtlCol="0" anchor="ctr"/>
          <a:lstStyle/>
          <a:p>
            <a:pPr marL="0" indent="0">
              <a:buNone/>
            </a:pPr>
            <a:r>
              <a:rPr lang="en-US" sz="1050" dirty="0">
                <a:solidFill>
                  <a:srgbClr val="E6E4DE"/>
                </a:solidFill>
                <a:latin typeface="Calibri" pitchFamily="34" charset="0"/>
                <a:ea typeface="Calibri" pitchFamily="34" charset="-122"/>
                <a:cs typeface="Calibri" pitchFamily="34" charset="-120"/>
              </a:rPr>
              <a:t>Mentions volume, reach, sentiment, share of voice vs. competitors</a:t>
            </a:r>
            <a:endParaRPr lang="en-US" sz="1050" dirty="0"/>
          </a:p>
        </p:txBody>
      </p:sp>
      <p:sp>
        <p:nvSpPr>
          <p:cNvPr id="13" name="Shape 11"/>
          <p:cNvSpPr/>
          <p:nvPr/>
        </p:nvSpPr>
        <p:spPr>
          <a:xfrm>
            <a:off x="548640" y="2990088"/>
            <a:ext cx="11201400" cy="566928"/>
          </a:xfrm>
          <a:prstGeom prst="rect">
            <a:avLst/>
          </a:prstGeom>
          <a:solidFill>
            <a:srgbClr val="0E0F10"/>
          </a:solidFill>
          <a:ln w="6350">
            <a:solidFill>
              <a:srgbClr val="2E3236"/>
            </a:solidFill>
            <a:prstDash val="solid"/>
          </a:ln>
        </p:spPr>
        <p:txBody>
          <a:bodyPr/>
          <a:lstStyle/>
          <a:p>
            <a:endParaRPr lang="en-US"/>
          </a:p>
        </p:txBody>
      </p:sp>
      <p:sp>
        <p:nvSpPr>
          <p:cNvPr id="14" name="Text 12"/>
          <p:cNvSpPr/>
          <p:nvPr/>
        </p:nvSpPr>
        <p:spPr>
          <a:xfrm>
            <a:off x="777240" y="2990088"/>
            <a:ext cx="2651760" cy="566928"/>
          </a:xfrm>
          <a:prstGeom prst="rect">
            <a:avLst/>
          </a:prstGeom>
          <a:noFill/>
          <a:ln/>
        </p:spPr>
        <p:txBody>
          <a:bodyPr wrap="square" rtlCol="0" anchor="ctr"/>
          <a:lstStyle/>
          <a:p>
            <a:pPr marL="0" indent="0">
              <a:buNone/>
            </a:pPr>
            <a:r>
              <a:rPr lang="en-US" sz="1200" b="1" dirty="0">
                <a:solidFill>
                  <a:srgbClr val="E6E4DE"/>
                </a:solidFill>
                <a:latin typeface="Calibri" pitchFamily="34" charset="0"/>
                <a:ea typeface="Calibri" pitchFamily="34" charset="-122"/>
                <a:cs typeface="Calibri" pitchFamily="34" charset="-120"/>
              </a:rPr>
              <a:t>Brandwatch</a:t>
            </a:r>
            <a:endParaRPr lang="en-US" sz="1200" dirty="0"/>
          </a:p>
        </p:txBody>
      </p:sp>
      <p:sp>
        <p:nvSpPr>
          <p:cNvPr id="15" name="Text 13"/>
          <p:cNvSpPr/>
          <p:nvPr/>
        </p:nvSpPr>
        <p:spPr>
          <a:xfrm>
            <a:off x="3703320" y="2990088"/>
            <a:ext cx="3200400" cy="566928"/>
          </a:xfrm>
          <a:prstGeom prst="rect">
            <a:avLst/>
          </a:prstGeom>
          <a:noFill/>
          <a:ln/>
        </p:spPr>
        <p:txBody>
          <a:bodyPr wrap="square" rtlCol="0" anchor="ctr"/>
          <a:lstStyle/>
          <a:p>
            <a:pPr marL="0" indent="0">
              <a:buNone/>
            </a:pPr>
            <a:r>
              <a:rPr lang="en-US" sz="1100" dirty="0">
                <a:solidFill>
                  <a:srgbClr val="9A958A"/>
                </a:solidFill>
                <a:latin typeface="Calibri" pitchFamily="34" charset="0"/>
                <a:ea typeface="Calibri" pitchFamily="34" charset="-122"/>
                <a:cs typeface="Calibri" pitchFamily="34" charset="-120"/>
              </a:rPr>
              <a:t>Social listening &amp; trend analysis</a:t>
            </a:r>
            <a:endParaRPr lang="en-US" sz="1100" dirty="0"/>
          </a:p>
        </p:txBody>
      </p:sp>
      <p:sp>
        <p:nvSpPr>
          <p:cNvPr id="16" name="Text 14"/>
          <p:cNvSpPr/>
          <p:nvPr/>
        </p:nvSpPr>
        <p:spPr>
          <a:xfrm>
            <a:off x="7178040" y="2990088"/>
            <a:ext cx="4526280" cy="566928"/>
          </a:xfrm>
          <a:prstGeom prst="rect">
            <a:avLst/>
          </a:prstGeom>
          <a:noFill/>
          <a:ln/>
        </p:spPr>
        <p:txBody>
          <a:bodyPr wrap="square" rtlCol="0" anchor="ctr"/>
          <a:lstStyle/>
          <a:p>
            <a:pPr marL="0" indent="0">
              <a:buNone/>
            </a:pPr>
            <a:r>
              <a:rPr lang="en-US" sz="1050" dirty="0">
                <a:solidFill>
                  <a:srgbClr val="E6E4DE"/>
                </a:solidFill>
                <a:latin typeface="Calibri" pitchFamily="34" charset="0"/>
                <a:ea typeface="Calibri" pitchFamily="34" charset="-122"/>
                <a:cs typeface="Calibri" pitchFamily="34" charset="-120"/>
              </a:rPr>
              <a:t>Conversation volume, sentiment shift, influencer identification</a:t>
            </a:r>
            <a:endParaRPr lang="en-US" sz="1050" dirty="0"/>
          </a:p>
        </p:txBody>
      </p:sp>
      <p:sp>
        <p:nvSpPr>
          <p:cNvPr id="17" name="Shape 15"/>
          <p:cNvSpPr/>
          <p:nvPr/>
        </p:nvSpPr>
        <p:spPr>
          <a:xfrm>
            <a:off x="548640" y="3557016"/>
            <a:ext cx="11201400" cy="566928"/>
          </a:xfrm>
          <a:prstGeom prst="rect">
            <a:avLst/>
          </a:prstGeom>
          <a:solidFill>
            <a:srgbClr val="16181A"/>
          </a:solidFill>
          <a:ln w="6350">
            <a:solidFill>
              <a:srgbClr val="2E3236"/>
            </a:solidFill>
            <a:prstDash val="solid"/>
          </a:ln>
        </p:spPr>
        <p:txBody>
          <a:bodyPr/>
          <a:lstStyle/>
          <a:p>
            <a:endParaRPr lang="en-US"/>
          </a:p>
        </p:txBody>
      </p:sp>
      <p:sp>
        <p:nvSpPr>
          <p:cNvPr id="18" name="Text 16"/>
          <p:cNvSpPr/>
          <p:nvPr/>
        </p:nvSpPr>
        <p:spPr>
          <a:xfrm>
            <a:off x="777240" y="3557016"/>
            <a:ext cx="2651760" cy="566928"/>
          </a:xfrm>
          <a:prstGeom prst="rect">
            <a:avLst/>
          </a:prstGeom>
          <a:noFill/>
          <a:ln/>
        </p:spPr>
        <p:txBody>
          <a:bodyPr wrap="square" rtlCol="0" anchor="ctr"/>
          <a:lstStyle/>
          <a:p>
            <a:pPr marL="0" indent="0">
              <a:buNone/>
            </a:pPr>
            <a:r>
              <a:rPr lang="en-US" sz="1200" b="1" dirty="0">
                <a:solidFill>
                  <a:srgbClr val="E6E4DE"/>
                </a:solidFill>
                <a:latin typeface="Calibri" pitchFamily="34" charset="0"/>
                <a:ea typeface="Calibri" pitchFamily="34" charset="-122"/>
                <a:cs typeface="Calibri" pitchFamily="34" charset="-120"/>
              </a:rPr>
              <a:t>Cision</a:t>
            </a:r>
            <a:endParaRPr lang="en-US" sz="1200" dirty="0"/>
          </a:p>
        </p:txBody>
      </p:sp>
      <p:sp>
        <p:nvSpPr>
          <p:cNvPr id="19" name="Text 17"/>
          <p:cNvSpPr/>
          <p:nvPr/>
        </p:nvSpPr>
        <p:spPr>
          <a:xfrm>
            <a:off x="3703320" y="3557016"/>
            <a:ext cx="3200400" cy="566928"/>
          </a:xfrm>
          <a:prstGeom prst="rect">
            <a:avLst/>
          </a:prstGeom>
          <a:noFill/>
          <a:ln/>
        </p:spPr>
        <p:txBody>
          <a:bodyPr wrap="square" rtlCol="0" anchor="ctr"/>
          <a:lstStyle/>
          <a:p>
            <a:pPr marL="0" indent="0">
              <a:buNone/>
            </a:pPr>
            <a:r>
              <a:rPr lang="en-US" sz="1100" dirty="0">
                <a:solidFill>
                  <a:srgbClr val="9A958A"/>
                </a:solidFill>
                <a:latin typeface="Calibri" pitchFamily="34" charset="0"/>
                <a:ea typeface="Calibri" pitchFamily="34" charset="-122"/>
                <a:cs typeface="Calibri" pitchFamily="34" charset="-120"/>
              </a:rPr>
              <a:t>PR outreach &amp; press tracking</a:t>
            </a:r>
            <a:endParaRPr lang="en-US" sz="1100" dirty="0"/>
          </a:p>
        </p:txBody>
      </p:sp>
      <p:sp>
        <p:nvSpPr>
          <p:cNvPr id="20" name="Text 18"/>
          <p:cNvSpPr/>
          <p:nvPr/>
        </p:nvSpPr>
        <p:spPr>
          <a:xfrm>
            <a:off x="7178040" y="3557016"/>
            <a:ext cx="4526280" cy="566928"/>
          </a:xfrm>
          <a:prstGeom prst="rect">
            <a:avLst/>
          </a:prstGeom>
          <a:noFill/>
          <a:ln/>
        </p:spPr>
        <p:txBody>
          <a:bodyPr wrap="square" rtlCol="0" anchor="ctr"/>
          <a:lstStyle/>
          <a:p>
            <a:pPr marL="0" indent="0">
              <a:buNone/>
            </a:pPr>
            <a:r>
              <a:rPr lang="en-US" sz="1050" dirty="0">
                <a:solidFill>
                  <a:srgbClr val="E6E4DE"/>
                </a:solidFill>
                <a:latin typeface="Calibri" pitchFamily="34" charset="0"/>
                <a:ea typeface="Calibri" pitchFamily="34" charset="-122"/>
                <a:cs typeface="Calibri" pitchFamily="34" charset="-120"/>
              </a:rPr>
              <a:t>Pitches sent, placements landed, estimated media value (EMV)</a:t>
            </a:r>
            <a:endParaRPr lang="en-US" sz="1050" dirty="0"/>
          </a:p>
        </p:txBody>
      </p:sp>
      <p:sp>
        <p:nvSpPr>
          <p:cNvPr id="21" name="Shape 19"/>
          <p:cNvSpPr/>
          <p:nvPr/>
        </p:nvSpPr>
        <p:spPr>
          <a:xfrm>
            <a:off x="548640" y="4123944"/>
            <a:ext cx="11201400" cy="566928"/>
          </a:xfrm>
          <a:prstGeom prst="rect">
            <a:avLst/>
          </a:prstGeom>
          <a:solidFill>
            <a:srgbClr val="0E0F10"/>
          </a:solidFill>
          <a:ln w="6350">
            <a:solidFill>
              <a:srgbClr val="2E3236"/>
            </a:solidFill>
            <a:prstDash val="solid"/>
          </a:ln>
        </p:spPr>
        <p:txBody>
          <a:bodyPr/>
          <a:lstStyle/>
          <a:p>
            <a:endParaRPr lang="en-US"/>
          </a:p>
        </p:txBody>
      </p:sp>
      <p:sp>
        <p:nvSpPr>
          <p:cNvPr id="22" name="Text 20"/>
          <p:cNvSpPr/>
          <p:nvPr/>
        </p:nvSpPr>
        <p:spPr>
          <a:xfrm>
            <a:off x="777240" y="4123944"/>
            <a:ext cx="2651760" cy="566928"/>
          </a:xfrm>
          <a:prstGeom prst="rect">
            <a:avLst/>
          </a:prstGeom>
          <a:noFill/>
          <a:ln/>
        </p:spPr>
        <p:txBody>
          <a:bodyPr wrap="square" rtlCol="0" anchor="ctr"/>
          <a:lstStyle/>
          <a:p>
            <a:pPr marL="0" indent="0">
              <a:buNone/>
            </a:pPr>
            <a:r>
              <a:rPr lang="en-US" sz="1200" b="1" dirty="0">
                <a:solidFill>
                  <a:srgbClr val="E6E4DE"/>
                </a:solidFill>
                <a:latin typeface="Calibri" pitchFamily="34" charset="0"/>
                <a:ea typeface="Calibri" pitchFamily="34" charset="-122"/>
                <a:cs typeface="Calibri" pitchFamily="34" charset="-120"/>
              </a:rPr>
              <a:t>Twitch Drops Dashboard</a:t>
            </a:r>
            <a:endParaRPr lang="en-US" sz="1200" dirty="0"/>
          </a:p>
        </p:txBody>
      </p:sp>
      <p:sp>
        <p:nvSpPr>
          <p:cNvPr id="23" name="Text 21"/>
          <p:cNvSpPr/>
          <p:nvPr/>
        </p:nvSpPr>
        <p:spPr>
          <a:xfrm>
            <a:off x="3703320" y="4123944"/>
            <a:ext cx="3200400" cy="566928"/>
          </a:xfrm>
          <a:prstGeom prst="rect">
            <a:avLst/>
          </a:prstGeom>
          <a:noFill/>
          <a:ln/>
        </p:spPr>
        <p:txBody>
          <a:bodyPr wrap="square" rtlCol="0" anchor="ctr"/>
          <a:lstStyle/>
          <a:p>
            <a:pPr marL="0" indent="0">
              <a:buNone/>
            </a:pPr>
            <a:r>
              <a:rPr lang="en-US" sz="1100" dirty="0">
                <a:solidFill>
                  <a:srgbClr val="9A958A"/>
                </a:solidFill>
                <a:latin typeface="Calibri" pitchFamily="34" charset="0"/>
                <a:ea typeface="Calibri" pitchFamily="34" charset="-122"/>
                <a:cs typeface="Calibri" pitchFamily="34" charset="-120"/>
              </a:rPr>
              <a:t>Drops event performance</a:t>
            </a:r>
            <a:endParaRPr lang="en-US" sz="1100" dirty="0"/>
          </a:p>
        </p:txBody>
      </p:sp>
      <p:sp>
        <p:nvSpPr>
          <p:cNvPr id="24" name="Text 22"/>
          <p:cNvSpPr/>
          <p:nvPr/>
        </p:nvSpPr>
        <p:spPr>
          <a:xfrm>
            <a:off x="7178040" y="4123944"/>
            <a:ext cx="4526280" cy="566928"/>
          </a:xfrm>
          <a:prstGeom prst="rect">
            <a:avLst/>
          </a:prstGeom>
          <a:noFill/>
          <a:ln/>
        </p:spPr>
        <p:txBody>
          <a:bodyPr wrap="square" rtlCol="0" anchor="ctr"/>
          <a:lstStyle/>
          <a:p>
            <a:pPr marL="0" indent="0">
              <a:buNone/>
            </a:pPr>
            <a:r>
              <a:rPr lang="en-US" sz="1050" dirty="0">
                <a:solidFill>
                  <a:srgbClr val="E6E4DE"/>
                </a:solidFill>
                <a:latin typeface="Calibri" pitchFamily="34" charset="0"/>
                <a:ea typeface="Calibri" pitchFamily="34" charset="-122"/>
                <a:cs typeface="Calibri" pitchFamily="34" charset="-120"/>
              </a:rPr>
              <a:t>Participating channels, hours watched, drops claimed, new viewers</a:t>
            </a:r>
            <a:endParaRPr lang="en-US" sz="1050" dirty="0"/>
          </a:p>
        </p:txBody>
      </p:sp>
      <p:sp>
        <p:nvSpPr>
          <p:cNvPr id="25" name="Shape 23"/>
          <p:cNvSpPr/>
          <p:nvPr/>
        </p:nvSpPr>
        <p:spPr>
          <a:xfrm>
            <a:off x="548640" y="4690872"/>
            <a:ext cx="11201400" cy="566928"/>
          </a:xfrm>
          <a:prstGeom prst="rect">
            <a:avLst/>
          </a:prstGeom>
          <a:solidFill>
            <a:srgbClr val="16181A"/>
          </a:solidFill>
          <a:ln w="6350">
            <a:solidFill>
              <a:srgbClr val="2E3236"/>
            </a:solidFill>
            <a:prstDash val="solid"/>
          </a:ln>
        </p:spPr>
        <p:txBody>
          <a:bodyPr/>
          <a:lstStyle/>
          <a:p>
            <a:endParaRPr lang="en-US"/>
          </a:p>
        </p:txBody>
      </p:sp>
      <p:sp>
        <p:nvSpPr>
          <p:cNvPr id="26" name="Text 24"/>
          <p:cNvSpPr/>
          <p:nvPr/>
        </p:nvSpPr>
        <p:spPr>
          <a:xfrm>
            <a:off x="777240" y="4690872"/>
            <a:ext cx="2651760" cy="566928"/>
          </a:xfrm>
          <a:prstGeom prst="rect">
            <a:avLst/>
          </a:prstGeom>
          <a:noFill/>
          <a:ln/>
        </p:spPr>
        <p:txBody>
          <a:bodyPr wrap="square" rtlCol="0" anchor="ctr"/>
          <a:lstStyle/>
          <a:p>
            <a:pPr marL="0" indent="0">
              <a:buNone/>
            </a:pPr>
            <a:r>
              <a:rPr lang="en-US" sz="1200" b="1" dirty="0">
                <a:solidFill>
                  <a:srgbClr val="E6E4DE"/>
                </a:solidFill>
                <a:latin typeface="Calibri" pitchFamily="34" charset="0"/>
                <a:ea typeface="Calibri" pitchFamily="34" charset="-122"/>
                <a:cs typeface="Calibri" pitchFamily="34" charset="-120"/>
              </a:rPr>
              <a:t>CreatorIQ / GRIN</a:t>
            </a:r>
            <a:endParaRPr lang="en-US" sz="1200" dirty="0"/>
          </a:p>
        </p:txBody>
      </p:sp>
      <p:sp>
        <p:nvSpPr>
          <p:cNvPr id="27" name="Text 25"/>
          <p:cNvSpPr/>
          <p:nvPr/>
        </p:nvSpPr>
        <p:spPr>
          <a:xfrm>
            <a:off x="3703320" y="4690872"/>
            <a:ext cx="3200400" cy="566928"/>
          </a:xfrm>
          <a:prstGeom prst="rect">
            <a:avLst/>
          </a:prstGeom>
          <a:noFill/>
          <a:ln/>
        </p:spPr>
        <p:txBody>
          <a:bodyPr wrap="square" rtlCol="0" anchor="ctr"/>
          <a:lstStyle/>
          <a:p>
            <a:pPr marL="0" indent="0">
              <a:buNone/>
            </a:pPr>
            <a:r>
              <a:rPr lang="en-US" sz="1100" dirty="0">
                <a:solidFill>
                  <a:srgbClr val="9A958A"/>
                </a:solidFill>
                <a:latin typeface="Calibri" pitchFamily="34" charset="0"/>
                <a:ea typeface="Calibri" pitchFamily="34" charset="-122"/>
                <a:cs typeface="Calibri" pitchFamily="34" charset="-120"/>
              </a:rPr>
              <a:t>Influencer &amp; creator relationships</a:t>
            </a:r>
            <a:endParaRPr lang="en-US" sz="1100" dirty="0"/>
          </a:p>
        </p:txBody>
      </p:sp>
      <p:sp>
        <p:nvSpPr>
          <p:cNvPr id="28" name="Text 26"/>
          <p:cNvSpPr/>
          <p:nvPr/>
        </p:nvSpPr>
        <p:spPr>
          <a:xfrm>
            <a:off x="7178040" y="4690872"/>
            <a:ext cx="4526280" cy="566928"/>
          </a:xfrm>
          <a:prstGeom prst="rect">
            <a:avLst/>
          </a:prstGeom>
          <a:noFill/>
          <a:ln/>
        </p:spPr>
        <p:txBody>
          <a:bodyPr wrap="square" rtlCol="0" anchor="ctr"/>
          <a:lstStyle/>
          <a:p>
            <a:pPr marL="0" indent="0">
              <a:buNone/>
            </a:pPr>
            <a:r>
              <a:rPr lang="en-US" sz="1050" dirty="0">
                <a:solidFill>
                  <a:srgbClr val="E6E4DE"/>
                </a:solidFill>
                <a:latin typeface="Calibri" pitchFamily="34" charset="0"/>
                <a:ea typeface="Calibri" pitchFamily="34" charset="-122"/>
                <a:cs typeface="Calibri" pitchFamily="34" charset="-120"/>
              </a:rPr>
              <a:t>Creator reach, engagement rate, cost per engagement, CPM</a:t>
            </a:r>
            <a:endParaRPr lang="en-US" sz="1050" dirty="0"/>
          </a:p>
        </p:txBody>
      </p:sp>
      <p:sp>
        <p:nvSpPr>
          <p:cNvPr id="29" name="Shape 27"/>
          <p:cNvSpPr/>
          <p:nvPr/>
        </p:nvSpPr>
        <p:spPr>
          <a:xfrm>
            <a:off x="548640" y="5257800"/>
            <a:ext cx="11201400" cy="566928"/>
          </a:xfrm>
          <a:prstGeom prst="rect">
            <a:avLst/>
          </a:prstGeom>
          <a:solidFill>
            <a:srgbClr val="0E0F10"/>
          </a:solidFill>
          <a:ln w="6350">
            <a:solidFill>
              <a:srgbClr val="2E3236"/>
            </a:solidFill>
            <a:prstDash val="solid"/>
          </a:ln>
        </p:spPr>
        <p:txBody>
          <a:bodyPr/>
          <a:lstStyle/>
          <a:p>
            <a:endParaRPr lang="en-US"/>
          </a:p>
        </p:txBody>
      </p:sp>
      <p:sp>
        <p:nvSpPr>
          <p:cNvPr id="30" name="Text 28"/>
          <p:cNvSpPr/>
          <p:nvPr/>
        </p:nvSpPr>
        <p:spPr>
          <a:xfrm>
            <a:off x="777240" y="5257800"/>
            <a:ext cx="2651760" cy="566928"/>
          </a:xfrm>
          <a:prstGeom prst="rect">
            <a:avLst/>
          </a:prstGeom>
          <a:noFill/>
          <a:ln/>
        </p:spPr>
        <p:txBody>
          <a:bodyPr wrap="square" rtlCol="0" anchor="ctr"/>
          <a:lstStyle/>
          <a:p>
            <a:pPr marL="0" indent="0">
              <a:buNone/>
            </a:pPr>
            <a:r>
              <a:rPr lang="en-US" sz="1200" b="1" dirty="0">
                <a:solidFill>
                  <a:srgbClr val="E6E4DE"/>
                </a:solidFill>
                <a:latin typeface="Calibri" pitchFamily="34" charset="0"/>
                <a:ea typeface="Calibri" pitchFamily="34" charset="-122"/>
                <a:cs typeface="Calibri" pitchFamily="34" charset="-120"/>
              </a:rPr>
              <a:t>Reddit + TweetDeck / Pro</a:t>
            </a:r>
            <a:endParaRPr lang="en-US" sz="1200" dirty="0"/>
          </a:p>
        </p:txBody>
      </p:sp>
      <p:sp>
        <p:nvSpPr>
          <p:cNvPr id="31" name="Text 29"/>
          <p:cNvSpPr/>
          <p:nvPr/>
        </p:nvSpPr>
        <p:spPr>
          <a:xfrm>
            <a:off x="3703320" y="5257800"/>
            <a:ext cx="3200400" cy="566928"/>
          </a:xfrm>
          <a:prstGeom prst="rect">
            <a:avLst/>
          </a:prstGeom>
          <a:noFill/>
          <a:ln/>
        </p:spPr>
        <p:txBody>
          <a:bodyPr wrap="square" rtlCol="0" anchor="ctr"/>
          <a:lstStyle/>
          <a:p>
            <a:pPr marL="0" indent="0">
              <a:buNone/>
            </a:pPr>
            <a:r>
              <a:rPr lang="en-US" sz="1100" dirty="0">
                <a:solidFill>
                  <a:srgbClr val="9A958A"/>
                </a:solidFill>
                <a:latin typeface="Calibri" pitchFamily="34" charset="0"/>
                <a:ea typeface="Calibri" pitchFamily="34" charset="-122"/>
                <a:cs typeface="Calibri" pitchFamily="34" charset="-120"/>
              </a:rPr>
              <a:t>Community &amp; X conversation</a:t>
            </a:r>
            <a:endParaRPr lang="en-US" sz="1100" dirty="0"/>
          </a:p>
        </p:txBody>
      </p:sp>
      <p:sp>
        <p:nvSpPr>
          <p:cNvPr id="32" name="Text 30"/>
          <p:cNvSpPr/>
          <p:nvPr/>
        </p:nvSpPr>
        <p:spPr>
          <a:xfrm>
            <a:off x="7178040" y="5257800"/>
            <a:ext cx="4526280" cy="566928"/>
          </a:xfrm>
          <a:prstGeom prst="rect">
            <a:avLst/>
          </a:prstGeom>
          <a:noFill/>
          <a:ln/>
        </p:spPr>
        <p:txBody>
          <a:bodyPr wrap="square" rtlCol="0" anchor="ctr"/>
          <a:lstStyle/>
          <a:p>
            <a:pPr marL="0" indent="0">
              <a:buNone/>
            </a:pPr>
            <a:r>
              <a:rPr lang="en-US" sz="1050" dirty="0">
                <a:solidFill>
                  <a:srgbClr val="E6E4DE"/>
                </a:solidFill>
                <a:latin typeface="Calibri" pitchFamily="34" charset="0"/>
                <a:ea typeface="Calibri" pitchFamily="34" charset="-122"/>
                <a:cs typeface="Calibri" pitchFamily="34" charset="-120"/>
              </a:rPr>
              <a:t>Thread volume, upvotes, subreddit growth, viral post tracking</a:t>
            </a:r>
            <a:endParaRPr lang="en-US" sz="1050" dirty="0"/>
          </a:p>
        </p:txBody>
      </p:sp>
      <p:sp>
        <p:nvSpPr>
          <p:cNvPr id="33" name="Text 31"/>
          <p:cNvSpPr/>
          <p:nvPr/>
        </p:nvSpPr>
        <p:spPr>
          <a:xfrm>
            <a:off x="548640" y="6080760"/>
            <a:ext cx="11201400" cy="256032"/>
          </a:xfrm>
          <a:prstGeom prst="rect">
            <a:avLst/>
          </a:prstGeom>
          <a:noFill/>
          <a:ln/>
        </p:spPr>
        <p:txBody>
          <a:bodyPr wrap="square" rtlCol="0" anchor="ctr"/>
          <a:lstStyle/>
          <a:p>
            <a:pPr marL="0" indent="0">
              <a:buNone/>
            </a:pPr>
            <a:r>
              <a:rPr lang="en-US" sz="900" dirty="0">
                <a:solidFill>
                  <a:srgbClr val="6A665E"/>
                </a:solidFill>
                <a:latin typeface="Calibri" pitchFamily="34" charset="0"/>
                <a:ea typeface="Calibri" pitchFamily="34" charset="-122"/>
                <a:cs typeface="Calibri" pitchFamily="34" charset="-120"/>
              </a:rPr>
              <a:t>Source: </a:t>
            </a:r>
            <a:r>
              <a:rPr lang="en-US" sz="900" u="sng" dirty="0">
                <a:solidFill>
                  <a:srgbClr val="C96A2B"/>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Stephen &amp; Galak (2012), Journal of Marketing Research</a:t>
            </a:r>
            <a:r>
              <a:rPr lang="en-US" sz="900" dirty="0">
                <a:solidFill>
                  <a:srgbClr val="6A665E"/>
                </a:solidFill>
                <a:latin typeface="Calibri" pitchFamily="34" charset="0"/>
                <a:ea typeface="Calibri" pitchFamily="34" charset="-122"/>
                <a:cs typeface="Calibri" pitchFamily="34" charset="-120"/>
              </a:rPr>
              <a:t>, </a:t>
            </a:r>
            <a:r>
              <a:rPr lang="en-US" sz="900" u="sng" dirty="0">
                <a:solidFill>
                  <a:srgbClr val="C96A2B"/>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Lovett &amp; Staelin (2016), Marketing Science</a:t>
            </a:r>
            <a:endParaRPr lang="en-US" sz="900" dirty="0"/>
          </a:p>
        </p:txBody>
      </p:sp>
      <p:sp>
        <p:nvSpPr>
          <p:cNvPr id="34" name="Shape 32"/>
          <p:cNvSpPr/>
          <p:nvPr/>
        </p:nvSpPr>
        <p:spPr>
          <a:xfrm>
            <a:off x="457200" y="6565392"/>
            <a:ext cx="11277295" cy="0"/>
          </a:xfrm>
          <a:prstGeom prst="line">
            <a:avLst/>
          </a:prstGeom>
          <a:noFill/>
          <a:ln w="9525">
            <a:solidFill>
              <a:srgbClr val="3A3E42"/>
            </a:solidFill>
            <a:prstDash val="solid"/>
          </a:ln>
        </p:spPr>
        <p:txBody>
          <a:bodyPr/>
          <a:lstStyle/>
          <a:p>
            <a:endParaRPr lang="en-US"/>
          </a:p>
        </p:txBody>
      </p:sp>
      <p:sp>
        <p:nvSpPr>
          <p:cNvPr id="35" name="Text 33"/>
          <p:cNvSpPr/>
          <p:nvPr/>
        </p:nvSpPr>
        <p:spPr>
          <a:xfrm>
            <a:off x="457200" y="6601968"/>
            <a:ext cx="8229600" cy="228600"/>
          </a:xfrm>
          <a:prstGeom prst="rect">
            <a:avLst/>
          </a:prstGeom>
          <a:noFill/>
          <a:ln/>
        </p:spPr>
        <p:txBody>
          <a:bodyPr wrap="square" rtlCol="0" anchor="ctr"/>
          <a:lstStyle/>
          <a:p>
            <a:pPr marL="0" indent="0">
              <a:buNone/>
            </a:pPr>
            <a:r>
              <a:rPr lang="en-US" sz="900" kern="0" spc="200" dirty="0">
                <a:solidFill>
                  <a:srgbClr val="6A665E"/>
                </a:solidFill>
                <a:latin typeface="Calibri" pitchFamily="34" charset="0"/>
                <a:ea typeface="Calibri" pitchFamily="34" charset="-122"/>
                <a:cs typeface="Calibri" pitchFamily="34" charset="-120"/>
              </a:rPr>
              <a:t>TARKOV  ·  CONTENT MARKETING CAMPAIGN  ·  JULIO HERNANDEZ</a:t>
            </a:r>
            <a:endParaRPr lang="en-US" sz="900" dirty="0"/>
          </a:p>
        </p:txBody>
      </p:sp>
      <p:sp>
        <p:nvSpPr>
          <p:cNvPr id="36" name="Text 34"/>
          <p:cNvSpPr/>
          <p:nvPr/>
        </p:nvSpPr>
        <p:spPr>
          <a:xfrm>
            <a:off x="10789920" y="6601968"/>
            <a:ext cx="914400" cy="228600"/>
          </a:xfrm>
          <a:prstGeom prst="rect">
            <a:avLst/>
          </a:prstGeom>
          <a:noFill/>
          <a:ln/>
        </p:spPr>
        <p:txBody>
          <a:bodyPr wrap="square" rtlCol="0" anchor="ctr"/>
          <a:lstStyle/>
          <a:p>
            <a:pPr marL="0" indent="0" algn="r">
              <a:buNone/>
            </a:pPr>
            <a:r>
              <a:rPr lang="en-US" sz="900" dirty="0">
                <a:solidFill>
                  <a:srgbClr val="6A665E"/>
                </a:solidFill>
                <a:latin typeface="Calibri" pitchFamily="34" charset="0"/>
                <a:ea typeface="Calibri" pitchFamily="34" charset="-122"/>
                <a:cs typeface="Calibri"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0F10"/>
        </a:solidFill>
        <a:effectLst/>
      </p:bgPr>
    </p:bg>
    <p:spTree>
      <p:nvGrpSpPr>
        <p:cNvPr id="1" name=""/>
        <p:cNvGrpSpPr/>
        <p:nvPr/>
      </p:nvGrpSpPr>
      <p:grpSpPr>
        <a:xfrm>
          <a:off x="0" y="0"/>
          <a:ext cx="0" cy="0"/>
          <a:chOff x="0" y="0"/>
          <a:chExt cx="0" cy="0"/>
        </a:xfrm>
      </p:grpSpPr>
      <p:pic>
        <p:nvPicPr>
          <p:cNvPr id="2" name="Image 0" descr="/home/user/workspace/tarkov-deck/images/ss2.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70000"/>
            </a:srgbClr>
          </a:solidFill>
          <a:ln/>
        </p:spPr>
        <p:txBody>
          <a:bodyPr/>
          <a:lstStyle/>
          <a:p>
            <a:endParaRPr lang="en-US"/>
          </a:p>
        </p:txBody>
      </p:sp>
      <p:sp>
        <p:nvSpPr>
          <p:cNvPr id="4" name="Shape 1"/>
          <p:cNvSpPr/>
          <p:nvPr/>
        </p:nvSpPr>
        <p:spPr>
          <a:xfrm>
            <a:off x="0" y="0"/>
            <a:ext cx="7498080" cy="6858000"/>
          </a:xfrm>
          <a:prstGeom prst="rect">
            <a:avLst/>
          </a:prstGeom>
          <a:solidFill>
            <a:srgbClr val="0E0F10">
              <a:alpha val="92000"/>
            </a:srgbClr>
          </a:solidFill>
          <a:ln/>
        </p:spPr>
        <p:txBody>
          <a:bodyPr/>
          <a:lstStyle/>
          <a:p>
            <a:endParaRPr lang="en-US"/>
          </a:p>
        </p:txBody>
      </p:sp>
      <p:sp>
        <p:nvSpPr>
          <p:cNvPr id="5" name="Shape 2"/>
          <p:cNvSpPr/>
          <p:nvPr/>
        </p:nvSpPr>
        <p:spPr>
          <a:xfrm>
            <a:off x="7498080" y="0"/>
            <a:ext cx="0" cy="6858000"/>
          </a:xfrm>
          <a:prstGeom prst="line">
            <a:avLst/>
          </a:prstGeom>
          <a:noFill/>
          <a:ln w="15875">
            <a:solidFill>
              <a:srgbClr val="C96A2B"/>
            </a:solidFill>
            <a:prstDash val="solid"/>
          </a:ln>
        </p:spPr>
        <p:txBody>
          <a:bodyPr/>
          <a:lstStyle/>
          <a:p>
            <a:endParaRPr lang="en-US"/>
          </a:p>
        </p:txBody>
      </p:sp>
      <p:sp>
        <p:nvSpPr>
          <p:cNvPr id="6" name="Text 3"/>
          <p:cNvSpPr/>
          <p:nvPr/>
        </p:nvSpPr>
        <p:spPr>
          <a:xfrm>
            <a:off x="548640" y="502920"/>
            <a:ext cx="6400800" cy="320040"/>
          </a:xfrm>
          <a:prstGeom prst="rect">
            <a:avLst/>
          </a:prstGeom>
          <a:noFill/>
          <a:ln/>
        </p:spPr>
        <p:txBody>
          <a:bodyPr wrap="square" rtlCol="0" anchor="ctr"/>
          <a:lstStyle/>
          <a:p>
            <a:pPr marL="0" indent="0">
              <a:buNone/>
            </a:pPr>
            <a:r>
              <a:rPr lang="en-US" sz="1000" b="1" kern="0" spc="400" dirty="0">
                <a:solidFill>
                  <a:srgbClr val="C96A2B"/>
                </a:solidFill>
                <a:latin typeface="Calibri" pitchFamily="34" charset="0"/>
                <a:ea typeface="Calibri" pitchFamily="34" charset="-122"/>
                <a:cs typeface="Calibri" pitchFamily="34" charset="-120"/>
              </a:rPr>
              <a:t>08  ·  THE CLOSE</a:t>
            </a:r>
            <a:endParaRPr lang="en-US" sz="1000" dirty="0"/>
          </a:p>
        </p:txBody>
      </p:sp>
      <p:sp>
        <p:nvSpPr>
          <p:cNvPr id="7" name="Text 4"/>
          <p:cNvSpPr/>
          <p:nvPr/>
        </p:nvSpPr>
        <p:spPr>
          <a:xfrm>
            <a:off x="548640" y="804672"/>
            <a:ext cx="6675120" cy="731520"/>
          </a:xfrm>
          <a:prstGeom prst="rect">
            <a:avLst/>
          </a:prstGeom>
          <a:noFill/>
          <a:ln/>
        </p:spPr>
        <p:txBody>
          <a:bodyPr wrap="square" rtlCol="0" anchor="ctr"/>
          <a:lstStyle/>
          <a:p>
            <a:pPr marL="0" indent="0">
              <a:buNone/>
            </a:pPr>
            <a:r>
              <a:rPr lang="en-US" sz="3200" b="1" dirty="0">
                <a:solidFill>
                  <a:srgbClr val="E6E4DE"/>
                </a:solidFill>
                <a:latin typeface="Trebuchet MS" pitchFamily="34" charset="0"/>
                <a:ea typeface="Trebuchet MS" pitchFamily="34" charset="-122"/>
                <a:cs typeface="Trebuchet MS" pitchFamily="34" charset="-120"/>
              </a:rPr>
              <a:t>Why this works for Battlestate</a:t>
            </a:r>
            <a:endParaRPr lang="en-US" sz="3200" dirty="0"/>
          </a:p>
        </p:txBody>
      </p:sp>
      <p:sp>
        <p:nvSpPr>
          <p:cNvPr id="8" name="Shape 5"/>
          <p:cNvSpPr/>
          <p:nvPr/>
        </p:nvSpPr>
        <p:spPr>
          <a:xfrm>
            <a:off x="548640" y="1536192"/>
            <a:ext cx="1005840" cy="54864"/>
          </a:xfrm>
          <a:prstGeom prst="rect">
            <a:avLst/>
          </a:prstGeom>
          <a:solidFill>
            <a:srgbClr val="C96A2B"/>
          </a:solidFill>
          <a:ln/>
        </p:spPr>
        <p:txBody>
          <a:bodyPr/>
          <a:lstStyle/>
          <a:p>
            <a:endParaRPr lang="en-US"/>
          </a:p>
        </p:txBody>
      </p:sp>
      <p:sp>
        <p:nvSpPr>
          <p:cNvPr id="9" name="Text 6"/>
          <p:cNvSpPr/>
          <p:nvPr/>
        </p:nvSpPr>
        <p:spPr>
          <a:xfrm>
            <a:off x="548640" y="1965960"/>
            <a:ext cx="6675120" cy="320040"/>
          </a:xfrm>
          <a:prstGeom prst="rect">
            <a:avLst/>
          </a:prstGeom>
          <a:noFill/>
          <a:ln/>
        </p:spPr>
        <p:txBody>
          <a:bodyPr wrap="square" rtlCol="0" anchor="ctr"/>
          <a:lstStyle/>
          <a:p>
            <a:pPr marL="0" indent="0">
              <a:buNone/>
            </a:pPr>
            <a:r>
              <a:rPr lang="en-US" sz="1350" b="1" dirty="0">
                <a:solidFill>
                  <a:srgbClr val="C96A2B"/>
                </a:solidFill>
                <a:latin typeface="Trebuchet MS" pitchFamily="34" charset="0"/>
                <a:ea typeface="Trebuchet MS" pitchFamily="34" charset="-122"/>
                <a:cs typeface="Trebuchet MS" pitchFamily="34" charset="-120"/>
              </a:rPr>
              <a:t>Respects the community's voice</a:t>
            </a:r>
            <a:endParaRPr lang="en-US" sz="1350" dirty="0"/>
          </a:p>
        </p:txBody>
      </p:sp>
      <p:sp>
        <p:nvSpPr>
          <p:cNvPr id="10" name="Text 7"/>
          <p:cNvSpPr/>
          <p:nvPr/>
        </p:nvSpPr>
        <p:spPr>
          <a:xfrm>
            <a:off x="548640" y="2258568"/>
            <a:ext cx="6675120" cy="566928"/>
          </a:xfrm>
          <a:prstGeom prst="rect">
            <a:avLst/>
          </a:prstGeom>
          <a:noFill/>
          <a:ln/>
        </p:spPr>
        <p:txBody>
          <a:bodyPr wrap="square" rtlCol="0" anchor="ctr"/>
          <a:lstStyle/>
          <a:p>
            <a:pPr marL="0" indent="0">
              <a:lnSpc>
                <a:spcPct val="130000"/>
              </a:lnSpc>
              <a:buNone/>
            </a:pPr>
            <a:r>
              <a:rPr lang="en-US" sz="1100" dirty="0">
                <a:solidFill>
                  <a:srgbClr val="E6E4DE"/>
                </a:solidFill>
                <a:latin typeface="Calibri" pitchFamily="34" charset="0"/>
                <a:ea typeface="Calibri" pitchFamily="34" charset="-122"/>
                <a:cs typeface="Calibri" pitchFamily="34" charset="-120"/>
              </a:rPr>
              <a:t>We amplify creators rather than talk over them. In a genre where trust is earned, that is a structural advantage no paid budget can buy.</a:t>
            </a:r>
            <a:endParaRPr lang="en-US" sz="1100" dirty="0"/>
          </a:p>
        </p:txBody>
      </p:sp>
      <p:sp>
        <p:nvSpPr>
          <p:cNvPr id="11" name="Text 8"/>
          <p:cNvSpPr/>
          <p:nvPr/>
        </p:nvSpPr>
        <p:spPr>
          <a:xfrm>
            <a:off x="548640" y="2880360"/>
            <a:ext cx="6675120" cy="320040"/>
          </a:xfrm>
          <a:prstGeom prst="rect">
            <a:avLst/>
          </a:prstGeom>
          <a:noFill/>
          <a:ln/>
        </p:spPr>
        <p:txBody>
          <a:bodyPr wrap="square" rtlCol="0" anchor="ctr"/>
          <a:lstStyle/>
          <a:p>
            <a:pPr marL="0" indent="0">
              <a:buNone/>
            </a:pPr>
            <a:r>
              <a:rPr lang="en-US" sz="1350" b="1" dirty="0">
                <a:solidFill>
                  <a:srgbClr val="C96A2B"/>
                </a:solidFill>
                <a:latin typeface="Trebuchet MS" pitchFamily="34" charset="0"/>
                <a:ea typeface="Trebuchet MS" pitchFamily="34" charset="-122"/>
                <a:cs typeface="Trebuchet MS" pitchFamily="34" charset="-120"/>
              </a:rPr>
              <a:t>Every dollar is measurable</a:t>
            </a:r>
            <a:endParaRPr lang="en-US" sz="1350" dirty="0"/>
          </a:p>
        </p:txBody>
      </p:sp>
      <p:sp>
        <p:nvSpPr>
          <p:cNvPr id="12" name="Text 9"/>
          <p:cNvSpPr/>
          <p:nvPr/>
        </p:nvSpPr>
        <p:spPr>
          <a:xfrm>
            <a:off x="548640" y="3172968"/>
            <a:ext cx="6675120" cy="566928"/>
          </a:xfrm>
          <a:prstGeom prst="rect">
            <a:avLst/>
          </a:prstGeom>
          <a:noFill/>
          <a:ln/>
        </p:spPr>
        <p:txBody>
          <a:bodyPr wrap="square" rtlCol="0" anchor="ctr"/>
          <a:lstStyle/>
          <a:p>
            <a:pPr marL="0" indent="0">
              <a:lnSpc>
                <a:spcPct val="130000"/>
              </a:lnSpc>
              <a:buNone/>
            </a:pPr>
            <a:r>
              <a:rPr lang="en-US" sz="1100" dirty="0">
                <a:solidFill>
                  <a:srgbClr val="E6E4DE"/>
                </a:solidFill>
                <a:latin typeface="Calibri" pitchFamily="34" charset="0"/>
                <a:ea typeface="Calibri" pitchFamily="34" charset="-122"/>
                <a:cs typeface="Calibri" pitchFamily="34" charset="-120"/>
              </a:rPr>
              <a:t>Each tactic is paired with a real tool — GA4, Meta Ads Manager, Meltwater, Cision — so we know what moved sales, viewership, and Discord growth, and what did not.</a:t>
            </a:r>
            <a:endParaRPr lang="en-US" sz="1100" dirty="0"/>
          </a:p>
        </p:txBody>
      </p:sp>
      <p:sp>
        <p:nvSpPr>
          <p:cNvPr id="13" name="Text 10"/>
          <p:cNvSpPr/>
          <p:nvPr/>
        </p:nvSpPr>
        <p:spPr>
          <a:xfrm>
            <a:off x="548640" y="3794760"/>
            <a:ext cx="6675120" cy="320040"/>
          </a:xfrm>
          <a:prstGeom prst="rect">
            <a:avLst/>
          </a:prstGeom>
          <a:noFill/>
          <a:ln/>
        </p:spPr>
        <p:txBody>
          <a:bodyPr wrap="square" rtlCol="0" anchor="ctr"/>
          <a:lstStyle/>
          <a:p>
            <a:pPr marL="0" indent="0">
              <a:buNone/>
            </a:pPr>
            <a:r>
              <a:rPr lang="en-US" sz="1350" b="1" dirty="0">
                <a:solidFill>
                  <a:srgbClr val="C96A2B"/>
                </a:solidFill>
                <a:latin typeface="Trebuchet MS" pitchFamily="34" charset="0"/>
                <a:ea typeface="Trebuchet MS" pitchFamily="34" charset="-122"/>
                <a:cs typeface="Trebuchet MS" pitchFamily="34" charset="-120"/>
              </a:rPr>
              <a:t>Built for the wipe cadence</a:t>
            </a:r>
            <a:endParaRPr lang="en-US" sz="1350" dirty="0"/>
          </a:p>
        </p:txBody>
      </p:sp>
      <p:sp>
        <p:nvSpPr>
          <p:cNvPr id="14" name="Text 11"/>
          <p:cNvSpPr/>
          <p:nvPr/>
        </p:nvSpPr>
        <p:spPr>
          <a:xfrm>
            <a:off x="548640" y="4087368"/>
            <a:ext cx="6675120" cy="566928"/>
          </a:xfrm>
          <a:prstGeom prst="rect">
            <a:avLst/>
          </a:prstGeom>
          <a:noFill/>
          <a:ln/>
        </p:spPr>
        <p:txBody>
          <a:bodyPr wrap="square" rtlCol="0" anchor="ctr"/>
          <a:lstStyle/>
          <a:p>
            <a:pPr marL="0" indent="0">
              <a:lnSpc>
                <a:spcPct val="130000"/>
              </a:lnSpc>
              <a:buNone/>
            </a:pPr>
            <a:r>
              <a:rPr lang="en-US" sz="1100" dirty="0">
                <a:solidFill>
                  <a:srgbClr val="E6E4DE"/>
                </a:solidFill>
                <a:latin typeface="Calibri" pitchFamily="34" charset="0"/>
                <a:ea typeface="Calibri" pitchFamily="34" charset="-122"/>
                <a:cs typeface="Calibri" pitchFamily="34" charset="-120"/>
              </a:rPr>
              <a:t>The plan rides Tarkov's natural rhythm. Every update triggers an orchestrated owned-paid-earned wave instead of isolated announcements.</a:t>
            </a:r>
            <a:endParaRPr lang="en-US" sz="1100" dirty="0"/>
          </a:p>
        </p:txBody>
      </p:sp>
      <p:sp>
        <p:nvSpPr>
          <p:cNvPr id="15" name="Text 12"/>
          <p:cNvSpPr/>
          <p:nvPr/>
        </p:nvSpPr>
        <p:spPr>
          <a:xfrm>
            <a:off x="548640" y="4709160"/>
            <a:ext cx="6675120" cy="320040"/>
          </a:xfrm>
          <a:prstGeom prst="rect">
            <a:avLst/>
          </a:prstGeom>
          <a:noFill/>
          <a:ln/>
        </p:spPr>
        <p:txBody>
          <a:bodyPr wrap="square" rtlCol="0" anchor="ctr"/>
          <a:lstStyle/>
          <a:p>
            <a:pPr marL="0" indent="0">
              <a:buNone/>
            </a:pPr>
            <a:r>
              <a:rPr lang="en-US" sz="1350" b="1" dirty="0">
                <a:solidFill>
                  <a:srgbClr val="C96A2B"/>
                </a:solidFill>
                <a:latin typeface="Trebuchet MS" pitchFamily="34" charset="0"/>
                <a:ea typeface="Trebuchet MS" pitchFamily="34" charset="-122"/>
                <a:cs typeface="Trebuchet MS" pitchFamily="34" charset="-120"/>
              </a:rPr>
              <a:t>The 15% lift is earned, not hoped for</a:t>
            </a:r>
            <a:endParaRPr lang="en-US" sz="1350" dirty="0"/>
          </a:p>
        </p:txBody>
      </p:sp>
      <p:sp>
        <p:nvSpPr>
          <p:cNvPr id="16" name="Text 13"/>
          <p:cNvSpPr/>
          <p:nvPr/>
        </p:nvSpPr>
        <p:spPr>
          <a:xfrm>
            <a:off x="548640" y="5001768"/>
            <a:ext cx="6675120" cy="566928"/>
          </a:xfrm>
          <a:prstGeom prst="rect">
            <a:avLst/>
          </a:prstGeom>
          <a:noFill/>
          <a:ln/>
        </p:spPr>
        <p:txBody>
          <a:bodyPr wrap="square" rtlCol="0" anchor="ctr"/>
          <a:lstStyle/>
          <a:p>
            <a:pPr marL="0" indent="0">
              <a:lnSpc>
                <a:spcPct val="130000"/>
              </a:lnSpc>
              <a:buNone/>
            </a:pPr>
            <a:r>
              <a:rPr lang="en-US" sz="1100" dirty="0">
                <a:solidFill>
                  <a:srgbClr val="E6E4DE"/>
                </a:solidFill>
                <a:latin typeface="Calibri" pitchFamily="34" charset="0"/>
                <a:ea typeface="Calibri" pitchFamily="34" charset="-122"/>
                <a:cs typeface="Calibri" pitchFamily="34" charset="-120"/>
              </a:rPr>
              <a:t>Owned media holds attention, paid extends reach, earned converts trust — together they compound across six months of campaign cycles.</a:t>
            </a:r>
            <a:endParaRPr lang="en-US" sz="1100" dirty="0"/>
          </a:p>
        </p:txBody>
      </p:sp>
      <p:sp>
        <p:nvSpPr>
          <p:cNvPr id="17" name="Text 14"/>
          <p:cNvSpPr/>
          <p:nvPr/>
        </p:nvSpPr>
        <p:spPr>
          <a:xfrm>
            <a:off x="548640" y="5806440"/>
            <a:ext cx="6675120" cy="365760"/>
          </a:xfrm>
          <a:prstGeom prst="rect">
            <a:avLst/>
          </a:prstGeom>
          <a:noFill/>
          <a:ln/>
        </p:spPr>
        <p:txBody>
          <a:bodyPr wrap="square" rtlCol="0" anchor="ctr"/>
          <a:lstStyle/>
          <a:p>
            <a:pPr marL="0" indent="0">
              <a:buNone/>
            </a:pPr>
            <a:r>
              <a:rPr lang="en-US" sz="1300" b="1" i="1" dirty="0">
                <a:solidFill>
                  <a:srgbClr val="C96A2B"/>
                </a:solidFill>
                <a:latin typeface="Trebuchet MS" pitchFamily="34" charset="0"/>
                <a:ea typeface="Trebuchet MS" pitchFamily="34" charset="-122"/>
                <a:cs typeface="Trebuchet MS" pitchFamily="34" charset="-120"/>
              </a:rPr>
              <a:t>Let's build the next wipe into a campaign that fans remember.</a:t>
            </a:r>
            <a:endParaRPr lang="en-US" sz="1300" dirty="0"/>
          </a:p>
        </p:txBody>
      </p:sp>
      <p:sp>
        <p:nvSpPr>
          <p:cNvPr id="18" name="Shape 15"/>
          <p:cNvSpPr/>
          <p:nvPr/>
        </p:nvSpPr>
        <p:spPr>
          <a:xfrm>
            <a:off x="457200" y="6565392"/>
            <a:ext cx="11277295" cy="0"/>
          </a:xfrm>
          <a:prstGeom prst="line">
            <a:avLst/>
          </a:prstGeom>
          <a:noFill/>
          <a:ln w="9525">
            <a:solidFill>
              <a:srgbClr val="3A3E42"/>
            </a:solidFill>
            <a:prstDash val="solid"/>
          </a:ln>
        </p:spPr>
        <p:txBody>
          <a:bodyPr/>
          <a:lstStyle/>
          <a:p>
            <a:endParaRPr lang="en-US"/>
          </a:p>
        </p:txBody>
      </p:sp>
      <p:sp>
        <p:nvSpPr>
          <p:cNvPr id="19" name="Text 16"/>
          <p:cNvSpPr/>
          <p:nvPr/>
        </p:nvSpPr>
        <p:spPr>
          <a:xfrm>
            <a:off x="457200" y="6601968"/>
            <a:ext cx="8229600" cy="228600"/>
          </a:xfrm>
          <a:prstGeom prst="rect">
            <a:avLst/>
          </a:prstGeom>
          <a:noFill/>
          <a:ln/>
        </p:spPr>
        <p:txBody>
          <a:bodyPr wrap="square" rtlCol="0" anchor="ctr"/>
          <a:lstStyle/>
          <a:p>
            <a:pPr marL="0" indent="0">
              <a:buNone/>
            </a:pPr>
            <a:r>
              <a:rPr lang="en-US" sz="900" kern="0" spc="200" dirty="0">
                <a:solidFill>
                  <a:srgbClr val="6A665E"/>
                </a:solidFill>
                <a:latin typeface="Calibri" pitchFamily="34" charset="0"/>
                <a:ea typeface="Calibri" pitchFamily="34" charset="-122"/>
                <a:cs typeface="Calibri" pitchFamily="34" charset="-120"/>
              </a:rPr>
              <a:t>TARKOV  ·  CONTENT MARKETING CAMPAIGN  ·  JULIO HERNANDEZ</a:t>
            </a:r>
            <a:endParaRPr lang="en-US" sz="900" dirty="0"/>
          </a:p>
        </p:txBody>
      </p:sp>
      <p:sp>
        <p:nvSpPr>
          <p:cNvPr id="20" name="Text 17"/>
          <p:cNvSpPr/>
          <p:nvPr/>
        </p:nvSpPr>
        <p:spPr>
          <a:xfrm>
            <a:off x="10789920" y="6601968"/>
            <a:ext cx="914400" cy="228600"/>
          </a:xfrm>
          <a:prstGeom prst="rect">
            <a:avLst/>
          </a:prstGeom>
          <a:noFill/>
          <a:ln/>
        </p:spPr>
        <p:txBody>
          <a:bodyPr wrap="square" rtlCol="0" anchor="ctr"/>
          <a:lstStyle/>
          <a:p>
            <a:pPr marL="0" indent="0" algn="r">
              <a:buNone/>
            </a:pPr>
            <a:r>
              <a:rPr lang="en-US" sz="900" dirty="0">
                <a:solidFill>
                  <a:srgbClr val="6A665E"/>
                </a:solidFill>
                <a:latin typeface="Calibri" pitchFamily="34" charset="0"/>
                <a:ea typeface="Calibri" pitchFamily="34" charset="-122"/>
                <a:cs typeface="Calibri"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0F10"/>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274320"/>
          </a:xfrm>
          <a:prstGeom prst="rect">
            <a:avLst/>
          </a:prstGeom>
          <a:noFill/>
          <a:ln/>
        </p:spPr>
        <p:txBody>
          <a:bodyPr wrap="square" rtlCol="0" anchor="ctr"/>
          <a:lstStyle/>
          <a:p>
            <a:pPr marL="0" indent="0">
              <a:buNone/>
            </a:pPr>
            <a:r>
              <a:rPr lang="en-US" sz="1000" b="1" kern="0" spc="400" dirty="0">
                <a:solidFill>
                  <a:srgbClr val="C96A2B"/>
                </a:solidFill>
                <a:latin typeface="Calibri" pitchFamily="34" charset="0"/>
                <a:ea typeface="Calibri" pitchFamily="34" charset="-122"/>
                <a:cs typeface="Calibri" pitchFamily="34" charset="-120"/>
              </a:rPr>
              <a:t>REFERENCES</a:t>
            </a:r>
            <a:endParaRPr lang="en-US" sz="1000" dirty="0"/>
          </a:p>
        </p:txBody>
      </p:sp>
      <p:sp>
        <p:nvSpPr>
          <p:cNvPr id="3" name="Text 1"/>
          <p:cNvSpPr/>
          <p:nvPr/>
        </p:nvSpPr>
        <p:spPr>
          <a:xfrm>
            <a:off x="548640" y="804672"/>
            <a:ext cx="10972800" cy="685800"/>
          </a:xfrm>
          <a:prstGeom prst="rect">
            <a:avLst/>
          </a:prstGeom>
          <a:noFill/>
          <a:ln/>
        </p:spPr>
        <p:txBody>
          <a:bodyPr wrap="square" rtlCol="0" anchor="ctr"/>
          <a:lstStyle/>
          <a:p>
            <a:pPr marL="0" indent="0">
              <a:buNone/>
            </a:pPr>
            <a:r>
              <a:rPr lang="en-US" sz="3200" b="1" dirty="0">
                <a:solidFill>
                  <a:srgbClr val="E6E4DE"/>
                </a:solidFill>
                <a:latin typeface="Trebuchet MS" pitchFamily="34" charset="0"/>
                <a:ea typeface="Trebuchet MS" pitchFamily="34" charset="-122"/>
                <a:cs typeface="Trebuchet MS" pitchFamily="34" charset="-120"/>
              </a:rPr>
              <a:t>Works cited (APA, 7th ed.)</a:t>
            </a:r>
            <a:endParaRPr lang="en-US" sz="3200" dirty="0"/>
          </a:p>
        </p:txBody>
      </p:sp>
      <p:sp>
        <p:nvSpPr>
          <p:cNvPr id="4" name="Shape 2"/>
          <p:cNvSpPr/>
          <p:nvPr/>
        </p:nvSpPr>
        <p:spPr>
          <a:xfrm>
            <a:off x="548640" y="1536192"/>
            <a:ext cx="1005840" cy="54864"/>
          </a:xfrm>
          <a:prstGeom prst="rect">
            <a:avLst/>
          </a:prstGeom>
          <a:solidFill>
            <a:srgbClr val="C96A2B"/>
          </a:solidFill>
          <a:ln/>
        </p:spPr>
        <p:txBody>
          <a:bodyPr/>
          <a:lstStyle/>
          <a:p>
            <a:endParaRPr lang="en-US"/>
          </a:p>
        </p:txBody>
      </p:sp>
      <p:sp>
        <p:nvSpPr>
          <p:cNvPr id="5" name="Text 3"/>
          <p:cNvSpPr/>
          <p:nvPr/>
        </p:nvSpPr>
        <p:spPr>
          <a:xfrm>
            <a:off x="548640" y="1965960"/>
            <a:ext cx="11201400" cy="420624"/>
          </a:xfrm>
          <a:prstGeom prst="rect">
            <a:avLst/>
          </a:prstGeom>
          <a:noFill/>
          <a:ln/>
        </p:spPr>
        <p:txBody>
          <a:bodyPr wrap="square" rtlCol="0" anchor="t"/>
          <a:lstStyle/>
          <a:p>
            <a:pPr marL="0" indent="0">
              <a:lnSpc>
                <a:spcPct val="120000"/>
              </a:lnSpc>
              <a:buNone/>
            </a:pPr>
            <a:r>
              <a:rPr lang="en-US" sz="1050" dirty="0">
                <a:solidFill>
                  <a:srgbClr val="E6E4DE"/>
                </a:solidFill>
                <a:latin typeface="Calibri" pitchFamily="34" charset="0"/>
                <a:ea typeface="Calibri" pitchFamily="34" charset="-122"/>
                <a:cs typeface="Calibri" pitchFamily="34" charset="-120"/>
              </a:rPr>
              <a:t>Battlestate Games Limited. (n.d.). Battlestate Games — About. </a:t>
            </a:r>
            <a:r>
              <a:rPr lang="en-US" sz="1050" u="sng" dirty="0">
                <a:solidFill>
                  <a:srgbClr val="C96A2B"/>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battlestategames.com</a:t>
            </a:r>
            <a:endParaRPr lang="en-US" sz="1050" dirty="0"/>
          </a:p>
        </p:txBody>
      </p:sp>
      <p:sp>
        <p:nvSpPr>
          <p:cNvPr id="6" name="Text 4"/>
          <p:cNvSpPr/>
          <p:nvPr/>
        </p:nvSpPr>
        <p:spPr>
          <a:xfrm>
            <a:off x="548640" y="2386584"/>
            <a:ext cx="11201400" cy="420624"/>
          </a:xfrm>
          <a:prstGeom prst="rect">
            <a:avLst/>
          </a:prstGeom>
          <a:noFill/>
          <a:ln/>
        </p:spPr>
        <p:txBody>
          <a:bodyPr wrap="square" rtlCol="0" anchor="t"/>
          <a:lstStyle/>
          <a:p>
            <a:pPr marL="0" indent="0">
              <a:lnSpc>
                <a:spcPct val="120000"/>
              </a:lnSpc>
              <a:buNone/>
            </a:pPr>
            <a:r>
              <a:rPr lang="en-US" sz="1050" dirty="0">
                <a:solidFill>
                  <a:srgbClr val="E6E4DE"/>
                </a:solidFill>
                <a:latin typeface="Calibri" pitchFamily="34" charset="0"/>
                <a:ea typeface="Calibri" pitchFamily="34" charset="-122"/>
                <a:cs typeface="Calibri" pitchFamily="34" charset="-120"/>
              </a:rPr>
              <a:t>Battlestate Games Limited. (n.d.). Escape from Tarkov — Official website. </a:t>
            </a:r>
            <a:r>
              <a:rPr lang="en-US" sz="1050" u="sng" dirty="0">
                <a:solidFill>
                  <a:srgbClr val="C96A2B"/>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escapefromtarkov.com</a:t>
            </a:r>
            <a:endParaRPr lang="en-US" sz="1050" dirty="0"/>
          </a:p>
        </p:txBody>
      </p:sp>
      <p:sp>
        <p:nvSpPr>
          <p:cNvPr id="7" name="Text 5"/>
          <p:cNvSpPr/>
          <p:nvPr/>
        </p:nvSpPr>
        <p:spPr>
          <a:xfrm>
            <a:off x="548640" y="2807208"/>
            <a:ext cx="11201400" cy="420624"/>
          </a:xfrm>
          <a:prstGeom prst="rect">
            <a:avLst/>
          </a:prstGeom>
          <a:noFill/>
          <a:ln/>
        </p:spPr>
        <p:txBody>
          <a:bodyPr wrap="square" rtlCol="0" anchor="t"/>
          <a:lstStyle/>
          <a:p>
            <a:pPr marL="0" indent="0">
              <a:lnSpc>
                <a:spcPct val="120000"/>
              </a:lnSpc>
              <a:buNone/>
            </a:pPr>
            <a:r>
              <a:rPr lang="en-US" sz="1050" dirty="0">
                <a:solidFill>
                  <a:srgbClr val="E6E4DE"/>
                </a:solidFill>
                <a:latin typeface="Calibri" pitchFamily="34" charset="0"/>
                <a:ea typeface="Calibri" pitchFamily="34" charset="-122"/>
                <a:cs typeface="Calibri" pitchFamily="34" charset="-120"/>
              </a:rPr>
              <a:t>de Vries, L., Gensler, S., &amp; Leeflang, P. S. H. (2017). Effects of traditional advertising and social messages on brand-building metrics. Journal of Marketing, 81(5), 1–15. </a:t>
            </a:r>
            <a:r>
              <a:rPr lang="en-US" sz="1050" u="sng" dirty="0">
                <a:solidFill>
                  <a:srgbClr val="C96A2B"/>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doi.org/10.1509/jm.15.0178</a:t>
            </a:r>
            <a:endParaRPr lang="en-US" sz="1050" dirty="0"/>
          </a:p>
        </p:txBody>
      </p:sp>
      <p:sp>
        <p:nvSpPr>
          <p:cNvPr id="8" name="Text 6"/>
          <p:cNvSpPr/>
          <p:nvPr/>
        </p:nvSpPr>
        <p:spPr>
          <a:xfrm>
            <a:off x="548640" y="3227832"/>
            <a:ext cx="11201400" cy="420624"/>
          </a:xfrm>
          <a:prstGeom prst="rect">
            <a:avLst/>
          </a:prstGeom>
          <a:noFill/>
          <a:ln/>
        </p:spPr>
        <p:txBody>
          <a:bodyPr wrap="square" rtlCol="0" anchor="t"/>
          <a:lstStyle/>
          <a:p>
            <a:pPr marL="0" indent="0">
              <a:lnSpc>
                <a:spcPct val="120000"/>
              </a:lnSpc>
              <a:buNone/>
            </a:pPr>
            <a:r>
              <a:rPr lang="en-US" sz="1050" dirty="0">
                <a:solidFill>
                  <a:srgbClr val="E6E4DE"/>
                </a:solidFill>
                <a:latin typeface="Calibri" pitchFamily="34" charset="0"/>
                <a:ea typeface="Calibri" pitchFamily="34" charset="-122"/>
                <a:cs typeface="Calibri" pitchFamily="34" charset="-120"/>
              </a:rPr>
              <a:t>Koob, C. (2021). Determinants of content marketing effectiveness. PLoS ONE, 16(4). </a:t>
            </a:r>
            <a:r>
              <a:rPr lang="en-US" sz="1050" u="sng" dirty="0">
                <a:solidFill>
                  <a:srgbClr val="C96A2B"/>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pmc.ncbi.nlm.nih.gov/articles/PMC8016322</a:t>
            </a:r>
            <a:endParaRPr lang="en-US" sz="1050" dirty="0"/>
          </a:p>
        </p:txBody>
      </p:sp>
      <p:sp>
        <p:nvSpPr>
          <p:cNvPr id="9" name="Text 7"/>
          <p:cNvSpPr/>
          <p:nvPr/>
        </p:nvSpPr>
        <p:spPr>
          <a:xfrm>
            <a:off x="548640" y="3648456"/>
            <a:ext cx="11201400" cy="420624"/>
          </a:xfrm>
          <a:prstGeom prst="rect">
            <a:avLst/>
          </a:prstGeom>
          <a:noFill/>
          <a:ln/>
        </p:spPr>
        <p:txBody>
          <a:bodyPr wrap="square" rtlCol="0" anchor="t"/>
          <a:lstStyle/>
          <a:p>
            <a:pPr marL="0" indent="0">
              <a:lnSpc>
                <a:spcPct val="120000"/>
              </a:lnSpc>
              <a:buNone/>
            </a:pPr>
            <a:r>
              <a:rPr lang="en-US" sz="1050" dirty="0">
                <a:solidFill>
                  <a:srgbClr val="E6E4DE"/>
                </a:solidFill>
                <a:latin typeface="Calibri" pitchFamily="34" charset="0"/>
                <a:ea typeface="Calibri" pitchFamily="34" charset="-122"/>
                <a:cs typeface="Calibri" pitchFamily="34" charset="-120"/>
              </a:rPr>
              <a:t>Lovett, M. J., &amp; Staelin, R. (2016). The role of paid, earned, and owned media in building entertainment brands. Marketing Science, 35(1), 142–157. </a:t>
            </a:r>
            <a:r>
              <a:rPr lang="en-US" sz="1050" u="sng" dirty="0">
                <a:solidFill>
                  <a:srgbClr val="C96A2B"/>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doi.org/10.1287/mksc.2015.0961</a:t>
            </a:r>
            <a:endParaRPr lang="en-US" sz="1050" dirty="0"/>
          </a:p>
        </p:txBody>
      </p:sp>
      <p:sp>
        <p:nvSpPr>
          <p:cNvPr id="10" name="Text 8"/>
          <p:cNvSpPr/>
          <p:nvPr/>
        </p:nvSpPr>
        <p:spPr>
          <a:xfrm>
            <a:off x="548640" y="4069080"/>
            <a:ext cx="11201400" cy="420624"/>
          </a:xfrm>
          <a:prstGeom prst="rect">
            <a:avLst/>
          </a:prstGeom>
          <a:noFill/>
          <a:ln/>
        </p:spPr>
        <p:txBody>
          <a:bodyPr wrap="square" rtlCol="0" anchor="t"/>
          <a:lstStyle/>
          <a:p>
            <a:pPr marL="0" indent="0">
              <a:lnSpc>
                <a:spcPct val="120000"/>
              </a:lnSpc>
              <a:buNone/>
            </a:pPr>
            <a:r>
              <a:rPr lang="en-US" sz="1050" dirty="0">
                <a:solidFill>
                  <a:srgbClr val="E6E4DE"/>
                </a:solidFill>
                <a:latin typeface="Calibri" pitchFamily="34" charset="0"/>
                <a:ea typeface="Calibri" pitchFamily="34" charset="-122"/>
                <a:cs typeface="Calibri" pitchFamily="34" charset="-120"/>
              </a:rPr>
              <a:t>Park, J., &amp; Kim, R. B. (2022). A scoping review of the effect of content marketing on online consumer behavior. SAGE Open, 12(2). </a:t>
            </a:r>
            <a:r>
              <a:rPr lang="en-US" sz="1050" u="sng" dirty="0">
                <a:solidFill>
                  <a:srgbClr val="C96A2B"/>
                </a:solidFill>
                <a:latin typeface="Calibri" pitchFamily="34" charset="0"/>
                <a:ea typeface="Calibri" pitchFamily="34" charset="-122"/>
                <a:cs typeface="Calibri" pitchFamily="34" charset="-120"/>
                <a:hlinkClick r:id="rId8">
                  <a:extLst>
                    <a:ext uri="{A12FA001-AC4F-418D-AE19-62706E023703}">
                      <ahyp:hlinkClr xmlns:ahyp="http://schemas.microsoft.com/office/drawing/2018/hyperlinkcolor" val="tx"/>
                    </a:ext>
                  </a:extLst>
                </a:hlinkClick>
              </a:rPr>
              <a:t>doi.org/10.1177/21582440221093042</a:t>
            </a:r>
            <a:endParaRPr lang="en-US" sz="1050" dirty="0"/>
          </a:p>
        </p:txBody>
      </p:sp>
      <p:sp>
        <p:nvSpPr>
          <p:cNvPr id="11" name="Text 9"/>
          <p:cNvSpPr/>
          <p:nvPr/>
        </p:nvSpPr>
        <p:spPr>
          <a:xfrm>
            <a:off x="548640" y="4489704"/>
            <a:ext cx="11201400" cy="420624"/>
          </a:xfrm>
          <a:prstGeom prst="rect">
            <a:avLst/>
          </a:prstGeom>
          <a:noFill/>
          <a:ln/>
        </p:spPr>
        <p:txBody>
          <a:bodyPr wrap="square" rtlCol="0" anchor="t"/>
          <a:lstStyle/>
          <a:p>
            <a:pPr marL="0" indent="0">
              <a:lnSpc>
                <a:spcPct val="120000"/>
              </a:lnSpc>
              <a:buNone/>
            </a:pPr>
            <a:r>
              <a:rPr lang="en-US" sz="1050" dirty="0">
                <a:solidFill>
                  <a:srgbClr val="E6E4DE"/>
                </a:solidFill>
                <a:latin typeface="Calibri" pitchFamily="34" charset="0"/>
                <a:ea typeface="Calibri" pitchFamily="34" charset="-122"/>
                <a:cs typeface="Calibri" pitchFamily="34" charset="-120"/>
              </a:rPr>
              <a:t>Stephen, A. T., &amp; Galak, J. (2012). The effects of traditional and social earned media on sales. Journal of Marketing Research, 49(5), 624–639. </a:t>
            </a:r>
            <a:r>
              <a:rPr lang="en-US" sz="1050" u="sng" dirty="0">
                <a:solidFill>
                  <a:srgbClr val="C96A2B"/>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doi.org/10.1509/jmr.10.0401</a:t>
            </a:r>
            <a:endParaRPr lang="en-US" sz="1050" dirty="0"/>
          </a:p>
        </p:txBody>
      </p:sp>
      <p:sp>
        <p:nvSpPr>
          <p:cNvPr id="12" name="Text 10"/>
          <p:cNvSpPr/>
          <p:nvPr/>
        </p:nvSpPr>
        <p:spPr>
          <a:xfrm>
            <a:off x="548640" y="4910328"/>
            <a:ext cx="11201400" cy="420624"/>
          </a:xfrm>
          <a:prstGeom prst="rect">
            <a:avLst/>
          </a:prstGeom>
          <a:noFill/>
          <a:ln/>
        </p:spPr>
        <p:txBody>
          <a:bodyPr wrap="square" rtlCol="0" anchor="t"/>
          <a:lstStyle/>
          <a:p>
            <a:pPr marL="0" indent="0">
              <a:lnSpc>
                <a:spcPct val="120000"/>
              </a:lnSpc>
              <a:buNone/>
            </a:pPr>
            <a:r>
              <a:rPr lang="en-US" sz="1050" dirty="0">
                <a:solidFill>
                  <a:srgbClr val="E6E4DE"/>
                </a:solidFill>
                <a:latin typeface="Calibri" pitchFamily="34" charset="0"/>
                <a:ea typeface="Calibri" pitchFamily="34" charset="-122"/>
                <a:cs typeface="Calibri" pitchFamily="34" charset="-120"/>
              </a:rPr>
              <a:t>Taiminen, H. M., &amp; Karjaluoto, H. (2015). The usage of digital marketing channels in SMEs. Journal of Small Business and Enterprise Development, 22(4), 633–651. </a:t>
            </a:r>
            <a:r>
              <a:rPr lang="en-US" sz="1050" u="sng" dirty="0">
                <a:solidFill>
                  <a:srgbClr val="C96A2B"/>
                </a:solidFill>
                <a:latin typeface="Calibri" pitchFamily="34" charset="0"/>
                <a:ea typeface="Calibri" pitchFamily="34" charset="-122"/>
                <a:cs typeface="Calibri" pitchFamily="34" charset="-120"/>
                <a:hlinkClick r:id="rId10">
                  <a:extLst>
                    <a:ext uri="{A12FA001-AC4F-418D-AE19-62706E023703}">
                      <ahyp:hlinkClr xmlns:ahyp="http://schemas.microsoft.com/office/drawing/2018/hyperlinkcolor" val="tx"/>
                    </a:ext>
                  </a:extLst>
                </a:hlinkClick>
              </a:rPr>
              <a:t>doi.org/10.1108/JSBED-05-2013-0073</a:t>
            </a:r>
            <a:endParaRPr lang="en-US" sz="1050" dirty="0"/>
          </a:p>
        </p:txBody>
      </p:sp>
      <p:sp>
        <p:nvSpPr>
          <p:cNvPr id="13" name="Text 11"/>
          <p:cNvSpPr/>
          <p:nvPr/>
        </p:nvSpPr>
        <p:spPr>
          <a:xfrm>
            <a:off x="548640" y="5330952"/>
            <a:ext cx="11201400" cy="420624"/>
          </a:xfrm>
          <a:prstGeom prst="rect">
            <a:avLst/>
          </a:prstGeom>
          <a:noFill/>
          <a:ln/>
        </p:spPr>
        <p:txBody>
          <a:bodyPr wrap="square" rtlCol="0" anchor="t"/>
          <a:lstStyle/>
          <a:p>
            <a:pPr marL="0" indent="0">
              <a:lnSpc>
                <a:spcPct val="120000"/>
              </a:lnSpc>
              <a:buNone/>
            </a:pPr>
            <a:r>
              <a:rPr lang="en-US" sz="1050" dirty="0">
                <a:solidFill>
                  <a:srgbClr val="E6E4DE"/>
                </a:solidFill>
                <a:latin typeface="Calibri" pitchFamily="34" charset="0"/>
                <a:ea typeface="Calibri" pitchFamily="34" charset="-122"/>
                <a:cs typeface="Calibri" pitchFamily="34" charset="-120"/>
              </a:rPr>
              <a:t>Phillips, R. (2025, August 22). Escape from Tarkov finally has a 1.0 release date. IGN. </a:t>
            </a:r>
            <a:r>
              <a:rPr lang="en-US" sz="1050" u="sng" dirty="0">
                <a:solidFill>
                  <a:srgbClr val="C96A2B"/>
                </a:solidFill>
                <a:latin typeface="Calibri" pitchFamily="34" charset="0"/>
                <a:ea typeface="Calibri" pitchFamily="34" charset="-122"/>
                <a:cs typeface="Calibri" pitchFamily="34" charset="-120"/>
                <a:hlinkClick r:id="rId11">
                  <a:extLst>
                    <a:ext uri="{A12FA001-AC4F-418D-AE19-62706E023703}">
                      <ahyp:hlinkClr xmlns:ahyp="http://schemas.microsoft.com/office/drawing/2018/hyperlinkcolor" val="tx"/>
                    </a:ext>
                  </a:extLst>
                </a:hlinkClick>
              </a:rPr>
              <a:t>ign.com</a:t>
            </a:r>
            <a:endParaRPr lang="en-US" sz="1050" dirty="0"/>
          </a:p>
        </p:txBody>
      </p:sp>
      <p:sp>
        <p:nvSpPr>
          <p:cNvPr id="14" name="Text 12"/>
          <p:cNvSpPr/>
          <p:nvPr/>
        </p:nvSpPr>
        <p:spPr>
          <a:xfrm>
            <a:off x="548640" y="5751576"/>
            <a:ext cx="11201400" cy="420624"/>
          </a:xfrm>
          <a:prstGeom prst="rect">
            <a:avLst/>
          </a:prstGeom>
          <a:noFill/>
          <a:ln/>
        </p:spPr>
        <p:txBody>
          <a:bodyPr wrap="square" rtlCol="0" anchor="t"/>
          <a:lstStyle/>
          <a:p>
            <a:pPr marL="0" indent="0">
              <a:lnSpc>
                <a:spcPct val="120000"/>
              </a:lnSpc>
              <a:buNone/>
            </a:pPr>
            <a:r>
              <a:rPr lang="en-US" sz="1050" dirty="0">
                <a:solidFill>
                  <a:srgbClr val="E6E4DE"/>
                </a:solidFill>
                <a:latin typeface="Calibri" pitchFamily="34" charset="0"/>
                <a:ea typeface="Calibri" pitchFamily="34" charset="-122"/>
                <a:cs typeface="Calibri" pitchFamily="34" charset="-120"/>
              </a:rPr>
              <a:t>Wilde, T. (2025, November 24). Tarkov director on 1.0 launch-week stress tests. PC Gamer. </a:t>
            </a:r>
            <a:r>
              <a:rPr lang="en-US" sz="1050" u="sng" dirty="0">
                <a:solidFill>
                  <a:srgbClr val="C96A2B"/>
                </a:solidFill>
                <a:latin typeface="Calibri" pitchFamily="34" charset="0"/>
                <a:ea typeface="Calibri" pitchFamily="34" charset="-122"/>
                <a:cs typeface="Calibri" pitchFamily="34" charset="-120"/>
                <a:hlinkClick r:id="rId12">
                  <a:extLst>
                    <a:ext uri="{A12FA001-AC4F-418D-AE19-62706E023703}">
                      <ahyp:hlinkClr xmlns:ahyp="http://schemas.microsoft.com/office/drawing/2018/hyperlinkcolor" val="tx"/>
                    </a:ext>
                  </a:extLst>
                </a:hlinkClick>
              </a:rPr>
              <a:t>pcgamer.com</a:t>
            </a:r>
            <a:endParaRPr lang="en-US" sz="1050" dirty="0"/>
          </a:p>
        </p:txBody>
      </p:sp>
      <p:sp>
        <p:nvSpPr>
          <p:cNvPr id="15" name="Shape 13"/>
          <p:cNvSpPr/>
          <p:nvPr/>
        </p:nvSpPr>
        <p:spPr>
          <a:xfrm>
            <a:off x="457200" y="6565392"/>
            <a:ext cx="11277295" cy="0"/>
          </a:xfrm>
          <a:prstGeom prst="line">
            <a:avLst/>
          </a:prstGeom>
          <a:noFill/>
          <a:ln w="9525">
            <a:solidFill>
              <a:srgbClr val="3A3E42"/>
            </a:solidFill>
            <a:prstDash val="solid"/>
          </a:ln>
        </p:spPr>
        <p:txBody>
          <a:bodyPr/>
          <a:lstStyle/>
          <a:p>
            <a:endParaRPr lang="en-US"/>
          </a:p>
        </p:txBody>
      </p:sp>
      <p:sp>
        <p:nvSpPr>
          <p:cNvPr id="16" name="Text 14"/>
          <p:cNvSpPr/>
          <p:nvPr/>
        </p:nvSpPr>
        <p:spPr>
          <a:xfrm>
            <a:off x="457200" y="6601968"/>
            <a:ext cx="8229600" cy="228600"/>
          </a:xfrm>
          <a:prstGeom prst="rect">
            <a:avLst/>
          </a:prstGeom>
          <a:noFill/>
          <a:ln/>
        </p:spPr>
        <p:txBody>
          <a:bodyPr wrap="square" rtlCol="0" anchor="ctr"/>
          <a:lstStyle/>
          <a:p>
            <a:pPr marL="0" indent="0">
              <a:buNone/>
            </a:pPr>
            <a:r>
              <a:rPr lang="en-US" sz="900" kern="0" spc="200" dirty="0">
                <a:solidFill>
                  <a:srgbClr val="6A665E"/>
                </a:solidFill>
                <a:latin typeface="Calibri" pitchFamily="34" charset="0"/>
                <a:ea typeface="Calibri" pitchFamily="34" charset="-122"/>
                <a:cs typeface="Calibri" pitchFamily="34" charset="-120"/>
              </a:rPr>
              <a:t>TARKOV  ·  CONTENT MARKETING CAMPAIGN  ·  JULIO HERNANDEZ</a:t>
            </a:r>
            <a:endParaRPr lang="en-US" sz="900" dirty="0"/>
          </a:p>
        </p:txBody>
      </p:sp>
      <p:sp>
        <p:nvSpPr>
          <p:cNvPr id="17" name="Text 15"/>
          <p:cNvSpPr/>
          <p:nvPr/>
        </p:nvSpPr>
        <p:spPr>
          <a:xfrm>
            <a:off x="10789920" y="6601968"/>
            <a:ext cx="914400" cy="228600"/>
          </a:xfrm>
          <a:prstGeom prst="rect">
            <a:avLst/>
          </a:prstGeom>
          <a:noFill/>
          <a:ln/>
        </p:spPr>
        <p:txBody>
          <a:bodyPr wrap="square" rtlCol="0" anchor="ctr"/>
          <a:lstStyle/>
          <a:p>
            <a:pPr marL="0" indent="0" algn="r">
              <a:buNone/>
            </a:pPr>
            <a:r>
              <a:rPr lang="en-US" sz="900" dirty="0">
                <a:solidFill>
                  <a:srgbClr val="6A665E"/>
                </a:solidFill>
                <a:latin typeface="Calibri" pitchFamily="34" charset="0"/>
                <a:ea typeface="Calibri" pitchFamily="34" charset="-122"/>
                <a:cs typeface="Calibri" pitchFamily="34" charset="-120"/>
              </a:rPr>
              <a:t>13 / 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2733</Words>
  <Application>Microsoft Office PowerPoint</Application>
  <PresentationFormat>Widescreen</PresentationFormat>
  <Paragraphs>239</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Escape from Tarkov — Content Marketing Campaign</dc:title>
  <dc:subject>PptxGenJS Presentation</dc:subject>
  <dc:creator>Julio Hernandez</dc:creator>
  <cp:lastModifiedBy>Julio Hernandez</cp:lastModifiedBy>
  <cp:revision>2</cp:revision>
  <dcterms:created xsi:type="dcterms:W3CDTF">2026-04-17T20:04:27Z</dcterms:created>
  <dcterms:modified xsi:type="dcterms:W3CDTF">2026-04-17T20:18:11Z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ies>
</file>